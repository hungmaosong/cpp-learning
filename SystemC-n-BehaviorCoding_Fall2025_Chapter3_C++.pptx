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2"/>
  </p:notesMasterIdLst>
  <p:sldIdLst>
    <p:sldId id="256" r:id="rId2"/>
    <p:sldId id="1906" r:id="rId3"/>
    <p:sldId id="421" r:id="rId4"/>
    <p:sldId id="404" r:id="rId5"/>
    <p:sldId id="257" r:id="rId6"/>
    <p:sldId id="326" r:id="rId7"/>
    <p:sldId id="328" r:id="rId8"/>
    <p:sldId id="337" r:id="rId9"/>
    <p:sldId id="338" r:id="rId10"/>
    <p:sldId id="339" r:id="rId11"/>
    <p:sldId id="340" r:id="rId12"/>
    <p:sldId id="341" r:id="rId13"/>
    <p:sldId id="342" r:id="rId14"/>
    <p:sldId id="343" r:id="rId15"/>
    <p:sldId id="344" r:id="rId16"/>
    <p:sldId id="345" r:id="rId17"/>
    <p:sldId id="346" r:id="rId18"/>
    <p:sldId id="1907" r:id="rId19"/>
    <p:sldId id="348" r:id="rId20"/>
    <p:sldId id="349" r:id="rId21"/>
    <p:sldId id="350" r:id="rId22"/>
    <p:sldId id="351" r:id="rId23"/>
    <p:sldId id="1908" r:id="rId24"/>
    <p:sldId id="353" r:id="rId25"/>
    <p:sldId id="354" r:id="rId26"/>
    <p:sldId id="355" r:id="rId27"/>
    <p:sldId id="356" r:id="rId28"/>
    <p:sldId id="357" r:id="rId29"/>
    <p:sldId id="358" r:id="rId30"/>
    <p:sldId id="1909" r:id="rId31"/>
    <p:sldId id="360" r:id="rId32"/>
    <p:sldId id="361" r:id="rId33"/>
    <p:sldId id="1916" r:id="rId34"/>
    <p:sldId id="362" r:id="rId35"/>
    <p:sldId id="1917" r:id="rId36"/>
    <p:sldId id="363" r:id="rId37"/>
    <p:sldId id="364" r:id="rId38"/>
    <p:sldId id="1918" r:id="rId39"/>
    <p:sldId id="1919" r:id="rId40"/>
    <p:sldId id="365" r:id="rId41"/>
    <p:sldId id="366" r:id="rId42"/>
    <p:sldId id="1910" r:id="rId43"/>
    <p:sldId id="368" r:id="rId44"/>
    <p:sldId id="1566" r:id="rId45"/>
    <p:sldId id="369" r:id="rId46"/>
    <p:sldId id="370" r:id="rId47"/>
    <p:sldId id="371" r:id="rId48"/>
    <p:sldId id="372" r:id="rId49"/>
    <p:sldId id="373" r:id="rId50"/>
    <p:sldId id="374" r:id="rId51"/>
    <p:sldId id="375" r:id="rId52"/>
    <p:sldId id="376" r:id="rId53"/>
    <p:sldId id="377" r:id="rId54"/>
    <p:sldId id="1911" r:id="rId55"/>
    <p:sldId id="379" r:id="rId56"/>
    <p:sldId id="380" r:id="rId57"/>
    <p:sldId id="381" r:id="rId58"/>
    <p:sldId id="382" r:id="rId59"/>
    <p:sldId id="383" r:id="rId60"/>
    <p:sldId id="384" r:id="rId61"/>
    <p:sldId id="385" r:id="rId62"/>
    <p:sldId id="386" r:id="rId63"/>
    <p:sldId id="387" r:id="rId64"/>
    <p:sldId id="1912" r:id="rId65"/>
    <p:sldId id="389" r:id="rId66"/>
    <p:sldId id="390" r:id="rId67"/>
    <p:sldId id="391" r:id="rId68"/>
    <p:sldId id="392" r:id="rId69"/>
    <p:sldId id="393" r:id="rId70"/>
    <p:sldId id="394" r:id="rId71"/>
    <p:sldId id="395" r:id="rId72"/>
    <p:sldId id="396" r:id="rId73"/>
    <p:sldId id="397" r:id="rId74"/>
    <p:sldId id="1913" r:id="rId75"/>
    <p:sldId id="1570" r:id="rId76"/>
    <p:sldId id="1586" r:id="rId77"/>
    <p:sldId id="1584" r:id="rId78"/>
    <p:sldId id="1571" r:id="rId79"/>
    <p:sldId id="1580" r:id="rId80"/>
    <p:sldId id="1572" r:id="rId81"/>
    <p:sldId id="1573" r:id="rId82"/>
    <p:sldId id="1587" r:id="rId83"/>
    <p:sldId id="1585" r:id="rId84"/>
    <p:sldId id="1577" r:id="rId85"/>
    <p:sldId id="1582" r:id="rId86"/>
    <p:sldId id="1578" r:id="rId87"/>
    <p:sldId id="1579" r:id="rId88"/>
    <p:sldId id="1588" r:id="rId89"/>
    <p:sldId id="1583" r:id="rId90"/>
    <p:sldId id="1574" r:id="rId91"/>
    <p:sldId id="1581" r:id="rId92"/>
    <p:sldId id="1575" r:id="rId93"/>
    <p:sldId id="1576" r:id="rId94"/>
    <p:sldId id="1914" r:id="rId95"/>
    <p:sldId id="399" r:id="rId96"/>
    <p:sldId id="400" r:id="rId97"/>
    <p:sldId id="401" r:id="rId98"/>
    <p:sldId id="1915" r:id="rId99"/>
    <p:sldId id="1568" r:id="rId100"/>
    <p:sldId id="511" r:id="rId10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04"/>
    <p:restoredTop sz="94384"/>
  </p:normalViewPr>
  <p:slideViewPr>
    <p:cSldViewPr snapToGrid="0" snapToObjects="1">
      <p:cViewPr varScale="1">
        <p:scale>
          <a:sx n="101" d="100"/>
          <a:sy n="101" d="100"/>
        </p:scale>
        <p:origin x="2064" y="496"/>
      </p:cViewPr>
      <p:guideLst>
        <p:guide orient="horz" pos="2160"/>
        <p:guide pos="3840"/>
      </p:guideLst>
    </p:cSldViewPr>
  </p:slideViewPr>
  <p:notesTextViewPr>
    <p:cViewPr>
      <p:scale>
        <a:sx n="100" d="100"/>
        <a:sy n="100" d="100"/>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60BD6A-8612-D447-BDFF-F951223700BB}" type="datetimeFigureOut">
              <a:rPr lang="en-US" smtClean="0"/>
              <a:pPr/>
              <a:t>11/15/25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73E774-3334-DE4A-93F0-3EDDA2CFECB8}" type="slidenum">
              <a:rPr lang="en-US" smtClean="0"/>
              <a:pPr/>
              <a:t>‹#›</a:t>
            </a:fld>
            <a:endParaRPr lang="en-US"/>
          </a:p>
        </p:txBody>
      </p:sp>
    </p:spTree>
    <p:extLst>
      <p:ext uri="{BB962C8B-B14F-4D97-AF65-F5344CB8AC3E}">
        <p14:creationId xmlns:p14="http://schemas.microsoft.com/office/powerpoint/2010/main" val="373368563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B516B6-7E48-4279-AC64-E73C6842381F}" type="slidenum">
              <a:rPr lang="zh-TW" altLang="en-US"/>
              <a:pPr/>
              <a:t>3</a:t>
            </a:fld>
            <a:endParaRPr lang="en-US" altLang="zh-TW"/>
          </a:p>
        </p:txBody>
      </p:sp>
      <p:sp>
        <p:nvSpPr>
          <p:cNvPr id="1608706" name="Rectangle 2"/>
          <p:cNvSpPr>
            <a:spLocks noGrp="1" noRot="1" noChangeAspect="1" noChangeArrowheads="1" noTextEdit="1"/>
          </p:cNvSpPr>
          <p:nvPr>
            <p:ph type="sldImg"/>
          </p:nvPr>
        </p:nvSpPr>
        <p:spPr>
          <a:xfrm>
            <a:off x="381000" y="685800"/>
            <a:ext cx="6096000" cy="3429000"/>
          </a:xfrm>
          <a:ln/>
        </p:spPr>
      </p:sp>
      <p:sp>
        <p:nvSpPr>
          <p:cNvPr id="1608707" name="Rectangle 3"/>
          <p:cNvSpPr>
            <a:spLocks noGrp="1" noChangeArrowheads="1"/>
          </p:cNvSpPr>
          <p:nvPr>
            <p:ph type="body" idx="1"/>
          </p:nvPr>
        </p:nvSpPr>
        <p:spPr/>
        <p:txBody>
          <a:bodyPr/>
          <a:lstStyle/>
          <a:p>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CAAFB6-F7DA-4347-9AFB-16EEC7797864}" type="slidenum">
              <a:rPr lang="zh-TW" altLang="en-US"/>
              <a:pPr/>
              <a:t>4</a:t>
            </a:fld>
            <a:endParaRPr lang="en-US" altLang="zh-TW"/>
          </a:p>
        </p:txBody>
      </p:sp>
      <p:sp>
        <p:nvSpPr>
          <p:cNvPr id="2778114" name="Rectangle 2"/>
          <p:cNvSpPr>
            <a:spLocks noGrp="1" noRot="1" noChangeAspect="1" noChangeArrowheads="1" noTextEdit="1"/>
          </p:cNvSpPr>
          <p:nvPr>
            <p:ph type="sldImg"/>
          </p:nvPr>
        </p:nvSpPr>
        <p:spPr>
          <a:ln/>
        </p:spPr>
      </p:sp>
      <p:sp>
        <p:nvSpPr>
          <p:cNvPr id="2778115" name="Rectangle 3"/>
          <p:cNvSpPr>
            <a:spLocks noGrp="1" noChangeArrowheads="1"/>
          </p:cNvSpPr>
          <p:nvPr>
            <p:ph type="body" idx="1"/>
          </p:nvPr>
        </p:nvSpPr>
        <p:spPr/>
        <p:txBody>
          <a:bodyPr/>
          <a:lstStyle/>
          <a:p>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73E774-3334-DE4A-93F0-3EDDA2CFECB8}" type="slidenum">
              <a:rPr lang="en-US" smtClean="0"/>
              <a:pPr/>
              <a:t>48</a:t>
            </a:fld>
            <a:endParaRPr lang="en-US"/>
          </a:p>
        </p:txBody>
      </p:sp>
    </p:spTree>
    <p:extLst>
      <p:ext uri="{BB962C8B-B14F-4D97-AF65-F5344CB8AC3E}">
        <p14:creationId xmlns:p14="http://schemas.microsoft.com/office/powerpoint/2010/main" val="2080195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W" dirty="0"/>
          </a:p>
        </p:txBody>
      </p:sp>
      <p:sp>
        <p:nvSpPr>
          <p:cNvPr id="4" name="Slide Number Placeholder 3"/>
          <p:cNvSpPr>
            <a:spLocks noGrp="1"/>
          </p:cNvSpPr>
          <p:nvPr>
            <p:ph type="sldNum" sz="quarter" idx="5"/>
          </p:nvPr>
        </p:nvSpPr>
        <p:spPr/>
        <p:txBody>
          <a:bodyPr/>
          <a:lstStyle/>
          <a:p>
            <a:fld id="{7D73E774-3334-DE4A-93F0-3EDDA2CFECB8}" type="slidenum">
              <a:rPr lang="en-US" smtClean="0"/>
              <a:pPr/>
              <a:t>82</a:t>
            </a:fld>
            <a:endParaRPr lang="en-US"/>
          </a:p>
        </p:txBody>
      </p:sp>
    </p:spTree>
    <p:extLst>
      <p:ext uri="{BB962C8B-B14F-4D97-AF65-F5344CB8AC3E}">
        <p14:creationId xmlns:p14="http://schemas.microsoft.com/office/powerpoint/2010/main" val="4257802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W" dirty="0"/>
          </a:p>
        </p:txBody>
      </p:sp>
      <p:sp>
        <p:nvSpPr>
          <p:cNvPr id="4" name="Slide Number Placeholder 3"/>
          <p:cNvSpPr>
            <a:spLocks noGrp="1"/>
          </p:cNvSpPr>
          <p:nvPr>
            <p:ph type="sldNum" sz="quarter" idx="5"/>
          </p:nvPr>
        </p:nvSpPr>
        <p:spPr/>
        <p:txBody>
          <a:bodyPr/>
          <a:lstStyle/>
          <a:p>
            <a:fld id="{7D73E774-3334-DE4A-93F0-3EDDA2CFECB8}" type="slidenum">
              <a:rPr lang="en-US" smtClean="0"/>
              <a:pPr/>
              <a:t>88</a:t>
            </a:fld>
            <a:endParaRPr lang="en-US"/>
          </a:p>
        </p:txBody>
      </p:sp>
    </p:spTree>
    <p:extLst>
      <p:ext uri="{BB962C8B-B14F-4D97-AF65-F5344CB8AC3E}">
        <p14:creationId xmlns:p14="http://schemas.microsoft.com/office/powerpoint/2010/main" val="2457011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6400800" y="5562604"/>
            <a:ext cx="5384800" cy="748553"/>
          </a:xfrm>
        </p:spPr>
        <p:txBody>
          <a:bodyPr>
            <a:normAutofit/>
          </a:bodyPr>
          <a:lstStyle>
            <a:lvl1pPr marL="0" indent="0" algn="l">
              <a:spcBef>
                <a:spcPts val="300"/>
              </a:spcBef>
              <a:buNone/>
              <a:defRPr sz="1400">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6400804" y="6425645"/>
            <a:ext cx="1643529" cy="365125"/>
          </a:xfrm>
        </p:spPr>
        <p:txBody>
          <a:bodyPr/>
          <a:lstStyle>
            <a:lvl1pPr algn="l">
              <a:defRPr/>
            </a:lvl1pPr>
          </a:lstStyle>
          <a:p>
            <a:fld id="{36774520-6860-FE4F-B9BC-05A1A96E0847}" type="datetimeFigureOut">
              <a:rPr lang="en-US" smtClean="0"/>
              <a:pPr/>
              <a:t>11/15/25</a:t>
            </a:fld>
            <a:endParaRPr lang="en-US"/>
          </a:p>
        </p:txBody>
      </p:sp>
      <p:sp>
        <p:nvSpPr>
          <p:cNvPr id="5" name="Footer Placeholder 4"/>
          <p:cNvSpPr>
            <a:spLocks noGrp="1"/>
          </p:cNvSpPr>
          <p:nvPr>
            <p:ph type="ftr" sz="quarter" idx="11"/>
          </p:nvPr>
        </p:nvSpPr>
        <p:spPr>
          <a:xfrm>
            <a:off x="8414873" y="6425645"/>
            <a:ext cx="3490259" cy="365125"/>
          </a:xfrm>
        </p:spPr>
        <p:txBody>
          <a:bodyPr/>
          <a:lstStyle>
            <a:lvl1pPr algn="r">
              <a:defRPr/>
            </a:lvl1pPr>
          </a:lstStyle>
          <a:p>
            <a:endParaRPr lang="en-US"/>
          </a:p>
        </p:txBody>
      </p:sp>
      <p:sp>
        <p:nvSpPr>
          <p:cNvPr id="7" name="Rectangle 6"/>
          <p:cNvSpPr/>
          <p:nvPr/>
        </p:nvSpPr>
        <p:spPr>
          <a:xfrm>
            <a:off x="376769"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377" rtl="0" eaLnBrk="1" latinLnBrk="0" hangingPunct="1"/>
            <a:endParaRPr sz="1800" kern="1200">
              <a:solidFill>
                <a:schemeClr val="lt1"/>
              </a:solidFill>
              <a:latin typeface="+mn-lt"/>
              <a:ea typeface="+mn-ea"/>
              <a:cs typeface="+mn-cs"/>
            </a:endParaRPr>
          </a:p>
        </p:txBody>
      </p:sp>
      <p:sp>
        <p:nvSpPr>
          <p:cNvPr id="15" name="TextBox 14"/>
          <p:cNvSpPr txBox="1"/>
          <p:nvPr/>
        </p:nvSpPr>
        <p:spPr>
          <a:xfrm>
            <a:off x="566525" y="174815"/>
            <a:ext cx="55107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6165851" y="228600"/>
            <a:ext cx="27432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9069917" y="2377440"/>
            <a:ext cx="27432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10947404" y="282574"/>
            <a:ext cx="856129" cy="1317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36774520-6860-FE4F-B9BC-05A1A96E0847}" type="datetimeFigureOut">
              <a:rPr lang="en-US" smtClean="0"/>
              <a:pPr/>
              <a:t>11/15/25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96306-FF0B-0044-A4C6-96DEC2C6E7EC}" type="slidenum">
              <a:rPr lang="en-US" smtClean="0"/>
              <a:pPr/>
              <a:t>‹#›</a:t>
            </a:fld>
            <a:endParaRPr lang="en-US"/>
          </a:p>
        </p:txBody>
      </p:sp>
      <p:sp>
        <p:nvSpPr>
          <p:cNvPr id="9" name="TextBox 8"/>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10757647" y="282574"/>
            <a:ext cx="121920" cy="13176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10889129" y="282574"/>
            <a:ext cx="9144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64635" y="134471"/>
            <a:ext cx="10075084"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36774520-6860-FE4F-B9BC-05A1A96E0847}" type="datetimeFigureOut">
              <a:rPr lang="en-US" smtClean="0"/>
              <a:pPr/>
              <a:t>11/15/25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96306-FF0B-0044-A4C6-96DEC2C6E7EC}" type="slidenum">
              <a:rPr lang="en-US" smtClean="0"/>
              <a:pPr/>
              <a:t>‹#›</a:t>
            </a:fld>
            <a:endParaRPr lang="en-US"/>
          </a:p>
        </p:txBody>
      </p:sp>
      <p:sp>
        <p:nvSpPr>
          <p:cNvPr id="9" name="TextBox 8"/>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664692" y="1129553"/>
            <a:ext cx="10078613"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marL="0" marR="0" lvl="0" indent="0" algn="l" defTabSz="914377"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6400800" y="5562604"/>
            <a:ext cx="5384800" cy="748553"/>
          </a:xfrm>
        </p:spPr>
        <p:txBody>
          <a:bodyPr>
            <a:normAutofit/>
          </a:bodyPr>
          <a:lstStyle>
            <a:lvl1pPr marL="0" indent="0" algn="l">
              <a:spcBef>
                <a:spcPts val="300"/>
              </a:spcBef>
              <a:buNone/>
              <a:defRPr sz="1400">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4" y="6425645"/>
            <a:ext cx="1643529" cy="365125"/>
          </a:xfrm>
        </p:spPr>
        <p:txBody>
          <a:bodyPr/>
          <a:lstStyle>
            <a:lvl1pPr algn="l">
              <a:defRPr/>
            </a:lvl1pPr>
          </a:lstStyle>
          <a:p>
            <a:fld id="{36774520-6860-FE4F-B9BC-05A1A96E0847}" type="datetimeFigureOut">
              <a:rPr lang="en-US" smtClean="0"/>
              <a:pPr/>
              <a:t>11/15/25</a:t>
            </a:fld>
            <a:endParaRPr lang="en-US"/>
          </a:p>
        </p:txBody>
      </p:sp>
      <p:sp>
        <p:nvSpPr>
          <p:cNvPr id="5" name="Footer Placeholder 4"/>
          <p:cNvSpPr>
            <a:spLocks noGrp="1"/>
          </p:cNvSpPr>
          <p:nvPr>
            <p:ph type="ftr" sz="quarter" idx="11"/>
          </p:nvPr>
        </p:nvSpPr>
        <p:spPr>
          <a:xfrm>
            <a:off x="8414873" y="6425645"/>
            <a:ext cx="3490259" cy="365125"/>
          </a:xfrm>
        </p:spPr>
        <p:txBody>
          <a:bodyPr/>
          <a:lstStyle>
            <a:lvl1pPr algn="r">
              <a:defRPr/>
            </a:lvl1pPr>
          </a:lstStyle>
          <a:p>
            <a:endParaRPr lang="en-US"/>
          </a:p>
        </p:txBody>
      </p:sp>
      <p:sp>
        <p:nvSpPr>
          <p:cNvPr id="7" name="Rectangle 6"/>
          <p:cNvSpPr/>
          <p:nvPr/>
        </p:nvSpPr>
        <p:spPr>
          <a:xfrm>
            <a:off x="376769"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3" name="Picture Placeholder 12"/>
          <p:cNvSpPr>
            <a:spLocks noGrp="1"/>
          </p:cNvSpPr>
          <p:nvPr>
            <p:ph type="pic" sz="quarter" idx="12"/>
          </p:nvPr>
        </p:nvSpPr>
        <p:spPr>
          <a:xfrm>
            <a:off x="6165851" y="228600"/>
            <a:ext cx="2743200" cy="2039112"/>
          </a:xfrm>
        </p:spPr>
        <p:txBody>
          <a:bodyPr/>
          <a:lstStyle>
            <a:lvl1pPr>
              <a:buNone/>
              <a:defRPr/>
            </a:lvl1pPr>
          </a:lstStyle>
          <a:p>
            <a:r>
              <a:rPr lang="en-US" dirty="0"/>
              <a:t>Drag picture to placeholder or click icon to add</a:t>
            </a:r>
            <a:endParaRPr dirty="0"/>
          </a:p>
        </p:txBody>
      </p:sp>
      <p:sp>
        <p:nvSpPr>
          <p:cNvPr id="14" name="Picture Placeholder 12"/>
          <p:cNvSpPr>
            <a:spLocks noGrp="1"/>
          </p:cNvSpPr>
          <p:nvPr>
            <p:ph type="pic" sz="quarter" idx="13"/>
          </p:nvPr>
        </p:nvSpPr>
        <p:spPr>
          <a:xfrm>
            <a:off x="9069917" y="2377440"/>
            <a:ext cx="2743200" cy="2039112"/>
          </a:xfrm>
        </p:spPr>
        <p:txBody>
          <a:bodyPr/>
          <a:lstStyle>
            <a:lvl1pPr>
              <a:buNone/>
              <a:defRPr/>
            </a:lvl1pPr>
          </a:lstStyle>
          <a:p>
            <a:r>
              <a:rPr lang="en-US" dirty="0"/>
              <a:t>Drag picture to placeholder or click icon to add</a:t>
            </a:r>
            <a:endParaRPr dirty="0"/>
          </a:p>
        </p:txBody>
      </p:sp>
      <p:sp>
        <p:nvSpPr>
          <p:cNvPr id="16" name="Text Placeholder 3"/>
          <p:cNvSpPr>
            <a:spLocks noGrp="1"/>
          </p:cNvSpPr>
          <p:nvPr>
            <p:ph type="body" sz="half" idx="2"/>
          </p:nvPr>
        </p:nvSpPr>
        <p:spPr>
          <a:xfrm>
            <a:off x="1143000" y="1779499"/>
            <a:ext cx="4114800" cy="2040905"/>
          </a:xfrm>
        </p:spPr>
        <p:txBody>
          <a:bodyPr lIns="45720" tIns="45720" rIns="45720" anchor="t">
            <a:noAutofit/>
          </a:bodyPr>
          <a:lstStyle>
            <a:lvl1pPr marL="0" indent="0" algn="ctr">
              <a:spcBef>
                <a:spcPts val="600"/>
              </a:spcBef>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566525" y="174815"/>
            <a:ext cx="55107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878544" y="228600"/>
            <a:ext cx="1093457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3048000" y="3124205"/>
            <a:ext cx="75184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3048000" y="4495805"/>
            <a:ext cx="7518400" cy="1500187"/>
          </a:xfrm>
        </p:spPr>
        <p:txBody>
          <a:bodyPr anchor="t" anchorCtr="0">
            <a:normAutofit/>
          </a:bodyPr>
          <a:lstStyle>
            <a:lvl1pPr marL="0" indent="0">
              <a:spcBef>
                <a:spcPts val="300"/>
              </a:spcBef>
              <a:buNone/>
              <a:defRPr sz="1400" cap="none" baseline="0">
                <a:solidFill>
                  <a:schemeClr val="bg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78541" y="6248779"/>
            <a:ext cx="1966259" cy="365125"/>
          </a:xfrm>
        </p:spPr>
        <p:txBody>
          <a:bodyPr/>
          <a:lstStyle>
            <a:lvl1pPr algn="l">
              <a:defRPr>
                <a:solidFill>
                  <a:schemeClr val="bg1"/>
                </a:solidFill>
              </a:defRPr>
            </a:lvl1pPr>
          </a:lstStyle>
          <a:p>
            <a:fld id="{36774520-6860-FE4F-B9BC-05A1A96E0847}" type="datetimeFigureOut">
              <a:rPr lang="en-US" smtClean="0"/>
              <a:pPr/>
              <a:t>11/15/25</a:t>
            </a:fld>
            <a:endParaRPr lang="en-US"/>
          </a:p>
        </p:txBody>
      </p:sp>
      <p:sp>
        <p:nvSpPr>
          <p:cNvPr id="5" name="Footer Placeholder 4"/>
          <p:cNvSpPr>
            <a:spLocks noGrp="1"/>
          </p:cNvSpPr>
          <p:nvPr>
            <p:ph type="ftr" sz="quarter" idx="11"/>
          </p:nvPr>
        </p:nvSpPr>
        <p:spPr>
          <a:xfrm>
            <a:off x="3048000" y="6248779"/>
            <a:ext cx="7518400" cy="365125"/>
          </a:xfrm>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a:xfrm>
            <a:off x="11074400" y="6248779"/>
            <a:ext cx="738717" cy="365125"/>
          </a:xfrm>
        </p:spPr>
        <p:txBody>
          <a:bodyPr/>
          <a:lstStyle/>
          <a:p>
            <a:fld id="{E3296306-FF0B-0044-A4C6-96DEC2C6E7EC}" type="slidenum">
              <a:rPr lang="en-US" smtClean="0"/>
              <a:pPr/>
              <a:t>‹#›</a:t>
            </a:fld>
            <a:endParaRPr lang="en-US"/>
          </a:p>
        </p:txBody>
      </p:sp>
      <p:sp>
        <p:nvSpPr>
          <p:cNvPr id="8" name="TextBox 7"/>
          <p:cNvSpPr txBox="1"/>
          <p:nvPr/>
        </p:nvSpPr>
        <p:spPr>
          <a:xfrm>
            <a:off x="2671486" y="3110759"/>
            <a:ext cx="34787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381004" y="228600"/>
            <a:ext cx="283633"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10947404" y="282574"/>
            <a:ext cx="856129" cy="1317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10757647" y="282574"/>
            <a:ext cx="121920" cy="13176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TextBox 9"/>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866504"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96306-FF0B-0044-A4C6-96DEC2C6E7E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10889129" y="282574"/>
            <a:ext cx="914400" cy="1317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TextBox 11"/>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8" y="2447370"/>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5866504" y="2447370"/>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36774520-6860-FE4F-B9BC-05A1A96E0847}" type="datetimeFigureOut">
              <a:rPr lang="en-US" smtClean="0"/>
              <a:pPr/>
              <a:t>11/15/25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296306-FF0B-0044-A4C6-96DEC2C6E7EC}" type="slidenum">
              <a:rPr lang="en-US" smtClean="0"/>
              <a:pPr/>
              <a:t>‹#›</a:t>
            </a:fld>
            <a:endParaRPr lang="en-US"/>
          </a:p>
        </p:txBody>
      </p:sp>
      <p:sp>
        <p:nvSpPr>
          <p:cNvPr id="3" name="Text Placeholder 2"/>
          <p:cNvSpPr>
            <a:spLocks noGrp="1"/>
          </p:cNvSpPr>
          <p:nvPr>
            <p:ph type="body" idx="1"/>
          </p:nvPr>
        </p:nvSpPr>
        <p:spPr>
          <a:xfrm>
            <a:off x="663388" y="2070852"/>
            <a:ext cx="48768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5866504" y="2070852"/>
            <a:ext cx="48768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3" y="1985963"/>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p:txBody>
          <a:bodyPr/>
          <a:lstStyle/>
          <a:p>
            <a:endParaRPr lang="en-US"/>
          </a:p>
        </p:txBody>
      </p:sp>
      <p:sp>
        <p:nvSpPr>
          <p:cNvPr id="13" name="Content Placeholder 2"/>
          <p:cNvSpPr>
            <a:spLocks noGrp="1"/>
          </p:cNvSpPr>
          <p:nvPr>
            <p:ph sz="half" idx="14"/>
          </p:nvPr>
        </p:nvSpPr>
        <p:spPr>
          <a:xfrm>
            <a:off x="664693" y="4164965"/>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Rectangle 13"/>
          <p:cNvSpPr/>
          <p:nvPr/>
        </p:nvSpPr>
        <p:spPr>
          <a:xfrm>
            <a:off x="10889129" y="282574"/>
            <a:ext cx="914400" cy="1317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5" name="Slide Number Placeholder 6"/>
          <p:cNvSpPr>
            <a:spLocks noGrp="1"/>
          </p:cNvSpPr>
          <p:nvPr>
            <p:ph type="sldNum" sz="quarter" idx="12"/>
          </p:nvPr>
        </p:nvSpPr>
        <p:spPr>
          <a:xfrm>
            <a:off x="11074400" y="242239"/>
            <a:ext cx="738717" cy="365125"/>
          </a:xfrm>
        </p:spPr>
        <p:txBody>
          <a:bodyPr/>
          <a:lstStyle/>
          <a:p>
            <a:fld id="{E3296306-FF0B-0044-A4C6-96DEC2C6E7E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89129" y="282574"/>
            <a:ext cx="914400" cy="1317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TextBox 9"/>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96306-FF0B-0044-A4C6-96DEC2C6E7EC}" type="slidenum">
              <a:rPr lang="en-US" smtClean="0"/>
              <a:pPr/>
              <a:t>‹#›</a:t>
            </a:fld>
            <a:endParaRPr lang="en-US"/>
          </a:p>
        </p:txBody>
      </p:sp>
      <p:sp>
        <p:nvSpPr>
          <p:cNvPr id="11" name="Content Placeholder 2"/>
          <p:cNvSpPr>
            <a:spLocks noGrp="1"/>
          </p:cNvSpPr>
          <p:nvPr>
            <p:ph sz="half" idx="15"/>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89129" y="282574"/>
            <a:ext cx="914400" cy="1317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TextBox 9"/>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96306-FF0B-0044-A4C6-96DEC2C6E7EC}" type="slidenum">
              <a:rPr lang="en-US" smtClean="0"/>
              <a:pPr/>
              <a:t>‹#›</a:t>
            </a:fld>
            <a:endParaRPr lang="en-US"/>
          </a:p>
        </p:txBody>
      </p:sp>
      <p:sp>
        <p:nvSpPr>
          <p:cNvPr id="12" name="Content Placeholder 2"/>
          <p:cNvSpPr>
            <a:spLocks noGrp="1"/>
          </p:cNvSpPr>
          <p:nvPr>
            <p:ph sz="half" idx="17"/>
          </p:nvPr>
        </p:nvSpPr>
        <p:spPr>
          <a:xfrm>
            <a:off x="670563" y="1985963"/>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ontent Placeholder 2"/>
          <p:cNvSpPr>
            <a:spLocks noGrp="1"/>
          </p:cNvSpPr>
          <p:nvPr>
            <p:ph sz="half" idx="18"/>
          </p:nvPr>
        </p:nvSpPr>
        <p:spPr>
          <a:xfrm>
            <a:off x="670563" y="4164965"/>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6"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10889129" y="282574"/>
            <a:ext cx="914400" cy="1317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TextBox 7"/>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36774520-6860-FE4F-B9BC-05A1A96E0847}" type="datetimeFigureOut">
              <a:rPr lang="en-US" smtClean="0"/>
              <a:pPr/>
              <a:t>11/15/25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296306-FF0B-0044-A4C6-96DEC2C6E7EC}"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10889129" y="282574"/>
            <a:ext cx="9144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36774520-6860-FE4F-B9BC-05A1A96E0847}" type="datetimeFigureOut">
              <a:rPr lang="en-US" smtClean="0"/>
              <a:pPr/>
              <a:t>11/15/25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296306-FF0B-0044-A4C6-96DEC2C6E7EC}"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76770" y="228600"/>
            <a:ext cx="460163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507407" y="2571750"/>
            <a:ext cx="4340352" cy="1162050"/>
          </a:xfrm>
        </p:spPr>
        <p:txBody>
          <a:bodyPr anchor="b">
            <a:normAutofit/>
          </a:bodyPr>
          <a:lstStyle>
            <a:lvl1pPr algn="l">
              <a:defRPr sz="2600" b="0">
                <a:solidFill>
                  <a:schemeClr val="bg1"/>
                </a:solidFill>
              </a:defRPr>
            </a:lvl1pPr>
          </a:lstStyle>
          <a:p>
            <a:r>
              <a:rPr lang="en-US"/>
              <a:t>Click to edit Master title style</a:t>
            </a:r>
            <a:endParaRPr dirty="0"/>
          </a:p>
        </p:txBody>
      </p:sp>
      <p:sp>
        <p:nvSpPr>
          <p:cNvPr id="3" name="Content Placeholder 2"/>
          <p:cNvSpPr>
            <a:spLocks noGrp="1"/>
          </p:cNvSpPr>
          <p:nvPr>
            <p:ph idx="1"/>
          </p:nvPr>
        </p:nvSpPr>
        <p:spPr>
          <a:xfrm>
            <a:off x="5558370" y="273054"/>
            <a:ext cx="6129865"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08124" y="3733805"/>
            <a:ext cx="4340352" cy="2392363"/>
          </a:xfrm>
        </p:spPr>
        <p:txBody>
          <a:bodyPr/>
          <a:lstStyle>
            <a:lvl1pPr marL="0" indent="0">
              <a:spcBef>
                <a:spcPts val="600"/>
              </a:spcBef>
              <a:buNone/>
              <a:defRPr sz="1400">
                <a:solidFill>
                  <a:schemeClr val="bg1"/>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2" y="6423590"/>
            <a:ext cx="2049929" cy="365125"/>
          </a:xfrm>
        </p:spPr>
        <p:txBody>
          <a:body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a:xfrm>
            <a:off x="5145743" y="6423590"/>
            <a:ext cx="4422588" cy="365125"/>
          </a:xfrm>
        </p:spPr>
        <p:txBody>
          <a:bodyPr/>
          <a:lstStyle/>
          <a:p>
            <a:endParaRPr lang="en-US"/>
          </a:p>
        </p:txBody>
      </p:sp>
      <p:sp>
        <p:nvSpPr>
          <p:cNvPr id="9" name="TextBox 8"/>
          <p:cNvSpPr txBox="1"/>
          <p:nvPr/>
        </p:nvSpPr>
        <p:spPr>
          <a:xfrm>
            <a:off x="566525" y="174815"/>
            <a:ext cx="55107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10889129" y="282574"/>
            <a:ext cx="9144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5559205" y="3124200"/>
            <a:ext cx="5197696"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4614211" cy="6345238"/>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5559205" y="3995737"/>
            <a:ext cx="5197696" cy="2147888"/>
          </a:xfrm>
        </p:spPr>
        <p:txBody>
          <a:bodyPr/>
          <a:lstStyle>
            <a:lvl1pPr marL="0" indent="0">
              <a:spcBef>
                <a:spcPts val="600"/>
              </a:spcBef>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2" y="6423590"/>
            <a:ext cx="2049929" cy="365125"/>
          </a:xfrm>
        </p:spPr>
        <p:txBody>
          <a:body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a:xfrm>
            <a:off x="5588001" y="6423590"/>
            <a:ext cx="4006851" cy="365125"/>
          </a:xfrm>
        </p:spPr>
        <p:txBody>
          <a:bodyPr/>
          <a:lstStyle/>
          <a:p>
            <a:endParaRPr lang="en-US"/>
          </a:p>
        </p:txBody>
      </p:sp>
      <p:sp>
        <p:nvSpPr>
          <p:cNvPr id="7" name="Slide Number Placeholder 6"/>
          <p:cNvSpPr>
            <a:spLocks noGrp="1"/>
          </p:cNvSpPr>
          <p:nvPr>
            <p:ph type="sldNum" sz="quarter" idx="12"/>
          </p:nvPr>
        </p:nvSpPr>
        <p:spPr/>
        <p:txBody>
          <a:bodyPr/>
          <a:lstStyle/>
          <a:p>
            <a:fld id="{E3296306-FF0B-0044-A4C6-96DEC2C6E7EC}" type="slidenum">
              <a:rPr lang="en-US" smtClean="0"/>
              <a:pPr/>
              <a:t>‹#›</a:t>
            </a:fld>
            <a:endParaRPr lang="en-US"/>
          </a:p>
        </p:txBody>
      </p:sp>
      <p:sp>
        <p:nvSpPr>
          <p:cNvPr id="10" name="TextBox 9"/>
          <p:cNvSpPr txBox="1"/>
          <p:nvPr/>
        </p:nvSpPr>
        <p:spPr>
          <a:xfrm>
            <a:off x="5320149" y="3370731"/>
            <a:ext cx="294091"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75343" y="4424082"/>
            <a:ext cx="8254876"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3" y="228600"/>
            <a:ext cx="8504519" cy="4187952"/>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75343" y="5257804"/>
            <a:ext cx="8254876" cy="885825"/>
          </a:xfrm>
        </p:spPr>
        <p:txBody>
          <a:bodyPr/>
          <a:lstStyle>
            <a:lvl1pPr marL="0" indent="0">
              <a:spcBef>
                <a:spcPts val="300"/>
              </a:spcBef>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96306-FF0B-0044-A4C6-96DEC2C6E7EC}" type="slidenum">
              <a:rPr lang="en-US" smtClean="0"/>
              <a:pPr/>
              <a:t>‹#›</a:t>
            </a:fld>
            <a:endParaRPr lang="en-US"/>
          </a:p>
        </p:txBody>
      </p:sp>
      <p:sp>
        <p:nvSpPr>
          <p:cNvPr id="8" name="Rectangle 7"/>
          <p:cNvSpPr/>
          <p:nvPr/>
        </p:nvSpPr>
        <p:spPr>
          <a:xfrm>
            <a:off x="9069917" y="22860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ectangle 8"/>
          <p:cNvSpPr/>
          <p:nvPr/>
        </p:nvSpPr>
        <p:spPr>
          <a:xfrm>
            <a:off x="9069917" y="2377440"/>
            <a:ext cx="27432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TextBox 9"/>
          <p:cNvSpPr txBox="1"/>
          <p:nvPr/>
        </p:nvSpPr>
        <p:spPr>
          <a:xfrm>
            <a:off x="436285" y="4632793"/>
            <a:ext cx="294091"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376768" y="228600"/>
            <a:ext cx="851622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507407" y="2571750"/>
            <a:ext cx="8242148"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8" y="3733805"/>
            <a:ext cx="8239421" cy="2392363"/>
          </a:xfrm>
        </p:spPr>
        <p:txBody>
          <a:bodyPr/>
          <a:lstStyle>
            <a:lvl1pPr marL="0" indent="0">
              <a:spcBef>
                <a:spcPts val="600"/>
              </a:spcBef>
              <a:buNone/>
              <a:defRPr sz="1400">
                <a:solidFill>
                  <a:schemeClr val="bg1"/>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949683" y="6235612"/>
            <a:ext cx="1797864" cy="365125"/>
          </a:xfrm>
        </p:spPr>
        <p:txBody>
          <a:bodyPr/>
          <a:lstStyle>
            <a:lvl1pPr>
              <a:defRPr>
                <a:solidFill>
                  <a:schemeClr val="bg1"/>
                </a:solidFill>
              </a:defRPr>
            </a:lvl1p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a:xfrm>
            <a:off x="508130" y="6235612"/>
            <a:ext cx="6197473" cy="365125"/>
          </a:xfrm>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p>
            <a:fld id="{E3296306-FF0B-0044-A4C6-96DEC2C6E7EC}" type="slidenum">
              <a:rPr lang="en-US" smtClean="0"/>
              <a:pPr/>
              <a:t>‹#›</a:t>
            </a:fld>
            <a:endParaRPr lang="en-US"/>
          </a:p>
        </p:txBody>
      </p:sp>
      <p:sp>
        <p:nvSpPr>
          <p:cNvPr id="9" name="TextBox 8"/>
          <p:cNvSpPr txBox="1"/>
          <p:nvPr/>
        </p:nvSpPr>
        <p:spPr>
          <a:xfrm>
            <a:off x="566525" y="174815"/>
            <a:ext cx="55107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Picture Placeholder 12"/>
          <p:cNvSpPr>
            <a:spLocks noGrp="1"/>
          </p:cNvSpPr>
          <p:nvPr>
            <p:ph type="pic" sz="quarter" idx="13"/>
          </p:nvPr>
        </p:nvSpPr>
        <p:spPr>
          <a:xfrm>
            <a:off x="9069917" y="2374940"/>
            <a:ext cx="2743200" cy="2039112"/>
          </a:xfrm>
        </p:spPr>
        <p:txBody>
          <a:bodyPr/>
          <a:lstStyle>
            <a:lvl1pPr>
              <a:buNone/>
              <a:defRPr/>
            </a:lvl1pPr>
          </a:lstStyle>
          <a:p>
            <a:r>
              <a:rPr lang="en-US"/>
              <a:t>Drag picture to placeholder or click icon to add</a:t>
            </a:r>
            <a:endParaRPr/>
          </a:p>
        </p:txBody>
      </p:sp>
      <p:sp>
        <p:nvSpPr>
          <p:cNvPr id="13" name="Picture Placeholder 12"/>
          <p:cNvSpPr>
            <a:spLocks noGrp="1"/>
          </p:cNvSpPr>
          <p:nvPr>
            <p:ph type="pic" sz="quarter" idx="14"/>
          </p:nvPr>
        </p:nvSpPr>
        <p:spPr>
          <a:xfrm>
            <a:off x="9069917" y="4535424"/>
            <a:ext cx="2743200" cy="2039112"/>
          </a:xfrm>
        </p:spPr>
        <p:txBody>
          <a:bodyPr/>
          <a:lstStyle>
            <a:lvl1pPr>
              <a:buNone/>
              <a:defRPr/>
            </a:lvl1pPr>
          </a:lstStyle>
          <a:p>
            <a:r>
              <a:rPr lang="en-US"/>
              <a:t>Drag picture to placeholder or click icon to add</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376769" y="228600"/>
            <a:ext cx="56472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507409" y="2571750"/>
            <a:ext cx="53555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5" y="3733805"/>
            <a:ext cx="5353739" cy="2392363"/>
          </a:xfrm>
        </p:spPr>
        <p:txBody>
          <a:bodyPr/>
          <a:lstStyle>
            <a:lvl1pPr marL="0" indent="0">
              <a:spcBef>
                <a:spcPts val="600"/>
              </a:spcBef>
              <a:buNone/>
              <a:defRPr sz="1400">
                <a:solidFill>
                  <a:schemeClr val="bg1"/>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4064000" y="6235612"/>
            <a:ext cx="1797864" cy="365125"/>
          </a:xfrm>
        </p:spPr>
        <p:txBody>
          <a:bodyPr/>
          <a:lstStyle>
            <a:lvl1pPr>
              <a:defRPr>
                <a:solidFill>
                  <a:schemeClr val="bg1"/>
                </a:solidFill>
              </a:defRPr>
            </a:lvl1p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a:xfrm>
            <a:off x="508130" y="6235612"/>
            <a:ext cx="3454273" cy="365125"/>
          </a:xfrm>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p>
            <a:fld id="{E3296306-FF0B-0044-A4C6-96DEC2C6E7EC}" type="slidenum">
              <a:rPr lang="en-US" smtClean="0"/>
              <a:pPr/>
              <a:t>‹#›</a:t>
            </a:fld>
            <a:endParaRPr lang="en-US"/>
          </a:p>
        </p:txBody>
      </p:sp>
      <p:sp>
        <p:nvSpPr>
          <p:cNvPr id="9" name="TextBox 8"/>
          <p:cNvSpPr txBox="1"/>
          <p:nvPr/>
        </p:nvSpPr>
        <p:spPr>
          <a:xfrm>
            <a:off x="566525" y="174815"/>
            <a:ext cx="55107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6165851" y="4534726"/>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Picture Placeholder 12"/>
          <p:cNvSpPr>
            <a:spLocks noGrp="1"/>
          </p:cNvSpPr>
          <p:nvPr>
            <p:ph type="pic" sz="quarter" idx="13"/>
          </p:nvPr>
        </p:nvSpPr>
        <p:spPr>
          <a:xfrm>
            <a:off x="6165851" y="228600"/>
            <a:ext cx="2743200" cy="2039112"/>
          </a:xfrm>
        </p:spPr>
        <p:txBody>
          <a:bodyPr/>
          <a:lstStyle>
            <a:lvl1pPr>
              <a:buNone/>
              <a:defRPr/>
            </a:lvl1pPr>
          </a:lstStyle>
          <a:p>
            <a:r>
              <a:rPr lang="en-US"/>
              <a:t>Drag picture to placeholder or click icon to add</a:t>
            </a:r>
            <a:endParaRPr/>
          </a:p>
        </p:txBody>
      </p:sp>
      <p:sp>
        <p:nvSpPr>
          <p:cNvPr id="13" name="Picture Placeholder 12"/>
          <p:cNvSpPr>
            <a:spLocks noGrp="1"/>
          </p:cNvSpPr>
          <p:nvPr>
            <p:ph type="pic" sz="quarter" idx="14"/>
          </p:nvPr>
        </p:nvSpPr>
        <p:spPr>
          <a:xfrm>
            <a:off x="6165851" y="2381663"/>
            <a:ext cx="2743200" cy="2039112"/>
          </a:xfrm>
        </p:spPr>
        <p:txBody>
          <a:bodyPr/>
          <a:lstStyle>
            <a:lvl1pPr>
              <a:buNone/>
              <a:defRPr/>
            </a:lvl1pPr>
          </a:lstStyle>
          <a:p>
            <a:r>
              <a:rPr lang="en-US"/>
              <a:t>Drag picture to placeholder or click icon to add</a:t>
            </a:r>
            <a:endParaRPr/>
          </a:p>
        </p:txBody>
      </p:sp>
      <p:sp>
        <p:nvSpPr>
          <p:cNvPr id="14" name="Picture Placeholder 12"/>
          <p:cNvSpPr>
            <a:spLocks noGrp="1"/>
          </p:cNvSpPr>
          <p:nvPr>
            <p:ph type="pic" sz="quarter" idx="15"/>
          </p:nvPr>
        </p:nvSpPr>
        <p:spPr>
          <a:xfrm>
            <a:off x="9070848" y="2381662"/>
            <a:ext cx="2743200" cy="4187952"/>
          </a:xfrm>
        </p:spPr>
        <p:txBody>
          <a:bodyPr/>
          <a:lstStyle>
            <a:lvl1pPr>
              <a:buNone/>
              <a:defRPr/>
            </a:lvl1pPr>
          </a:lstStyle>
          <a:p>
            <a:r>
              <a:rPr lang="en-US"/>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10889129" y="282574"/>
            <a:ext cx="9144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604000" y="3124200"/>
            <a:ext cx="414528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3" y="2365248"/>
            <a:ext cx="5653492" cy="4187952"/>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604000" y="3995737"/>
            <a:ext cx="4145280" cy="2147888"/>
          </a:xfrm>
        </p:spPr>
        <p:txBody>
          <a:bodyPr/>
          <a:lstStyle>
            <a:lvl1pPr marL="0" indent="0">
              <a:spcBef>
                <a:spcPts val="600"/>
              </a:spcBef>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2" y="6423590"/>
            <a:ext cx="2049929" cy="365125"/>
          </a:xfrm>
        </p:spPr>
        <p:txBody>
          <a:bodyPr/>
          <a:lstStyle/>
          <a:p>
            <a:fld id="{36774520-6860-FE4F-B9BC-05A1A96E0847}" type="datetimeFigureOut">
              <a:rPr lang="en-US" smtClean="0"/>
              <a:pPr/>
              <a:t>11/15/25</a:t>
            </a:fld>
            <a:endParaRPr lang="en-US"/>
          </a:p>
        </p:txBody>
      </p:sp>
      <p:sp>
        <p:nvSpPr>
          <p:cNvPr id="6" name="Footer Placeholder 5"/>
          <p:cNvSpPr>
            <a:spLocks noGrp="1"/>
          </p:cNvSpPr>
          <p:nvPr>
            <p:ph type="ftr" sz="quarter" idx="11"/>
          </p:nvPr>
        </p:nvSpPr>
        <p:spPr>
          <a:xfrm>
            <a:off x="5588001" y="6423590"/>
            <a:ext cx="4006851" cy="365125"/>
          </a:xfrm>
        </p:spPr>
        <p:txBody>
          <a:bodyPr/>
          <a:lstStyle/>
          <a:p>
            <a:endParaRPr lang="en-US"/>
          </a:p>
        </p:txBody>
      </p:sp>
      <p:sp>
        <p:nvSpPr>
          <p:cNvPr id="7" name="Slide Number Placeholder 6"/>
          <p:cNvSpPr>
            <a:spLocks noGrp="1"/>
          </p:cNvSpPr>
          <p:nvPr>
            <p:ph type="sldNum" sz="quarter" idx="12"/>
          </p:nvPr>
        </p:nvSpPr>
        <p:spPr/>
        <p:txBody>
          <a:bodyPr/>
          <a:lstStyle/>
          <a:p>
            <a:fld id="{E3296306-FF0B-0044-A4C6-96DEC2C6E7EC}" type="slidenum">
              <a:rPr lang="en-US" smtClean="0"/>
              <a:pPr/>
              <a:t>‹#›</a:t>
            </a:fld>
            <a:endParaRPr lang="en-US"/>
          </a:p>
        </p:txBody>
      </p:sp>
      <p:sp>
        <p:nvSpPr>
          <p:cNvPr id="10" name="TextBox 9"/>
          <p:cNvSpPr txBox="1"/>
          <p:nvPr/>
        </p:nvSpPr>
        <p:spPr>
          <a:xfrm>
            <a:off x="6333817" y="3370731"/>
            <a:ext cx="294091"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370540" y="228600"/>
            <a:ext cx="2743200" cy="2039112"/>
          </a:xfrm>
        </p:spPr>
        <p:txBody>
          <a:bodyPr/>
          <a:lstStyle>
            <a:lvl1pPr>
              <a:buNone/>
              <a:defRPr/>
            </a:lvl1pPr>
          </a:lstStyle>
          <a:p>
            <a:r>
              <a:rPr lang="en-US"/>
              <a:t>Drag picture to placeholder or click icon to add</a:t>
            </a:r>
            <a:endParaRPr/>
          </a:p>
        </p:txBody>
      </p:sp>
      <p:sp>
        <p:nvSpPr>
          <p:cNvPr id="15" name="Picture Placeholder 12"/>
          <p:cNvSpPr>
            <a:spLocks noGrp="1"/>
          </p:cNvSpPr>
          <p:nvPr>
            <p:ph type="pic" sz="quarter" idx="14"/>
          </p:nvPr>
        </p:nvSpPr>
        <p:spPr>
          <a:xfrm>
            <a:off x="3280833" y="228600"/>
            <a:ext cx="2743200" cy="2039112"/>
          </a:xfrm>
        </p:spPr>
        <p:txBody>
          <a:bodyPr/>
          <a:lstStyle>
            <a:lvl1pPr>
              <a:buNone/>
              <a:defRPr/>
            </a:lvl1pPr>
          </a:lstStyle>
          <a:p>
            <a:r>
              <a:rPr lang="en-US"/>
              <a:t>Drag picture to placeholder or click icon to add</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10889129" y="282574"/>
            <a:ext cx="914400" cy="1317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TextBox 8"/>
          <p:cNvSpPr txBox="1"/>
          <p:nvPr/>
        </p:nvSpPr>
        <p:spPr>
          <a:xfrm>
            <a:off x="297583"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36774520-6860-FE4F-B9BC-05A1A96E0847}" type="datetimeFigureOut">
              <a:rPr lang="en-US" smtClean="0"/>
              <a:pPr/>
              <a:t>11/15/25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96306-FF0B-0044-A4C6-96DEC2C6E7EC}"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10889129" y="282574"/>
            <a:ext cx="9144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661029" y="954742"/>
            <a:ext cx="908424"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958761"/>
            <a:ext cx="9144000" cy="518486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36774520-6860-FE4F-B9BC-05A1A96E0847}" type="datetimeFigureOut">
              <a:rPr lang="en-US" smtClean="0"/>
              <a:pPr/>
              <a:t>11/15/25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96306-FF0B-0044-A4C6-96DEC2C6E7EC}" type="slidenum">
              <a:rPr lang="en-US" smtClean="0"/>
              <a:pPr/>
              <a:t>‹#›</a:t>
            </a:fld>
            <a:endParaRPr lang="en-US"/>
          </a:p>
        </p:txBody>
      </p:sp>
      <p:sp>
        <p:nvSpPr>
          <p:cNvPr id="9" name="TextBox 8"/>
          <p:cNvSpPr txBox="1"/>
          <p:nvPr/>
        </p:nvSpPr>
        <p:spPr>
          <a:xfrm rot="16200000">
            <a:off x="11500970" y="561669"/>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812800" y="4"/>
            <a:ext cx="10363200" cy="836613"/>
          </a:xfrm>
        </p:spPr>
        <p:txBody>
          <a:bodyPr/>
          <a:lstStyle/>
          <a:p>
            <a:r>
              <a:rPr lang="en-US" altLang="zh-TW"/>
              <a:t>Click to edit Master title style</a:t>
            </a:r>
            <a:endParaRPr lang="zh-TW" altLang="en-US"/>
          </a:p>
        </p:txBody>
      </p:sp>
      <p:sp>
        <p:nvSpPr>
          <p:cNvPr id="3" name="SmartArt Placeholder 2"/>
          <p:cNvSpPr>
            <a:spLocks noGrp="1"/>
          </p:cNvSpPr>
          <p:nvPr>
            <p:ph type="dgm" idx="1"/>
          </p:nvPr>
        </p:nvSpPr>
        <p:spPr>
          <a:xfrm>
            <a:off x="914400" y="981078"/>
            <a:ext cx="10363200" cy="5184775"/>
          </a:xfrm>
        </p:spPr>
        <p:txBody>
          <a:bodyPr/>
          <a:lstStyle/>
          <a:p>
            <a:endParaRPr lang="zh-TW" altLang="en-US"/>
          </a:p>
        </p:txBody>
      </p:sp>
      <p:sp>
        <p:nvSpPr>
          <p:cNvPr id="4" name="Slide Number Placeholder 3"/>
          <p:cNvSpPr>
            <a:spLocks noGrp="1"/>
          </p:cNvSpPr>
          <p:nvPr>
            <p:ph type="sldNum" sz="quarter" idx="10"/>
          </p:nvPr>
        </p:nvSpPr>
        <p:spPr>
          <a:xfrm>
            <a:off x="10972800" y="0"/>
            <a:ext cx="1219200" cy="457200"/>
          </a:xfrm>
        </p:spPr>
        <p:txBody>
          <a:bodyPr/>
          <a:lstStyle>
            <a:lvl1pPr>
              <a:defRPr/>
            </a:lvl1pPr>
          </a:lstStyle>
          <a:p>
            <a:fld id="{A2717314-35B0-4BC6-B81A-47E910B7D311}" type="slidenum">
              <a:rPr lang="zh-TW" altLang="en-US"/>
              <a:pPr/>
              <a:t>‹#›</a:t>
            </a:fld>
            <a:endParaRPr lang="en-US" altLang="zh-TW"/>
          </a:p>
        </p:txBody>
      </p:sp>
    </p:spTree>
    <p:extLst>
      <p:ext uri="{BB962C8B-B14F-4D97-AF65-F5344CB8AC3E}">
        <p14:creationId xmlns:p14="http://schemas.microsoft.com/office/powerpoint/2010/main" val="13166677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4"/>
            <a:ext cx="10363200" cy="836613"/>
          </a:xfrm>
        </p:spPr>
        <p:txBody>
          <a:bodyPr/>
          <a:lstStyle/>
          <a:p>
            <a:r>
              <a:rPr lang="en-US" altLang="zh-TW"/>
              <a:t>Click to edit Master title style</a:t>
            </a:r>
            <a:endParaRPr lang="zh-TW" altLang="en-US"/>
          </a:p>
        </p:txBody>
      </p:sp>
      <p:sp>
        <p:nvSpPr>
          <p:cNvPr id="3" name="Text Placeholder 2"/>
          <p:cNvSpPr>
            <a:spLocks noGrp="1"/>
          </p:cNvSpPr>
          <p:nvPr>
            <p:ph type="body" sz="half" idx="1"/>
          </p:nvPr>
        </p:nvSpPr>
        <p:spPr>
          <a:xfrm>
            <a:off x="914400" y="981078"/>
            <a:ext cx="5080000" cy="518477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97600" y="981078"/>
            <a:ext cx="5080000" cy="518477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Slide Number Placeholder 4"/>
          <p:cNvSpPr>
            <a:spLocks noGrp="1"/>
          </p:cNvSpPr>
          <p:nvPr>
            <p:ph type="sldNum" sz="quarter" idx="10"/>
          </p:nvPr>
        </p:nvSpPr>
        <p:spPr>
          <a:xfrm>
            <a:off x="10972800" y="0"/>
            <a:ext cx="1219200" cy="457200"/>
          </a:xfrm>
        </p:spPr>
        <p:txBody>
          <a:bodyPr/>
          <a:lstStyle>
            <a:lvl1pPr>
              <a:defRPr/>
            </a:lvl1pPr>
          </a:lstStyle>
          <a:p>
            <a:fld id="{1E31DEDD-14B2-4072-9783-0B3B3993043D}" type="slidenum">
              <a:rPr lang="zh-TW" altLang="en-US"/>
              <a:pPr/>
              <a:t>‹#›</a:t>
            </a:fld>
            <a:endParaRPr lang="en-US" altLang="zh-TW"/>
          </a:p>
        </p:txBody>
      </p:sp>
    </p:spTree>
    <p:extLst>
      <p:ext uri="{BB962C8B-B14F-4D97-AF65-F5344CB8AC3E}">
        <p14:creationId xmlns:p14="http://schemas.microsoft.com/office/powerpoint/2010/main" val="33695645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96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5" y="484094"/>
            <a:ext cx="10075084"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664635" y="1981205"/>
            <a:ext cx="10075084"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060329" y="6423590"/>
            <a:ext cx="28448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36774520-6860-FE4F-B9BC-05A1A96E0847}" type="datetimeFigureOut">
              <a:rPr lang="en-US" smtClean="0"/>
              <a:pPr/>
              <a:t>11/15/25</a:t>
            </a:fld>
            <a:endParaRPr lang="en-US"/>
          </a:p>
        </p:txBody>
      </p:sp>
      <p:sp>
        <p:nvSpPr>
          <p:cNvPr id="5" name="Footer Placeholder 4"/>
          <p:cNvSpPr>
            <a:spLocks noGrp="1"/>
          </p:cNvSpPr>
          <p:nvPr>
            <p:ph type="ftr" sz="quarter" idx="3"/>
          </p:nvPr>
        </p:nvSpPr>
        <p:spPr>
          <a:xfrm>
            <a:off x="268941" y="6423590"/>
            <a:ext cx="8163859"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9"/>
            <a:ext cx="738717" cy="365125"/>
          </a:xfrm>
          <a:prstGeom prst="rect">
            <a:avLst/>
          </a:prstGeom>
        </p:spPr>
        <p:txBody>
          <a:bodyPr vert="horz" lIns="91440" tIns="45720" rIns="91440" bIns="45720" rtlCol="0" anchor="ctr"/>
          <a:lstStyle>
            <a:lvl1pPr algn="r">
              <a:defRPr sz="1400">
                <a:solidFill>
                  <a:schemeClr val="bg1"/>
                </a:solidFill>
              </a:defRPr>
            </a:lvl1pPr>
          </a:lstStyle>
          <a:p>
            <a:fld id="{E3296306-FF0B-0044-A4C6-96DEC2C6E7E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4" r:id="rId23"/>
  </p:sldLayoutIdLst>
  <p:txStyles>
    <p:titleStyle>
      <a:lvl1pPr algn="l" defTabSz="914377" rtl="0" eaLnBrk="1" latinLnBrk="0" hangingPunct="1">
        <a:spcBef>
          <a:spcPct val="0"/>
        </a:spcBef>
        <a:buNone/>
        <a:defRPr sz="3600" b="0" kern="1200">
          <a:solidFill>
            <a:schemeClr val="accent1"/>
          </a:solidFill>
          <a:latin typeface="+mj-lt"/>
          <a:ea typeface="+mj-ea"/>
          <a:cs typeface="+mj-cs"/>
        </a:defRPr>
      </a:lvl1pPr>
    </p:titleStyle>
    <p:bodyStyle>
      <a:lvl1pPr marL="228594" indent="-228594" algn="l" defTabSz="914377"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189" indent="-228594" algn="l" defTabSz="914377"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783" indent="-228594" algn="l" defTabSz="914377"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377" indent="-228594" algn="l" defTabSz="914377"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2971" indent="-228594" algn="l" defTabSz="914377"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16" indent="-228594" algn="l" defTabSz="914377"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35" indent="-228594" algn="l" defTabSz="914377"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42" indent="-228594" algn="l" defTabSz="914377"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349" indent="-228594" algn="l" defTabSz="914377"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lansuphd@mail.ncku.edu.tw" TargetMode="Externa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99.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14.tiff"/><Relationship Id="rId1" Type="http://schemas.openxmlformats.org/officeDocument/2006/relationships/slideLayout" Target="../slideLayouts/slideLayout2.xml"/><Relationship Id="rId4" Type="http://schemas.openxmlformats.org/officeDocument/2006/relationships/image" Target="../media/image16.tif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Electronic System Level Design Methodology</a:t>
            </a:r>
          </a:p>
        </p:txBody>
      </p:sp>
      <p:sp>
        <p:nvSpPr>
          <p:cNvPr id="3" name="Subtitle 2"/>
          <p:cNvSpPr>
            <a:spLocks noGrp="1"/>
          </p:cNvSpPr>
          <p:nvPr>
            <p:ph type="body" idx="1"/>
          </p:nvPr>
        </p:nvSpPr>
        <p:spPr/>
        <p:txBody>
          <a:bodyPr>
            <a:normAutofit/>
          </a:bodyPr>
          <a:lstStyle/>
          <a:p>
            <a:r>
              <a:rPr lang="zh-TW" altLang="en-US" sz="1800" dirty="0">
                <a:solidFill>
                  <a:schemeClr val="bg1">
                    <a:lumMod val="85000"/>
                  </a:schemeClr>
                </a:solidFill>
                <a:latin typeface="PingFang TC Medium" panose="020B0400000000000000" pitchFamily="34" charset="-120"/>
                <a:ea typeface="PingFang TC Medium" panose="020B0400000000000000" pitchFamily="34" charset="-120"/>
                <a:cs typeface="Consolas" panose="020B0609020204030204" pitchFamily="49" charset="0"/>
              </a:rPr>
              <a:t>蘇培陞</a:t>
            </a:r>
            <a:r>
              <a:rPr lang="en-US" altLang="zh-TW" sz="1800" dirty="0">
                <a:solidFill>
                  <a:schemeClr val="bg1">
                    <a:lumMod val="85000"/>
                  </a:schemeClr>
                </a:solidFill>
                <a:latin typeface="PingFang TC Medium" panose="020B0400000000000000" pitchFamily="34" charset="-120"/>
                <a:ea typeface="PingFang TC Medium" panose="020B0400000000000000" pitchFamily="34" charset="-120"/>
                <a:cs typeface="Consolas" panose="020B0609020204030204" pitchFamily="49" charset="0"/>
              </a:rPr>
              <a:t> </a:t>
            </a:r>
            <a:r>
              <a:rPr lang="zh-TW" altLang="en-US" sz="1800" dirty="0">
                <a:solidFill>
                  <a:schemeClr val="bg1">
                    <a:lumMod val="85000"/>
                  </a:schemeClr>
                </a:solidFill>
                <a:latin typeface="PingFang TC Medium" panose="020B0400000000000000" pitchFamily="34" charset="-120"/>
                <a:ea typeface="PingFang TC Medium" panose="020B0400000000000000" pitchFamily="34" charset="-120"/>
                <a:cs typeface="Consolas" panose="020B0609020204030204" pitchFamily="49" charset="0"/>
              </a:rPr>
              <a:t>博士</a:t>
            </a:r>
            <a:endParaRPr lang="en-US" altLang="zh-TW" sz="1800" dirty="0">
              <a:solidFill>
                <a:schemeClr val="bg1">
                  <a:lumMod val="85000"/>
                </a:schemeClr>
              </a:solidFill>
              <a:latin typeface="PingFang TC Medium" panose="020B0400000000000000" pitchFamily="34" charset="-120"/>
              <a:ea typeface="PingFang TC Medium" panose="020B0400000000000000" pitchFamily="34" charset="-120"/>
              <a:cs typeface="Consolas" panose="020B0609020204030204" pitchFamily="49" charset="0"/>
            </a:endParaRPr>
          </a:p>
          <a:p>
            <a:r>
              <a:rPr lang="en-US" sz="1800" dirty="0">
                <a:solidFill>
                  <a:schemeClr val="bg1">
                    <a:lumMod val="85000"/>
                  </a:schemeClr>
                </a:solidFill>
              </a:rPr>
              <a:t>Alan P. Su, Ph.D.</a:t>
            </a:r>
          </a:p>
          <a:p>
            <a:r>
              <a:rPr lang="en-US" sz="1800" dirty="0">
                <a:solidFill>
                  <a:schemeClr val="bg2">
                    <a:lumMod val="60000"/>
                    <a:lumOff val="40000"/>
                  </a:schemeClr>
                </a:solidFill>
                <a:hlinkClick r:id="rId2"/>
              </a:rPr>
              <a:t>alansuphd@mail.ncku.edu.tw</a:t>
            </a:r>
            <a:r>
              <a:rPr lang="en-US" sz="1800" dirty="0">
                <a:solidFill>
                  <a:schemeClr val="bg2">
                    <a:lumMod val="60000"/>
                    <a:lumOff val="40000"/>
                  </a:schemeClr>
                </a:solidFill>
              </a:rPr>
              <a:t> </a:t>
            </a:r>
          </a:p>
        </p:txBody>
      </p:sp>
    </p:spTree>
    <p:extLst>
      <p:ext uri="{BB962C8B-B14F-4D97-AF65-F5344CB8AC3E}">
        <p14:creationId xmlns:p14="http://schemas.microsoft.com/office/powerpoint/2010/main" val="136331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0D0C5-6FFB-4223-8DB9-7A6D1187FAF8}"/>
              </a:ext>
            </a:extLst>
          </p:cNvPr>
          <p:cNvSpPr>
            <a:spLocks noGrp="1"/>
          </p:cNvSpPr>
          <p:nvPr>
            <p:ph type="title"/>
          </p:nvPr>
        </p:nvSpPr>
        <p:spPr/>
        <p:txBody>
          <a:bodyPr/>
          <a:lstStyle/>
          <a:p>
            <a:r>
              <a:rPr lang="en-TW" dirty="0"/>
              <a:t>Agenda</a:t>
            </a:r>
          </a:p>
        </p:txBody>
      </p:sp>
      <p:sp>
        <p:nvSpPr>
          <p:cNvPr id="3" name="Content Placeholder 2">
            <a:extLst>
              <a:ext uri="{FF2B5EF4-FFF2-40B4-BE49-F238E27FC236}">
                <a16:creationId xmlns:a16="http://schemas.microsoft.com/office/drawing/2014/main" id="{358BBC0A-E6B1-9DA3-74AE-CF72AD9F7E73}"/>
              </a:ext>
            </a:extLst>
          </p:cNvPr>
          <p:cNvSpPr>
            <a:spLocks noGrp="1"/>
          </p:cNvSpPr>
          <p:nvPr>
            <p:ph idx="1"/>
          </p:nvPr>
        </p:nvSpPr>
        <p:spPr/>
        <p:txBody>
          <a:bodyPr>
            <a:normAutofit/>
          </a:bodyPr>
          <a:lstStyle/>
          <a:p>
            <a:r>
              <a:rPr lang="en-TW" sz="2800" dirty="0"/>
              <a:t>Chapter 1 – Introduction to ESL</a:t>
            </a:r>
          </a:p>
          <a:p>
            <a:r>
              <a:rPr lang="en-TW" sz="2800" dirty="0"/>
              <a:t>Chapter 2 – C</a:t>
            </a:r>
          </a:p>
          <a:p>
            <a:r>
              <a:rPr lang="en-TW" sz="2800" dirty="0">
                <a:solidFill>
                  <a:srgbClr val="2CA109"/>
                </a:solidFill>
              </a:rPr>
              <a:t>Chapter 3 – C++</a:t>
            </a:r>
          </a:p>
          <a:p>
            <a:r>
              <a:rPr lang="en-TW" sz="2800" dirty="0"/>
              <a:t>Chapter 4 – SystemC</a:t>
            </a:r>
          </a:p>
          <a:p>
            <a:r>
              <a:rPr lang="en-TW" sz="2800" dirty="0"/>
              <a:t>Chapter 5 – High Level Synthesis</a:t>
            </a:r>
          </a:p>
          <a:p>
            <a:r>
              <a:rPr lang="en-TW" sz="2800" dirty="0"/>
              <a:t>Chapter 6 – RISC-V</a:t>
            </a:r>
          </a:p>
        </p:txBody>
      </p:sp>
      <p:sp>
        <p:nvSpPr>
          <p:cNvPr id="4" name="Slide Number Placeholder 3">
            <a:extLst>
              <a:ext uri="{FF2B5EF4-FFF2-40B4-BE49-F238E27FC236}">
                <a16:creationId xmlns:a16="http://schemas.microsoft.com/office/drawing/2014/main" id="{1C651D6D-3C26-9063-10A1-DC83B0890060}"/>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2</a:t>
            </a:fld>
            <a:endParaRPr lang="en-US" altLang="zh-TW" dirty="0"/>
          </a:p>
        </p:txBody>
      </p:sp>
    </p:spTree>
    <p:extLst>
      <p:ext uri="{BB962C8B-B14F-4D97-AF65-F5344CB8AC3E}">
        <p14:creationId xmlns:p14="http://schemas.microsoft.com/office/powerpoint/2010/main" val="4287385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ctrTitle"/>
          </p:nvPr>
        </p:nvSpPr>
        <p:spPr>
          <a:xfrm>
            <a:off x="6400800" y="4624668"/>
            <a:ext cx="5384800" cy="1720376"/>
          </a:xfrm>
        </p:spPr>
        <p:txBody>
          <a:bodyPr>
            <a:normAutofit/>
          </a:bodyPr>
          <a:lstStyle/>
          <a:p>
            <a:r>
              <a:rPr lang="en-US" altLang="zh-TW" sz="4000" dirty="0"/>
              <a:t>Chapter 3 – C++, The Object Oriented C</a:t>
            </a:r>
          </a:p>
        </p:txBody>
      </p:sp>
      <p:pic>
        <p:nvPicPr>
          <p:cNvPr id="15" name="Picture Placeholder 14">
            <a:extLst>
              <a:ext uri="{FF2B5EF4-FFF2-40B4-BE49-F238E27FC236}">
                <a16:creationId xmlns:a16="http://schemas.microsoft.com/office/drawing/2014/main" id="{A99EB10D-0DD1-ED3E-618D-E63E6BB75990}"/>
              </a:ext>
            </a:extLst>
          </p:cNvPr>
          <p:cNvPicPr>
            <a:picLocks noGrp="1" noChangeAspect="1"/>
          </p:cNvPicPr>
          <p:nvPr>
            <p:ph type="pic" sz="quarter" idx="12"/>
          </p:nvPr>
        </p:nvPicPr>
        <p:blipFill>
          <a:blip r:embed="rId3"/>
          <a:srcRect t="12616" b="12616"/>
          <a:stretch>
            <a:fillRect/>
          </a:stretch>
        </p:blipFill>
        <p:spPr/>
      </p:pic>
      <p:pic>
        <p:nvPicPr>
          <p:cNvPr id="17" name="Picture Placeholder 16">
            <a:extLst>
              <a:ext uri="{FF2B5EF4-FFF2-40B4-BE49-F238E27FC236}">
                <a16:creationId xmlns:a16="http://schemas.microsoft.com/office/drawing/2014/main" id="{0092FBD6-CBCD-E20D-88B2-68BEF2F5FE16}"/>
              </a:ext>
            </a:extLst>
          </p:cNvPr>
          <p:cNvPicPr>
            <a:picLocks noGrp="1" noChangeAspect="1"/>
          </p:cNvPicPr>
          <p:nvPr>
            <p:ph type="pic" sz="quarter" idx="13"/>
          </p:nvPr>
        </p:nvPicPr>
        <p:blipFill>
          <a:blip r:embed="rId4"/>
          <a:srcRect t="12616" b="12616"/>
          <a:stretch>
            <a:fillRect/>
          </a:stretch>
        </p:blipFill>
        <p:spPr/>
      </p:pic>
      <p:sp>
        <p:nvSpPr>
          <p:cNvPr id="21" name="Text Placeholder 6"/>
          <p:cNvSpPr>
            <a:spLocks noGrp="1"/>
          </p:cNvSpPr>
          <p:nvPr>
            <p:ph type="body" sz="half" idx="2"/>
          </p:nvPr>
        </p:nvSpPr>
        <p:spPr/>
        <p:txBody>
          <a:bodyPr/>
          <a:lstStyle/>
          <a:p>
            <a:r>
              <a:rPr lang="en-US" sz="2400" dirty="0"/>
              <a:t>Not “English as Second Language”</a:t>
            </a:r>
          </a:p>
        </p:txBody>
      </p:sp>
      <p:sp>
        <p:nvSpPr>
          <p:cNvPr id="6" name="Rectangle 6"/>
          <p:cNvSpPr>
            <a:spLocks noGrp="1" noChangeArrowheads="1"/>
          </p:cNvSpPr>
          <p:nvPr>
            <p:ph type="sldNum" sz="quarter" idx="4294967295"/>
          </p:nvPr>
        </p:nvSpPr>
        <p:spPr>
          <a:xfrm>
            <a:off x="11637963" y="242888"/>
            <a:ext cx="554037" cy="365125"/>
          </a:xfrm>
          <a:prstGeom prst="rect">
            <a:avLst/>
          </a:prstGeom>
        </p:spPr>
        <p:txBody>
          <a:bodyPr/>
          <a:lstStyle/>
          <a:p>
            <a:fld id="{A0723AAF-ED81-42D6-9C72-10E8F0AEA5C2}" type="slidenum">
              <a:rPr lang="zh-TW" altLang="en-US"/>
              <a:pPr/>
              <a:t>3</a:t>
            </a:fld>
            <a:endParaRPr lang="en-US" altLang="zh-TW"/>
          </a:p>
        </p:txBody>
      </p:sp>
      <p:sp>
        <p:nvSpPr>
          <p:cNvPr id="4" name="Slide Number Placeholder 3">
            <a:extLst>
              <a:ext uri="{FF2B5EF4-FFF2-40B4-BE49-F238E27FC236}">
                <a16:creationId xmlns:a16="http://schemas.microsoft.com/office/drawing/2014/main" id="{2BEEB6C0-37B2-F3D3-5A24-B7297041DD51}"/>
              </a:ext>
            </a:extLst>
          </p:cNvPr>
          <p:cNvSpPr txBox="1">
            <a:spLocks/>
          </p:cNvSpPr>
          <p:nvPr/>
        </p:nvSpPr>
        <p:spPr>
          <a:xfrm>
            <a:off x="11074400" y="242239"/>
            <a:ext cx="738717" cy="365125"/>
          </a:xfrm>
          <a:prstGeom prst="rect">
            <a:avLst/>
          </a:prstGeom>
        </p:spPr>
        <p:txBody>
          <a:bodyPr vert="horz" lIns="91440" tIns="45720" rIns="91440" bIns="45720" rtlCol="0">
            <a:normAutofit fontScale="92500" lnSpcReduction="10000"/>
          </a:bodyPr>
          <a:lstStyle>
            <a:lvl1pPr marL="228594" indent="-228594" algn="l" defTabSz="914377" rtl="0" eaLnBrk="1" latinLnBrk="0" hangingPunct="1">
              <a:spcBef>
                <a:spcPts val="2000"/>
              </a:spcBef>
              <a:buClr>
                <a:schemeClr val="accent1"/>
              </a:buClr>
              <a:buSzPct val="75000"/>
              <a:buFont typeface="Wingdings" pitchFamily="2" charset="2"/>
              <a:buNone/>
              <a:defRPr sz="2000" kern="1200">
                <a:solidFill>
                  <a:schemeClr val="tx1">
                    <a:lumMod val="65000"/>
                    <a:lumOff val="35000"/>
                  </a:schemeClr>
                </a:solidFill>
                <a:latin typeface="+mn-lt"/>
                <a:ea typeface="+mn-ea"/>
                <a:cs typeface="+mn-cs"/>
              </a:defRPr>
            </a:lvl1pPr>
            <a:lvl2pPr marL="457189" indent="-228594" algn="l" defTabSz="914377"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783" indent="-228594" algn="l" defTabSz="914377"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377" indent="-228594" algn="l" defTabSz="914377"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2971" indent="-228594" algn="l" defTabSz="914377"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16" indent="-228594" algn="l" defTabSz="914377"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35" indent="-228594" algn="l" defTabSz="914377"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42" indent="-228594" algn="l" defTabSz="914377"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349" indent="-228594" algn="l" defTabSz="914377"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a:lstStyle>
          <a:p>
            <a:fld id="{C3AB7023-8021-469B-8AF0-A501C9BD8FFC}" type="slidenum">
              <a:rPr lang="zh-TW" altLang="en-US" smtClean="0"/>
              <a:pPr/>
              <a:t>3</a:t>
            </a:fld>
            <a:endParaRPr lang="en-US" altLang="zh-TW" dirty="0"/>
          </a:p>
        </p:txBody>
      </p:sp>
    </p:spTree>
    <p:extLst>
      <p:ext uri="{BB962C8B-B14F-4D97-AF65-F5344CB8AC3E}">
        <p14:creationId xmlns:p14="http://schemas.microsoft.com/office/powerpoint/2010/main" val="191879242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7090" name="Rectangle 2"/>
          <p:cNvSpPr>
            <a:spLocks noGrp="1" noChangeArrowheads="1"/>
          </p:cNvSpPr>
          <p:nvPr>
            <p:ph type="title"/>
          </p:nvPr>
        </p:nvSpPr>
        <p:spPr/>
        <p:txBody>
          <a:bodyPr/>
          <a:lstStyle/>
          <a:p>
            <a:r>
              <a:rPr lang="en-US" altLang="zh-TW" dirty="0"/>
              <a:t>Contents</a:t>
            </a:r>
          </a:p>
        </p:txBody>
      </p:sp>
      <p:sp>
        <p:nvSpPr>
          <p:cNvPr id="2777091" name="Rectangle 3"/>
          <p:cNvSpPr>
            <a:spLocks noGrp="1" noChangeArrowheads="1"/>
          </p:cNvSpPr>
          <p:nvPr>
            <p:ph idx="1"/>
          </p:nvPr>
        </p:nvSpPr>
        <p:spPr/>
        <p:txBody>
          <a:bodyPr>
            <a:normAutofit/>
          </a:bodyPr>
          <a:lstStyle/>
          <a:p>
            <a:pPr lvl="1">
              <a:lnSpc>
                <a:spcPct val="80000"/>
              </a:lnSpc>
            </a:pPr>
            <a:r>
              <a:rPr lang="en-US" altLang="zh-TW" sz="2400" dirty="0">
                <a:hlinkClick r:id="rId3" action="ppaction://hlinksldjump"/>
              </a:rPr>
              <a:t>Section 1 </a:t>
            </a:r>
            <a:r>
              <a:rPr lang="en-US" altLang="zh-TW" sz="2400" dirty="0"/>
              <a:t> Object-Oriented</a:t>
            </a:r>
          </a:p>
          <a:p>
            <a:pPr lvl="1">
              <a:lnSpc>
                <a:spcPct val="80000"/>
              </a:lnSpc>
            </a:pPr>
            <a:r>
              <a:rPr lang="en-US" altLang="zh-TW" sz="2400" dirty="0">
                <a:hlinkClick r:id="rId4" action="ppaction://hlinksldjump"/>
              </a:rPr>
              <a:t>Section 2   </a:t>
            </a:r>
            <a:r>
              <a:rPr lang="en-US" altLang="zh-TW" sz="2400" dirty="0"/>
              <a:t>Namespaces</a:t>
            </a:r>
          </a:p>
          <a:p>
            <a:pPr lvl="1">
              <a:lnSpc>
                <a:spcPct val="80000"/>
              </a:lnSpc>
            </a:pPr>
            <a:r>
              <a:rPr lang="en-US" altLang="zh-TW" sz="2400" dirty="0">
                <a:hlinkClick r:id="" action="ppaction://noaction"/>
              </a:rPr>
              <a:t>Section 3   </a:t>
            </a:r>
            <a:r>
              <a:rPr lang="en-US" altLang="zh-TW" sz="2400" dirty="0"/>
              <a:t>I/O Stream</a:t>
            </a:r>
          </a:p>
          <a:p>
            <a:pPr lvl="1">
              <a:lnSpc>
                <a:spcPct val="80000"/>
              </a:lnSpc>
            </a:pPr>
            <a:r>
              <a:rPr lang="en-US" altLang="zh-TW" sz="2400" dirty="0">
                <a:hlinkClick r:id="" action="ppaction://noaction"/>
              </a:rPr>
              <a:t>Section 4   </a:t>
            </a:r>
            <a:r>
              <a:rPr lang="en-US" altLang="zh-TW" sz="2400" dirty="0"/>
              <a:t>Operator Overloading</a:t>
            </a:r>
          </a:p>
          <a:p>
            <a:pPr lvl="1">
              <a:lnSpc>
                <a:spcPct val="80000"/>
              </a:lnSpc>
            </a:pPr>
            <a:r>
              <a:rPr lang="en-US" altLang="zh-TW" sz="2400" u="sng" dirty="0">
                <a:solidFill>
                  <a:srgbClr val="7030A0"/>
                </a:solidFill>
              </a:rPr>
              <a:t>Section 5   </a:t>
            </a:r>
            <a:r>
              <a:rPr lang="en-US" altLang="zh-TW" sz="2400" dirty="0">
                <a:solidFill>
                  <a:schemeClr val="tx1"/>
                </a:solidFill>
              </a:rPr>
              <a:t>Inheritance</a:t>
            </a:r>
            <a:r>
              <a:rPr lang="en-US" altLang="zh-TW" sz="2400" u="sng" dirty="0">
                <a:solidFill>
                  <a:srgbClr val="7030A0"/>
                </a:solidFill>
              </a:rPr>
              <a:t> </a:t>
            </a:r>
          </a:p>
          <a:p>
            <a:pPr lvl="1">
              <a:lnSpc>
                <a:spcPct val="80000"/>
              </a:lnSpc>
            </a:pPr>
            <a:r>
              <a:rPr lang="en-US" altLang="zh-TW" sz="2400" u="sng" dirty="0">
                <a:solidFill>
                  <a:srgbClr val="7030A0"/>
                </a:solidFill>
              </a:rPr>
              <a:t>Section 6   </a:t>
            </a:r>
            <a:r>
              <a:rPr lang="en-US" altLang="zh-TW" sz="2400" dirty="0">
                <a:solidFill>
                  <a:schemeClr val="tx1"/>
                </a:solidFill>
              </a:rPr>
              <a:t>Template</a:t>
            </a:r>
          </a:p>
          <a:p>
            <a:pPr lvl="1">
              <a:lnSpc>
                <a:spcPct val="80000"/>
              </a:lnSpc>
            </a:pPr>
            <a:r>
              <a:rPr lang="en-US" altLang="zh-TW" sz="2400" u="sng" dirty="0">
                <a:solidFill>
                  <a:srgbClr val="7030A0"/>
                </a:solidFill>
              </a:rPr>
              <a:t>Section 7   </a:t>
            </a:r>
            <a:r>
              <a:rPr lang="en-US" altLang="zh-TW" sz="2400" dirty="0">
                <a:solidFill>
                  <a:schemeClr val="tx1"/>
                </a:solidFill>
              </a:rPr>
              <a:t>Virtual Function </a:t>
            </a:r>
          </a:p>
          <a:p>
            <a:pPr lvl="1">
              <a:lnSpc>
                <a:spcPct val="80000"/>
              </a:lnSpc>
            </a:pPr>
            <a:r>
              <a:rPr lang="en-US" altLang="zh-TW" sz="2400" u="sng" dirty="0">
                <a:solidFill>
                  <a:srgbClr val="7030A0"/>
                </a:solidFill>
              </a:rPr>
              <a:t>Section 8   </a:t>
            </a:r>
            <a:r>
              <a:rPr lang="en-US" altLang="zh-TW" sz="2400" dirty="0">
                <a:solidFill>
                  <a:schemeClr val="tx1"/>
                </a:solidFill>
              </a:rPr>
              <a:t>Standard Libraries</a:t>
            </a:r>
          </a:p>
          <a:p>
            <a:pPr lvl="1">
              <a:lnSpc>
                <a:spcPct val="80000"/>
              </a:lnSpc>
            </a:pPr>
            <a:r>
              <a:rPr lang="en-US" altLang="zh-TW" sz="2400" u="sng" dirty="0">
                <a:solidFill>
                  <a:srgbClr val="7030A0"/>
                </a:solidFill>
              </a:rPr>
              <a:t>Section 9   </a:t>
            </a:r>
            <a:r>
              <a:rPr lang="en-US" altLang="zh-TW" sz="2400" dirty="0">
                <a:solidFill>
                  <a:schemeClr val="tx1"/>
                </a:solidFill>
              </a:rPr>
              <a:t>make</a:t>
            </a:r>
            <a:endParaRPr lang="en-US" altLang="zh-TW" sz="2400" dirty="0">
              <a:solidFill>
                <a:srgbClr val="7030A0"/>
              </a:solidFill>
            </a:endParaRPr>
          </a:p>
        </p:txBody>
      </p:sp>
      <p:sp>
        <p:nvSpPr>
          <p:cNvPr id="4" name="Slide Number Placeholder 3"/>
          <p:cNvSpPr>
            <a:spLocks noGrp="1"/>
          </p:cNvSpPr>
          <p:nvPr>
            <p:ph type="sldNum" sz="quarter" idx="12"/>
          </p:nvPr>
        </p:nvSpPr>
        <p:spPr/>
        <p:txBody>
          <a:bodyPr/>
          <a:lstStyle/>
          <a:p>
            <a:fld id="{85BCA54D-BA79-44A8-B11C-E504CD68C8E6}" type="slidenum">
              <a:rPr lang="zh-TW" altLang="en-US"/>
              <a:pPr/>
              <a:t>4</a:t>
            </a:fld>
            <a:endParaRPr lang="en-US" altLang="zh-TW" dirty="0"/>
          </a:p>
        </p:txBody>
      </p:sp>
    </p:spTree>
    <p:extLst>
      <p:ext uri="{BB962C8B-B14F-4D97-AF65-F5344CB8AC3E}">
        <p14:creationId xmlns:p14="http://schemas.microsoft.com/office/powerpoint/2010/main" val="3733536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1</a:t>
            </a:r>
            <a:br>
              <a:rPr lang="en-US" altLang="zh-TW" sz="3600" dirty="0"/>
            </a:br>
            <a:r>
              <a:rPr lang="en-US" altLang="zh-TW" sz="3600" dirty="0"/>
              <a:t>Object-Oriented</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5</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277715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85000" lnSpcReduction="20000"/>
          </a:bodyPr>
          <a:lstStyle/>
          <a:p>
            <a:r>
              <a:rPr lang="en-US" altLang="zh-TW" dirty="0"/>
              <a:t>The object-oriented C</a:t>
            </a:r>
          </a:p>
          <a:p>
            <a:r>
              <a:rPr lang="en-US" altLang="zh-TW" dirty="0"/>
              <a:t>Class</a:t>
            </a:r>
          </a:p>
          <a:p>
            <a:pPr lvl="1"/>
            <a:r>
              <a:rPr lang="en-US" altLang="zh-TW" dirty="0"/>
              <a:t>Data members</a:t>
            </a:r>
          </a:p>
          <a:p>
            <a:pPr lvl="1"/>
            <a:r>
              <a:rPr lang="en-US" altLang="zh-TW" dirty="0"/>
              <a:t>Access methods </a:t>
            </a:r>
            <a:r>
              <a:rPr lang="en-US" altLang="zh-TW" dirty="0" err="1"/>
              <a:t>a.k.a</a:t>
            </a:r>
            <a:r>
              <a:rPr lang="en-US" altLang="zh-TW" dirty="0"/>
              <a:t> member functions</a:t>
            </a:r>
          </a:p>
          <a:p>
            <a:pPr lvl="1"/>
            <a:r>
              <a:rPr lang="en-US" altLang="zh-TW" dirty="0"/>
              <a:t>Inheritance</a:t>
            </a:r>
          </a:p>
          <a:p>
            <a:pPr lvl="1"/>
            <a:r>
              <a:rPr lang="en-US" altLang="zh-TW" dirty="0"/>
              <a:t>Template</a:t>
            </a:r>
          </a:p>
          <a:p>
            <a:pPr lvl="1"/>
            <a:r>
              <a:rPr lang="en-US" altLang="zh-TW" dirty="0"/>
              <a:t>Virtual function</a:t>
            </a:r>
          </a:p>
          <a:p>
            <a:r>
              <a:rPr lang="en-US" altLang="zh-TW" dirty="0"/>
              <a:t>An object is an instance of a class</a:t>
            </a:r>
          </a:p>
          <a:p>
            <a:r>
              <a:rPr lang="en-US" altLang="zh-TW" sz="2400" b="1" dirty="0"/>
              <a:t>Inheritance –</a:t>
            </a:r>
            <a:r>
              <a:rPr lang="en-US" altLang="zh-TW" sz="2400" dirty="0"/>
              <a:t> a </a:t>
            </a:r>
            <a:r>
              <a:rPr lang="en-US" altLang="zh-TW" sz="2300" dirty="0"/>
              <a:t>way to derive classes with common properties from one base class</a:t>
            </a:r>
            <a:endParaRPr lang="en-US" altLang="zh-TW" dirty="0"/>
          </a:p>
          <a:p>
            <a:r>
              <a:rPr lang="en-US" altLang="zh-TW" sz="2400" b="1" dirty="0"/>
              <a:t>Template –</a:t>
            </a:r>
            <a:r>
              <a:rPr lang="en-US" altLang="zh-TW" sz="2400" dirty="0"/>
              <a:t> an </a:t>
            </a:r>
            <a:r>
              <a:rPr lang="en-US" altLang="zh-TW" sz="2300" dirty="0"/>
              <a:t>abstraction that can be used to implement different classes with different data types</a:t>
            </a:r>
          </a:p>
          <a:p>
            <a:r>
              <a:rPr lang="en-US" altLang="zh-TW" sz="2400" b="1" dirty="0"/>
              <a:t>Virtual function –</a:t>
            </a:r>
            <a:r>
              <a:rPr lang="en-US" altLang="zh-TW" sz="2400" dirty="0"/>
              <a:t> the </a:t>
            </a:r>
            <a:r>
              <a:rPr lang="en-US" altLang="zh-TW" sz="2300" dirty="0"/>
              <a:t>way to derive differently on one function name</a:t>
            </a:r>
            <a:endParaRPr lang="zh-TW" altLang="en-US" sz="2300"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a:t>
            </a:fld>
            <a:endParaRPr lang="en-US" altLang="zh-TW"/>
          </a:p>
        </p:txBody>
      </p:sp>
    </p:spTree>
    <p:extLst>
      <p:ext uri="{BB962C8B-B14F-4D97-AF65-F5344CB8AC3E}">
        <p14:creationId xmlns:p14="http://schemas.microsoft.com/office/powerpoint/2010/main" val="1264062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sz="2400" dirty="0"/>
              <a:t>Object oriented is to mimic objects in the real world. For example, a chair:</a:t>
            </a:r>
          </a:p>
          <a:p>
            <a:pPr lvl="1"/>
            <a:r>
              <a:rPr lang="en-US" altLang="zh-TW" sz="2000" dirty="0"/>
              <a:t>Has parts like seat, back, armrest, legs, etc., i.e. data members</a:t>
            </a:r>
          </a:p>
          <a:p>
            <a:pPr lvl="1"/>
            <a:r>
              <a:rPr lang="en-US" altLang="zh-TW" sz="2000" dirty="0"/>
              <a:t>Has operations like sit, empty, move, lift, etc., i.e. member functions</a:t>
            </a:r>
          </a:p>
          <a:p>
            <a:pPr lvl="1"/>
            <a:r>
              <a:rPr lang="en-US" altLang="zh-TW" sz="2000" dirty="0"/>
              <a:t>Other examples:</a:t>
            </a:r>
          </a:p>
          <a:p>
            <a:pPr lvl="2"/>
            <a:r>
              <a:rPr lang="en-US" altLang="zh-TW" sz="2000" dirty="0"/>
              <a:t>Table – table top, legs; move, lift, placed upon, remove from</a:t>
            </a:r>
          </a:p>
          <a:p>
            <a:pPr lvl="2"/>
            <a:r>
              <a:rPr lang="en-US" altLang="zh-TW" sz="2000" dirty="0"/>
              <a:t>FFT, IIR, FIR, MP4, H.265, LLM, etc. – data structure, algorithm</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7</a:t>
            </a:fld>
            <a:endParaRPr lang="en-US" altLang="zh-TW"/>
          </a:p>
        </p:txBody>
      </p:sp>
      <p:sp>
        <p:nvSpPr>
          <p:cNvPr id="4" name="標題 3"/>
          <p:cNvSpPr>
            <a:spLocks noGrp="1"/>
          </p:cNvSpPr>
          <p:nvPr>
            <p:ph type="title"/>
          </p:nvPr>
        </p:nvSpPr>
        <p:spPr/>
        <p:txBody>
          <a:bodyPr/>
          <a:lstStyle/>
          <a:p>
            <a:r>
              <a:rPr lang="en-US" altLang="zh-TW" dirty="0"/>
              <a:t>Object</a:t>
            </a:r>
            <a:endParaRPr lang="zh-TW" altLang="en-US" dirty="0"/>
          </a:p>
        </p:txBody>
      </p:sp>
    </p:spTree>
    <p:extLst>
      <p:ext uri="{BB962C8B-B14F-4D97-AF65-F5344CB8AC3E}">
        <p14:creationId xmlns:p14="http://schemas.microsoft.com/office/powerpoint/2010/main" val="686541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lnSpcReduction="10000"/>
          </a:bodyPr>
          <a:lstStyle/>
          <a:p>
            <a:r>
              <a:rPr lang="en-US" altLang="zh-TW" dirty="0">
                <a:latin typeface="Courier New" panose="02070309020205020404" pitchFamily="49" charset="0"/>
                <a:cs typeface="Courier New" panose="02070309020205020404" pitchFamily="49" charset="0"/>
              </a:rPr>
              <a:t>assert() </a:t>
            </a:r>
            <a:r>
              <a:rPr lang="en-US" altLang="zh-TW" dirty="0"/>
              <a:t>is disabled if, before including </a:t>
            </a:r>
            <a:r>
              <a:rPr lang="en-US" altLang="zh-TW" dirty="0" err="1">
                <a:latin typeface="Courier New" panose="02070309020205020404" pitchFamily="49" charset="0"/>
                <a:cs typeface="Courier New" panose="02070309020205020404" pitchFamily="49" charset="0"/>
              </a:rPr>
              <a:t>assert.h</a:t>
            </a:r>
            <a:r>
              <a:rPr lang="en-US" altLang="zh-TW" dirty="0"/>
              <a:t>, a macro </a:t>
            </a:r>
            <a:r>
              <a:rPr lang="en-US" altLang="zh-TW" dirty="0">
                <a:latin typeface="Courier New" panose="02070309020205020404" pitchFamily="49" charset="0"/>
                <a:cs typeface="Courier New" panose="02070309020205020404" pitchFamily="49" charset="0"/>
              </a:rPr>
              <a:t>NDEBUG</a:t>
            </a:r>
            <a:r>
              <a:rPr lang="en-US" altLang="zh-TW" dirty="0"/>
              <a:t> is defined. Then all the </a:t>
            </a:r>
            <a:r>
              <a:rPr lang="en-US" altLang="zh-TW" dirty="0">
                <a:latin typeface="Courier New" panose="02070309020205020404" pitchFamily="49" charset="0"/>
                <a:cs typeface="Courier New" panose="02070309020205020404" pitchFamily="49" charset="0"/>
              </a:rPr>
              <a:t>assert()</a:t>
            </a:r>
            <a:r>
              <a:rPr lang="en-US" altLang="zh-TW" dirty="0"/>
              <a:t> statements in the scope are eliminated by the pre-processor</a:t>
            </a:r>
          </a:p>
          <a:p>
            <a:pPr marL="109728" indent="0">
              <a:spcBef>
                <a:spcPts val="200"/>
              </a:spcBef>
              <a:buNone/>
            </a:pPr>
            <a:r>
              <a:rPr lang="en-US" altLang="zh-TW" dirty="0">
                <a:latin typeface="Courier New" panose="02070309020205020404" pitchFamily="49" charset="0"/>
                <a:cs typeface="Courier New" panose="02070309020205020404" pitchFamily="49" charset="0"/>
              </a:rPr>
              <a:t>    #define NDEBUG</a:t>
            </a:r>
          </a:p>
          <a:p>
            <a:pPr marL="109728" indent="0">
              <a:spcBef>
                <a:spcPts val="200"/>
              </a:spcBef>
              <a:buNone/>
            </a:pPr>
            <a:r>
              <a:rPr lang="en-US" altLang="zh-TW" dirty="0">
                <a:latin typeface="Courier New" panose="02070309020205020404" pitchFamily="49" charset="0"/>
                <a:cs typeface="Courier New" panose="02070309020205020404" pitchFamily="49" charset="0"/>
              </a:rPr>
              <a:t>    #include &lt;</a:t>
            </a:r>
            <a:r>
              <a:rPr lang="en-US" altLang="zh-TW" dirty="0" err="1">
                <a:latin typeface="Courier New" panose="02070309020205020404" pitchFamily="49" charset="0"/>
                <a:cs typeface="Courier New" panose="02070309020205020404" pitchFamily="49" charset="0"/>
              </a:rPr>
              <a:t>assert.h</a:t>
            </a:r>
            <a:r>
              <a:rPr lang="en-US" altLang="zh-TW" dirty="0">
                <a:latin typeface="Courier New" panose="02070309020205020404" pitchFamily="49" charset="0"/>
                <a:cs typeface="Courier New" panose="02070309020205020404" pitchFamily="49" charset="0"/>
              </a:rPr>
              <a:t>&gt;</a:t>
            </a:r>
            <a:endParaRPr lang="en-US" altLang="zh-TW" dirty="0"/>
          </a:p>
          <a:p>
            <a:r>
              <a:rPr lang="en-US" altLang="zh-TW" dirty="0"/>
              <a:t>A common practice is to define another macro </a:t>
            </a:r>
            <a:r>
              <a:rPr lang="en-US" altLang="zh-TW" dirty="0">
                <a:latin typeface="Courier New" panose="02070309020205020404" pitchFamily="49" charset="0"/>
                <a:cs typeface="Courier New" panose="02070309020205020404" pitchFamily="49" charset="0"/>
              </a:rPr>
              <a:t>debug</a:t>
            </a:r>
            <a:r>
              <a:rPr lang="en-US" altLang="zh-TW" dirty="0"/>
              <a:t> with its value set to 0 or 1 to determine should </a:t>
            </a:r>
            <a:r>
              <a:rPr lang="en-US" altLang="zh-TW" dirty="0">
                <a:latin typeface="Courier New" panose="02070309020205020404" pitchFamily="49" charset="0"/>
                <a:cs typeface="Courier New" panose="02070309020205020404" pitchFamily="49" charset="0"/>
              </a:rPr>
              <a:t>NDEBUG</a:t>
            </a:r>
            <a:r>
              <a:rPr lang="en-US" altLang="zh-TW" dirty="0"/>
              <a:t> be defined</a:t>
            </a:r>
          </a:p>
          <a:p>
            <a:pPr marL="109728" indent="0">
              <a:spcBef>
                <a:spcPts val="200"/>
              </a:spcBef>
              <a:buNone/>
            </a:pPr>
            <a:r>
              <a:rPr lang="en-US" altLang="zh-TW" dirty="0">
                <a:latin typeface="Courier New" panose="02070309020205020404" pitchFamily="49" charset="0"/>
                <a:cs typeface="Courier New" panose="02070309020205020404" pitchFamily="49" charset="0"/>
              </a:rPr>
              <a:t>    #define debug 1  // 1: with assert</a:t>
            </a:r>
          </a:p>
          <a:p>
            <a:pPr marL="109728" indent="0">
              <a:spcBef>
                <a:spcPts val="200"/>
              </a:spcBef>
              <a:buNone/>
            </a:pPr>
            <a:r>
              <a:rPr lang="en-US" altLang="zh-TW" dirty="0">
                <a:latin typeface="Courier New" panose="02070309020205020404" pitchFamily="49" charset="0"/>
                <a:cs typeface="Courier New" panose="02070309020205020404" pitchFamily="49" charset="0"/>
              </a:rPr>
              <a:t>                     // 0: no assert</a:t>
            </a:r>
          </a:p>
          <a:p>
            <a:pPr marL="109728" indent="0">
              <a:spcBef>
                <a:spcPts val="200"/>
              </a:spcBef>
              <a:buNone/>
            </a:pPr>
            <a:r>
              <a:rPr lang="en-US" altLang="zh-TW" dirty="0">
                <a:latin typeface="Courier New" panose="02070309020205020404" pitchFamily="49" charset="0"/>
                <a:cs typeface="Courier New" panose="02070309020205020404" pitchFamily="49" charset="0"/>
              </a:rPr>
              <a:t>    #if !debug</a:t>
            </a:r>
          </a:p>
          <a:p>
            <a:pPr marL="109728" indent="0">
              <a:spcBef>
                <a:spcPts val="200"/>
              </a:spcBef>
              <a:buNone/>
            </a:pPr>
            <a:r>
              <a:rPr lang="en-US" altLang="zh-TW" dirty="0">
                <a:latin typeface="Courier New" panose="02070309020205020404" pitchFamily="49" charset="0"/>
                <a:cs typeface="Courier New" panose="02070309020205020404" pitchFamily="49" charset="0"/>
              </a:rPr>
              <a:t>    #define NDEBUG</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endif</a:t>
            </a: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#include &lt;</a:t>
            </a:r>
            <a:r>
              <a:rPr lang="en-US" altLang="zh-TW" dirty="0" err="1">
                <a:latin typeface="Courier New" panose="02070309020205020404" pitchFamily="49" charset="0"/>
                <a:cs typeface="Courier New" panose="02070309020205020404" pitchFamily="49" charset="0"/>
              </a:rPr>
              <a:t>assert.h</a:t>
            </a:r>
            <a:r>
              <a:rPr lang="en-US" altLang="zh-TW" dirty="0">
                <a:latin typeface="Courier New" panose="02070309020205020404" pitchFamily="49" charset="0"/>
                <a:cs typeface="Courier New" panose="02070309020205020404" pitchFamily="49" charset="0"/>
              </a:rPr>
              <a:t>&gt;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8</a:t>
            </a:fld>
            <a:endParaRPr lang="en-US" altLang="zh-TW"/>
          </a:p>
        </p:txBody>
      </p:sp>
      <p:sp>
        <p:nvSpPr>
          <p:cNvPr id="4" name="標題 3"/>
          <p:cNvSpPr>
            <a:spLocks noGrp="1"/>
          </p:cNvSpPr>
          <p:nvPr>
            <p:ph type="title"/>
          </p:nvPr>
        </p:nvSpPr>
        <p:spPr/>
        <p:txBody>
          <a:bodyPr/>
          <a:lstStyle/>
          <a:p>
            <a:r>
              <a:rPr lang="en-US" altLang="zh-TW" dirty="0"/>
              <a:t>Controlling </a:t>
            </a:r>
            <a:r>
              <a:rPr lang="en-US" altLang="zh-TW" dirty="0">
                <a:latin typeface="Courier New" panose="02070309020205020404" pitchFamily="49" charset="0"/>
                <a:cs typeface="Courier New" panose="02070309020205020404" pitchFamily="49" charset="0"/>
              </a:rPr>
              <a:t>assert()</a:t>
            </a:r>
            <a:endParaRPr lang="zh-TW" altLang="en-US" dirty="0"/>
          </a:p>
        </p:txBody>
      </p:sp>
    </p:spTree>
    <p:extLst>
      <p:ext uri="{BB962C8B-B14F-4D97-AF65-F5344CB8AC3E}">
        <p14:creationId xmlns:p14="http://schemas.microsoft.com/office/powerpoint/2010/main" val="2620176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Constructor</a:t>
            </a:r>
            <a:endParaRPr lang="zh-TW" altLang="en-US" dirty="0"/>
          </a:p>
        </p:txBody>
      </p:sp>
      <p:sp>
        <p:nvSpPr>
          <p:cNvPr id="2" name="內容版面配置區 1"/>
          <p:cNvSpPr>
            <a:spLocks noGrp="1"/>
          </p:cNvSpPr>
          <p:nvPr>
            <p:ph idx="1"/>
          </p:nvPr>
        </p:nvSpPr>
        <p:spPr/>
        <p:txBody>
          <a:bodyPr>
            <a:noAutofit/>
          </a:bodyPr>
          <a:lstStyle/>
          <a:p>
            <a:r>
              <a:rPr lang="en-US" altLang="zh-TW" sz="2400" dirty="0"/>
              <a:t>Creates the instance and construct it</a:t>
            </a:r>
          </a:p>
          <a:p>
            <a:r>
              <a:rPr lang="en-US" altLang="zh-TW" sz="2400" dirty="0"/>
              <a:t>Function name is the class name, no return type specifying needed, since the return must be the class itself</a:t>
            </a:r>
          </a:p>
          <a:p>
            <a:r>
              <a:rPr lang="en-US" altLang="zh-TW" sz="2400" dirty="0"/>
              <a:t>Default constructor has no any input parameters. It is by default called when a class is ‘instantiated’</a:t>
            </a:r>
            <a:endParaRPr lang="en-US" altLang="zh-TW" dirty="0">
              <a:latin typeface="Courier New" panose="02070309020205020404" pitchFamily="49" charset="0"/>
              <a:cs typeface="Courier New" panose="02070309020205020404" pitchFamily="49" charset="0"/>
            </a:endParaRPr>
          </a:p>
          <a:p>
            <a:r>
              <a:rPr lang="en-US" altLang="zh-TW" sz="2400" dirty="0"/>
              <a:t>Can have multiple constructors, with different input parameters for different usage. The compiler will resolve which constructor to use by matching exact input parameters and types</a:t>
            </a:r>
          </a:p>
          <a:p>
            <a:r>
              <a:rPr lang="en-US" altLang="zh-TW" sz="2400" dirty="0"/>
              <a:t>No </a:t>
            </a:r>
            <a:r>
              <a:rPr lang="en-US" altLang="zh-TW" sz="2400" dirty="0">
                <a:latin typeface="Courier New" panose="02070309020205020404" pitchFamily="49" charset="0"/>
                <a:cs typeface="Courier New" panose="02070309020205020404" pitchFamily="49" charset="0"/>
              </a:rPr>
              <a:t>return</a:t>
            </a:r>
            <a:r>
              <a:rPr lang="en-US" altLang="zh-TW" sz="2400" dirty="0"/>
              <a:t> statement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9</a:t>
            </a:fld>
            <a:endParaRPr lang="en-US" altLang="zh-TW"/>
          </a:p>
        </p:txBody>
      </p:sp>
    </p:spTree>
    <p:extLst>
      <p:ext uri="{BB962C8B-B14F-4D97-AF65-F5344CB8AC3E}">
        <p14:creationId xmlns:p14="http://schemas.microsoft.com/office/powerpoint/2010/main" val="4049425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Constructor Examples</a:t>
            </a:r>
            <a:endParaRPr lang="zh-TW" altLang="en-US" dirty="0"/>
          </a:p>
        </p:txBody>
      </p:sp>
      <p:sp>
        <p:nvSpPr>
          <p:cNvPr id="2" name="內容版面配置區 1"/>
          <p:cNvSpPr>
            <a:spLocks noGrp="1"/>
          </p:cNvSpPr>
          <p:nvPr>
            <p:ph idx="1"/>
          </p:nvPr>
        </p:nvSpPr>
        <p:spPr>
          <a:xfrm>
            <a:off x="664635" y="1600200"/>
            <a:ext cx="10075084" cy="4857043"/>
          </a:xfrm>
        </p:spPr>
        <p:txBody>
          <a:bodyPr>
            <a:normAutofit fontScale="85000" lnSpcReduction="20000"/>
          </a:bodyPr>
          <a:lstStyle/>
          <a:p>
            <a:pPr marL="109728" indent="0">
              <a:spcBef>
                <a:spcPts val="200"/>
              </a:spcBef>
              <a:buNone/>
            </a:pPr>
            <a:r>
              <a:rPr lang="en-US" altLang="zh-TW" sz="1800" dirty="0">
                <a:latin typeface="Courier New" panose="02070309020205020404" pitchFamily="49" charset="0"/>
                <a:cs typeface="Courier New" panose="02070309020205020404" pitchFamily="49" charset="0"/>
              </a:rPr>
              <a:t>// default constructor is not a must, but for the sake of</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coding discipline, it is best to code it anyway</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List::List() {</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_Length = 0;</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_Array = NULL;</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1800" dirty="0">
              <a:latin typeface="Courier New" panose="02070309020205020404" pitchFamily="49" charset="0"/>
              <a:cs typeface="Courier New" panose="02070309020205020404" pitchFamily="49" charset="0"/>
            </a:endParaRPr>
          </a:p>
          <a:p>
            <a:pPr marL="109728" indent="0">
              <a:spcBef>
                <a:spcPts val="200"/>
              </a:spcBef>
              <a:buNone/>
            </a:pPr>
            <a:r>
              <a:rPr lang="en-US" altLang="zh-TW" sz="1800" dirty="0">
                <a:latin typeface="Courier New" panose="02070309020205020404" pitchFamily="49" charset="0"/>
                <a:cs typeface="Courier New" panose="02070309020205020404" pitchFamily="49" charset="0"/>
              </a:rPr>
              <a:t>List::List(unsigned </a:t>
            </a:r>
            <a:r>
              <a:rPr lang="en-US" altLang="zh-TW" sz="1800" dirty="0" err="1">
                <a:latin typeface="Courier New" panose="02070309020205020404" pitchFamily="49" charset="0"/>
                <a:cs typeface="Courier New" panose="02070309020205020404" pitchFamily="49" charset="0"/>
              </a:rPr>
              <a:t>int</a:t>
            </a:r>
            <a:r>
              <a:rPr lang="en-US" altLang="zh-TW"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num</a:t>
            </a:r>
            <a:r>
              <a:rPr lang="en-US" altLang="zh-TW" sz="18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_Length = </a:t>
            </a:r>
            <a:r>
              <a:rPr lang="en-US" altLang="zh-TW" sz="1800" dirty="0" err="1">
                <a:latin typeface="Courier New" panose="02070309020205020404" pitchFamily="49" charset="0"/>
                <a:cs typeface="Courier New" panose="02070309020205020404" pitchFamily="49" charset="0"/>
              </a:rPr>
              <a:t>num</a:t>
            </a:r>
            <a:r>
              <a:rPr lang="en-US" altLang="zh-TW" sz="1800" dirty="0">
                <a:latin typeface="Courier New" panose="02070309020205020404" pitchFamily="49" charset="0"/>
                <a:cs typeface="Courier New" panose="02070309020205020404" pitchFamily="49" charset="0"/>
              </a:rPr>
              <a:t>;</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if (_Length == 0)</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_Array = NULL;</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else {</a:t>
            </a:r>
            <a:endParaRPr lang="en-US" altLang="zh-TW" sz="1800" dirty="0">
              <a:solidFill>
                <a:srgbClr val="FF0000"/>
              </a:solidFill>
              <a:latin typeface="Courier New" panose="02070309020205020404" pitchFamily="49" charset="0"/>
              <a:cs typeface="Courier New" panose="02070309020205020404" pitchFamily="49" charset="0"/>
            </a:endParaRPr>
          </a:p>
          <a:p>
            <a:pPr marL="109728" indent="0">
              <a:spcBef>
                <a:spcPts val="200"/>
              </a:spcBef>
              <a:buNone/>
            </a:pPr>
            <a:r>
              <a:rPr lang="en-US" altLang="zh-TW" sz="1800" dirty="0">
                <a:latin typeface="Courier New" panose="02070309020205020404" pitchFamily="49" charset="0"/>
                <a:cs typeface="Courier New" panose="02070309020205020404" pitchFamily="49" charset="0"/>
              </a:rPr>
              <a:t>        _Array = new </a:t>
            </a:r>
            <a:r>
              <a:rPr lang="en-US" altLang="zh-TW" sz="1800" dirty="0" err="1">
                <a:latin typeface="Courier New" panose="02070309020205020404" pitchFamily="49" charset="0"/>
                <a:cs typeface="Courier New" panose="02070309020205020404" pitchFamily="49" charset="0"/>
              </a:rPr>
              <a:t>int</a:t>
            </a:r>
            <a:r>
              <a:rPr lang="en-US" altLang="zh-TW" sz="1800" dirty="0">
                <a:latin typeface="Courier New" panose="02070309020205020404" pitchFamily="49" charset="0"/>
                <a:cs typeface="Courier New" panose="02070309020205020404" pitchFamily="49" charset="0"/>
              </a:rPr>
              <a:t> [_Length];</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assert(_Array != NULL);</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1800" dirty="0">
              <a:latin typeface="Courier New" panose="02070309020205020404" pitchFamily="49" charset="0"/>
              <a:cs typeface="Courier New" panose="02070309020205020404" pitchFamily="49" charset="0"/>
            </a:endParaRPr>
          </a:p>
          <a:p>
            <a:pPr marL="109728" indent="0">
              <a:spcBef>
                <a:spcPts val="200"/>
              </a:spcBef>
              <a:buNone/>
            </a:pPr>
            <a:r>
              <a:rPr lang="en-US" altLang="zh-TW" sz="1800" dirty="0" err="1">
                <a:latin typeface="Courier New" panose="02070309020205020404" pitchFamily="49" charset="0"/>
                <a:cs typeface="Courier New" panose="02070309020205020404" pitchFamily="49" charset="0"/>
              </a:rPr>
              <a:t>int</a:t>
            </a:r>
            <a:r>
              <a:rPr lang="en-US" altLang="zh-TW" sz="1800" dirty="0">
                <a:latin typeface="Courier New" panose="02070309020205020404" pitchFamily="49" charset="0"/>
                <a:cs typeface="Courier New" panose="02070309020205020404" pitchFamily="49" charset="0"/>
              </a:rPr>
              <a:t> main(</a:t>
            </a:r>
            <a:r>
              <a:rPr lang="en-US" altLang="zh-TW" sz="1800" dirty="0" err="1">
                <a:latin typeface="Courier New" panose="02070309020205020404" pitchFamily="49" charset="0"/>
                <a:cs typeface="Courier New" panose="02070309020205020404" pitchFamily="49" charset="0"/>
              </a:rPr>
              <a:t>int</a:t>
            </a:r>
            <a:r>
              <a:rPr lang="en-US" altLang="zh-TW"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argc</a:t>
            </a:r>
            <a:r>
              <a:rPr lang="en-US" altLang="zh-TW" sz="1800" dirty="0">
                <a:latin typeface="Courier New" panose="02070309020205020404" pitchFamily="49" charset="0"/>
                <a:cs typeface="Courier New" panose="02070309020205020404" pitchFamily="49" charset="0"/>
              </a:rPr>
              <a:t>, char *</a:t>
            </a:r>
            <a:r>
              <a:rPr lang="en-US" altLang="zh-TW" sz="1800" dirty="0" err="1">
                <a:latin typeface="Courier New" panose="02070309020205020404" pitchFamily="49" charset="0"/>
                <a:cs typeface="Courier New" panose="02070309020205020404" pitchFamily="49" charset="0"/>
              </a:rPr>
              <a:t>argv</a:t>
            </a:r>
            <a:r>
              <a:rPr lang="en-US" altLang="zh-TW" sz="18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List </a:t>
            </a:r>
            <a:r>
              <a:rPr lang="en-US" altLang="zh-TW" sz="1800" dirty="0" err="1">
                <a:latin typeface="Courier New" panose="02070309020205020404" pitchFamily="49" charset="0"/>
                <a:cs typeface="Courier New" panose="02070309020205020404" pitchFamily="49" charset="0"/>
              </a:rPr>
              <a:t>dlist</a:t>
            </a:r>
            <a:r>
              <a:rPr lang="en-US" altLang="zh-TW" sz="1800" dirty="0">
                <a:latin typeface="Courier New" panose="02070309020205020404" pitchFamily="49" charset="0"/>
                <a:cs typeface="Courier New" panose="02070309020205020404" pitchFamily="49" charset="0"/>
              </a:rPr>
              <a:t>;       // calls the default constructor</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    List </a:t>
            </a:r>
            <a:r>
              <a:rPr lang="en-US" altLang="zh-TW" sz="1800" dirty="0" err="1">
                <a:latin typeface="Courier New" panose="02070309020205020404" pitchFamily="49" charset="0"/>
                <a:cs typeface="Courier New" panose="02070309020205020404" pitchFamily="49" charset="0"/>
              </a:rPr>
              <a:t>clist</a:t>
            </a:r>
            <a:r>
              <a:rPr lang="en-US" altLang="zh-TW" sz="1800" dirty="0">
                <a:latin typeface="Courier New" panose="02070309020205020404" pitchFamily="49" charset="0"/>
                <a:cs typeface="Courier New" panose="02070309020205020404" pitchFamily="49" charset="0"/>
              </a:rPr>
              <a:t>(24);   // calls the other one</a:t>
            </a:r>
          </a:p>
          <a:p>
            <a:pPr marL="109728" indent="0">
              <a:spcBef>
                <a:spcPts val="200"/>
              </a:spcBef>
              <a:buNone/>
            </a:pPr>
            <a:r>
              <a:rPr lang="en-US" altLang="zh-TW" sz="1800" dirty="0">
                <a:latin typeface="Courier New" panose="02070309020205020404" pitchFamily="49" charset="0"/>
                <a:cs typeface="Courier New" panose="02070309020205020404" pitchFamily="49" charset="0"/>
              </a:rPr>
              <a:t>}</a:t>
            </a:r>
          </a:p>
          <a:p>
            <a:pPr marL="109728" indent="0">
              <a:spcBef>
                <a:spcPts val="200"/>
              </a:spcBef>
              <a:buNone/>
            </a:pPr>
            <a:endParaRPr lang="zh-TW" altLang="en-US" sz="1800"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10</a:t>
            </a:fld>
            <a:endParaRPr lang="en-US" altLang="zh-TW"/>
          </a:p>
        </p:txBody>
      </p:sp>
    </p:spTree>
    <p:extLst>
      <p:ext uri="{BB962C8B-B14F-4D97-AF65-F5344CB8AC3E}">
        <p14:creationId xmlns:p14="http://schemas.microsoft.com/office/powerpoint/2010/main" val="3092107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sz="2400" dirty="0"/>
              <a:t>Needed when</a:t>
            </a:r>
          </a:p>
          <a:p>
            <a:pPr lvl="1"/>
            <a:r>
              <a:rPr lang="en-US" altLang="zh-TW" sz="2000" dirty="0"/>
              <a:t>a class object is passed to a function via a value parameter;</a:t>
            </a:r>
          </a:p>
          <a:p>
            <a:pPr lvl="1"/>
            <a:r>
              <a:rPr lang="en-US" altLang="zh-TW" sz="2000" dirty="0"/>
              <a:t>a function returns a class object as its return value; and</a:t>
            </a:r>
          </a:p>
          <a:p>
            <a:pPr lvl="1"/>
            <a:r>
              <a:rPr lang="en-US" altLang="zh-TW" sz="2000" dirty="0"/>
              <a:t>the result of a sub-expression is a class object that must be held temporarily, until the result of another sub-expression has been computed</a:t>
            </a:r>
          </a:p>
          <a:p>
            <a:r>
              <a:rPr lang="en-US" altLang="zh-TW" sz="2400" dirty="0"/>
              <a:t>In each of these situations, the compiler must construct a copy of the class object. To do so it uses a special constructor function called the copy constructor</a:t>
            </a:r>
            <a:endParaRPr lang="zh-TW" altLang="en-US" sz="2400"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11</a:t>
            </a:fld>
            <a:endParaRPr lang="en-US" altLang="zh-TW"/>
          </a:p>
        </p:txBody>
      </p:sp>
      <p:sp>
        <p:nvSpPr>
          <p:cNvPr id="4" name="標題 3"/>
          <p:cNvSpPr>
            <a:spLocks noGrp="1"/>
          </p:cNvSpPr>
          <p:nvPr>
            <p:ph type="title"/>
          </p:nvPr>
        </p:nvSpPr>
        <p:spPr/>
        <p:txBody>
          <a:bodyPr/>
          <a:lstStyle/>
          <a:p>
            <a:r>
              <a:rPr lang="en-US" altLang="zh-TW" dirty="0"/>
              <a:t>Copy Constructor</a:t>
            </a:r>
            <a:endParaRPr lang="zh-TW" altLang="en-US" dirty="0"/>
          </a:p>
        </p:txBody>
      </p:sp>
    </p:spTree>
    <p:extLst>
      <p:ext uri="{BB962C8B-B14F-4D97-AF65-F5344CB8AC3E}">
        <p14:creationId xmlns:p14="http://schemas.microsoft.com/office/powerpoint/2010/main" val="2423696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F5A2A8EF-A48F-4F8F-985B-479274EA465E}" type="slidenum">
              <a:rPr lang="zh-TW" altLang="en-US" smtClean="0"/>
              <a:pPr/>
              <a:t>12</a:t>
            </a:fld>
            <a:endParaRPr lang="en-US" altLang="zh-TW"/>
          </a:p>
        </p:txBody>
      </p:sp>
      <p:sp>
        <p:nvSpPr>
          <p:cNvPr id="4" name="標題 3"/>
          <p:cNvSpPr>
            <a:spLocks noGrp="1"/>
          </p:cNvSpPr>
          <p:nvPr>
            <p:ph type="title"/>
          </p:nvPr>
        </p:nvSpPr>
        <p:spPr/>
        <p:txBody>
          <a:bodyPr/>
          <a:lstStyle/>
          <a:p>
            <a:r>
              <a:rPr lang="en-US" altLang="zh-TW" dirty="0"/>
              <a:t>Copy Constructor – An Example</a:t>
            </a:r>
            <a:endParaRPr lang="zh-TW" altLang="en-US" dirty="0"/>
          </a:p>
        </p:txBody>
      </p:sp>
      <p:sp>
        <p:nvSpPr>
          <p:cNvPr id="8" name="內容版面配置區 7"/>
          <p:cNvSpPr>
            <a:spLocks noGrp="1"/>
          </p:cNvSpPr>
          <p:nvPr>
            <p:ph idx="1"/>
          </p:nvPr>
        </p:nvSpPr>
        <p:spPr/>
        <p:txBody>
          <a:bodyPr>
            <a:normAutofit fontScale="92500" lnSpcReduction="10000"/>
          </a:bodyPr>
          <a:lstStyle/>
          <a:p>
            <a:pPr marL="109728" indent="0">
              <a:spcBef>
                <a:spcPts val="200"/>
              </a:spcBef>
              <a:buNone/>
            </a:pPr>
            <a:r>
              <a:rPr lang="en-US" altLang="zh-TW" sz="2400" dirty="0">
                <a:latin typeface="Courier New" panose="02070309020205020404" pitchFamily="49" charset="0"/>
                <a:cs typeface="Courier New" panose="02070309020205020404" pitchFamily="49" charset="0"/>
              </a:rPr>
              <a:t>// Copy constructor</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List::List(</a:t>
            </a:r>
            <a:r>
              <a:rPr lang="en-US" altLang="zh-TW" sz="2400" dirty="0" err="1">
                <a:latin typeface="Courier New" panose="02070309020205020404" pitchFamily="49" charset="0"/>
                <a:cs typeface="Courier New" panose="02070309020205020404" pitchFamily="49" charset="0"/>
              </a:rPr>
              <a:t>const</a:t>
            </a:r>
            <a:r>
              <a:rPr lang="en-US" altLang="zh-TW" sz="2400" dirty="0">
                <a:latin typeface="Courier New" panose="02070309020205020404" pitchFamily="49" charset="0"/>
                <a:cs typeface="Courier New" panose="02070309020205020404" pitchFamily="49" charset="0"/>
              </a:rPr>
              <a:t> List</a:t>
            </a:r>
            <a:r>
              <a:rPr lang="en-US" altLang="zh-TW" sz="2400">
                <a:latin typeface="Courier New" panose="02070309020205020404" pitchFamily="49" charset="0"/>
                <a:cs typeface="Courier New" panose="02070309020205020404" pitchFamily="49" charset="0"/>
              </a:rPr>
              <a:t>&amp; org</a:t>
            </a:r>
            <a:r>
              <a:rPr lang="en-US" altLang="zh-TW" sz="24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_Length = </a:t>
            </a:r>
            <a:r>
              <a:rPr lang="en-US" altLang="zh-TW" sz="2400" dirty="0" err="1">
                <a:latin typeface="Courier New" panose="02070309020205020404" pitchFamily="49" charset="0"/>
                <a:cs typeface="Courier New" panose="02070309020205020404" pitchFamily="49" charset="0"/>
              </a:rPr>
              <a:t>org._Length</a:t>
            </a: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if (_Length &gt; 0)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_Array = new </a:t>
            </a:r>
            <a:r>
              <a:rPr lang="en-US" altLang="zh-TW" sz="2400" dirty="0" err="1">
                <a:latin typeface="Courier New" panose="02070309020205020404" pitchFamily="49" charset="0"/>
                <a:cs typeface="Courier New" panose="02070309020205020404" pitchFamily="49" charset="0"/>
              </a:rPr>
              <a:t>int</a:t>
            </a:r>
            <a:r>
              <a:rPr lang="en-US" altLang="zh-TW" sz="2400" dirty="0">
                <a:latin typeface="Courier New" panose="02070309020205020404" pitchFamily="49" charset="0"/>
                <a:cs typeface="Courier New" panose="02070309020205020404" pitchFamily="49" charset="0"/>
              </a:rPr>
              <a:t> [_Length];</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assert(_Array != 0);</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for (</a:t>
            </a:r>
            <a:r>
              <a:rPr lang="en-US" altLang="zh-TW" sz="2400" dirty="0" err="1">
                <a:latin typeface="Courier New" panose="02070309020205020404" pitchFamily="49" charset="0"/>
                <a:cs typeface="Courier New" panose="02070309020205020404" pitchFamily="49" charset="0"/>
              </a:rPr>
              <a:t>int</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 0;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&lt; _Length;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_Array[</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 </a:t>
            </a:r>
            <a:r>
              <a:rPr lang="en-US" altLang="zh-TW" sz="2400" dirty="0" err="1">
                <a:latin typeface="Courier New" panose="02070309020205020404" pitchFamily="49" charset="0"/>
                <a:cs typeface="Courier New" panose="02070309020205020404" pitchFamily="49" charset="0"/>
              </a:rPr>
              <a:t>org._Array</a:t>
            </a:r>
            <a:r>
              <a:rPr lang="en-US" altLang="zh-TW" sz="2400" dirty="0">
                <a:latin typeface="Courier New" panose="02070309020205020404" pitchFamily="49" charset="0"/>
                <a:cs typeface="Courier New" panose="02070309020205020404" pitchFamily="49" charset="0"/>
              </a:rPr>
              <a:t>[</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else</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_Array = NULL;</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p>
        </p:txBody>
      </p:sp>
    </p:spTree>
    <p:extLst>
      <p:ext uri="{BB962C8B-B14F-4D97-AF65-F5344CB8AC3E}">
        <p14:creationId xmlns:p14="http://schemas.microsoft.com/office/powerpoint/2010/main" val="3583946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dirty="0"/>
              <a:t>It is common to develop an assignment operator for a class, so that we can use the simple </a:t>
            </a:r>
            <a:r>
              <a:rPr lang="en-US" altLang="zh-TW" dirty="0">
                <a:latin typeface="Courier New" panose="02070309020205020404" pitchFamily="49" charset="0"/>
                <a:cs typeface="Courier New" panose="02070309020205020404" pitchFamily="49" charset="0"/>
              </a:rPr>
              <a:t>=</a:t>
            </a:r>
            <a:r>
              <a:rPr lang="en-US" altLang="zh-TW" dirty="0"/>
              <a:t> assignment to copy the content of an object to another</a:t>
            </a:r>
          </a:p>
          <a:p>
            <a:r>
              <a:rPr lang="en-US" altLang="zh-TW" dirty="0"/>
              <a:t>If you want to conveniently use </a:t>
            </a:r>
            <a:r>
              <a:rPr lang="en-US" altLang="zh-TW" dirty="0">
                <a:latin typeface="Courier New" panose="02070309020205020404" pitchFamily="49" charset="0"/>
                <a:cs typeface="Courier New" panose="02070309020205020404" pitchFamily="49" charset="0"/>
              </a:rPr>
              <a:t>=</a:t>
            </a:r>
            <a:r>
              <a:rPr lang="en-US" altLang="zh-TW" dirty="0"/>
              <a:t> operator, then assignment operator must be implemented. The compiler cannot create one for you</a:t>
            </a:r>
          </a:p>
          <a:p>
            <a:r>
              <a:rPr lang="en-US" altLang="zh-TW" dirty="0"/>
              <a:t>Assignment operator and copy constructor look very much alike. However, assignment operator does not instantiate an object. And it must has a </a:t>
            </a:r>
            <a:r>
              <a:rPr lang="en-US" altLang="zh-TW" dirty="0">
                <a:latin typeface="Courier New" panose="02070309020205020404" pitchFamily="49" charset="0"/>
                <a:cs typeface="Courier New" panose="02070309020205020404" pitchFamily="49" charset="0"/>
              </a:rPr>
              <a:t>return *this;</a:t>
            </a:r>
            <a:r>
              <a:rPr lang="en-US" altLang="zh-TW" dirty="0"/>
              <a:t> statement</a:t>
            </a:r>
            <a:endParaRPr lang="zh-TW" altLang="en-US"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13</a:t>
            </a:fld>
            <a:endParaRPr lang="en-US" altLang="zh-TW"/>
          </a:p>
        </p:txBody>
      </p:sp>
      <p:sp>
        <p:nvSpPr>
          <p:cNvPr id="4" name="標題 3"/>
          <p:cNvSpPr>
            <a:spLocks noGrp="1"/>
          </p:cNvSpPr>
          <p:nvPr>
            <p:ph type="title"/>
          </p:nvPr>
        </p:nvSpPr>
        <p:spPr/>
        <p:txBody>
          <a:bodyPr/>
          <a:lstStyle/>
          <a:p>
            <a:r>
              <a:rPr lang="en-US" altLang="zh-TW" dirty="0"/>
              <a:t>Assignment Operator</a:t>
            </a:r>
            <a:endParaRPr lang="zh-TW" altLang="en-US" dirty="0"/>
          </a:p>
        </p:txBody>
      </p:sp>
    </p:spTree>
    <p:extLst>
      <p:ext uri="{BB962C8B-B14F-4D97-AF65-F5344CB8AC3E}">
        <p14:creationId xmlns:p14="http://schemas.microsoft.com/office/powerpoint/2010/main" val="1029925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F5A2A8EF-A48F-4F8F-985B-479274EA465E}" type="slidenum">
              <a:rPr lang="zh-TW" altLang="en-US" smtClean="0"/>
              <a:pPr/>
              <a:t>14</a:t>
            </a:fld>
            <a:endParaRPr lang="en-US" altLang="zh-TW"/>
          </a:p>
        </p:txBody>
      </p:sp>
      <p:sp>
        <p:nvSpPr>
          <p:cNvPr id="4" name="標題 3"/>
          <p:cNvSpPr>
            <a:spLocks noGrp="1"/>
          </p:cNvSpPr>
          <p:nvPr>
            <p:ph type="title"/>
          </p:nvPr>
        </p:nvSpPr>
        <p:spPr/>
        <p:txBody>
          <a:bodyPr>
            <a:normAutofit/>
          </a:bodyPr>
          <a:lstStyle/>
          <a:p>
            <a:r>
              <a:rPr lang="en-US" altLang="zh-TW" dirty="0"/>
              <a:t>Assignment Operator Example</a:t>
            </a:r>
            <a:endParaRPr lang="zh-TW" altLang="en-US" dirty="0"/>
          </a:p>
        </p:txBody>
      </p:sp>
      <p:sp>
        <p:nvSpPr>
          <p:cNvPr id="8" name="內容版面配置區 7"/>
          <p:cNvSpPr>
            <a:spLocks noGrp="1"/>
          </p:cNvSpPr>
          <p:nvPr>
            <p:ph idx="1"/>
          </p:nvPr>
        </p:nvSpPr>
        <p:spPr/>
        <p:txBody>
          <a:bodyPr>
            <a:normAutofit fontScale="70000" lnSpcReduction="20000"/>
          </a:bodyPr>
          <a:lstStyle/>
          <a:p>
            <a:pPr marL="109728" indent="0">
              <a:spcBef>
                <a:spcPts val="200"/>
              </a:spcBef>
              <a:buNone/>
            </a:pPr>
            <a:r>
              <a:rPr lang="en-US" altLang="zh-TW" sz="2400" dirty="0">
                <a:latin typeface="Courier New" panose="02070309020205020404" pitchFamily="49" charset="0"/>
                <a:cs typeface="Courier New" panose="02070309020205020404" pitchFamily="49" charset="0"/>
              </a:rPr>
              <a:t>// Assignment operator</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List&amp; List::operator=(</a:t>
            </a:r>
            <a:r>
              <a:rPr lang="en-US" altLang="zh-TW" sz="2400" dirty="0" err="1">
                <a:latin typeface="Courier New" panose="02070309020205020404" pitchFamily="49" charset="0"/>
                <a:cs typeface="Courier New" panose="02070309020205020404" pitchFamily="49" charset="0"/>
              </a:rPr>
              <a:t>const</a:t>
            </a:r>
            <a:r>
              <a:rPr lang="en-US" altLang="zh-TW" sz="2400" dirty="0">
                <a:latin typeface="Courier New" panose="02070309020205020404" pitchFamily="49" charset="0"/>
                <a:cs typeface="Courier New" panose="02070309020205020404" pitchFamily="49" charset="0"/>
              </a:rPr>
              <a:t> List&amp; org)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if (this != &amp;org) { // if the same one, do nothing</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delete [] _Array; // _Array may not be NULL</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_Length = </a:t>
            </a:r>
            <a:r>
              <a:rPr lang="en-US" altLang="zh-TW" sz="2400" dirty="0" err="1">
                <a:latin typeface="Courier New" panose="02070309020205020404" pitchFamily="49" charset="0"/>
                <a:cs typeface="Courier New" panose="02070309020205020404" pitchFamily="49" charset="0"/>
              </a:rPr>
              <a:t>org._Length</a:t>
            </a: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if (_Length &gt; 0)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_Array = new </a:t>
            </a:r>
            <a:r>
              <a:rPr lang="en-US" altLang="zh-TW" sz="2400" dirty="0" err="1">
                <a:latin typeface="Courier New" panose="02070309020205020404" pitchFamily="49" charset="0"/>
                <a:cs typeface="Courier New" panose="02070309020205020404" pitchFamily="49" charset="0"/>
              </a:rPr>
              <a:t>int</a:t>
            </a:r>
            <a:r>
              <a:rPr lang="en-US" altLang="zh-TW" sz="2400" dirty="0">
                <a:latin typeface="Courier New" panose="02070309020205020404" pitchFamily="49" charset="0"/>
                <a:cs typeface="Courier New" panose="02070309020205020404" pitchFamily="49" charset="0"/>
              </a:rPr>
              <a:t> [_Length];</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assert(_Array != 0);</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for (</a:t>
            </a:r>
            <a:r>
              <a:rPr lang="en-US" altLang="zh-TW" sz="2400" dirty="0" err="1">
                <a:latin typeface="Courier New" panose="02070309020205020404" pitchFamily="49" charset="0"/>
                <a:cs typeface="Courier New" panose="02070309020205020404" pitchFamily="49" charset="0"/>
              </a:rPr>
              <a:t>int</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 0;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&lt; _Length;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_Array[</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 </a:t>
            </a:r>
            <a:r>
              <a:rPr lang="en-US" altLang="zh-TW" sz="2400" dirty="0" err="1">
                <a:latin typeface="Courier New" panose="02070309020205020404" pitchFamily="49" charset="0"/>
                <a:cs typeface="Courier New" panose="02070309020205020404" pitchFamily="49" charset="0"/>
              </a:rPr>
              <a:t>org._Array</a:t>
            </a:r>
            <a:r>
              <a:rPr lang="en-US" altLang="zh-TW" sz="2400" dirty="0">
                <a:latin typeface="Courier New" panose="02070309020205020404" pitchFamily="49" charset="0"/>
                <a:cs typeface="Courier New" panose="02070309020205020404" pitchFamily="49" charset="0"/>
              </a:rPr>
              <a:t>[</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else</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_Array = NULL;</a:t>
            </a: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   return *this;  // return this object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p>
        </p:txBody>
      </p:sp>
    </p:spTree>
    <p:extLst>
      <p:ext uri="{BB962C8B-B14F-4D97-AF65-F5344CB8AC3E}">
        <p14:creationId xmlns:p14="http://schemas.microsoft.com/office/powerpoint/2010/main" val="2931682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fontScale="92500" lnSpcReduction="10000"/>
          </a:bodyPr>
          <a:lstStyle/>
          <a:p>
            <a:r>
              <a:rPr lang="en-US" altLang="zh-TW" sz="2800" dirty="0"/>
              <a:t>Clear out an instance then destroy it</a:t>
            </a:r>
          </a:p>
          <a:p>
            <a:r>
              <a:rPr lang="en-US" altLang="zh-TW" sz="2800" dirty="0"/>
              <a:t>Function name is the class name with a leading ~, no return type specification</a:t>
            </a:r>
          </a:p>
          <a:p>
            <a:r>
              <a:rPr lang="en-US" altLang="zh-TW" sz="2800" dirty="0"/>
              <a:t>Can have only one </a:t>
            </a:r>
            <a:r>
              <a:rPr lang="en-US" altLang="zh-TW" sz="2800" dirty="0" err="1"/>
              <a:t>deconstructor</a:t>
            </a:r>
            <a:r>
              <a:rPr lang="en-US" altLang="zh-TW" sz="2800" dirty="0"/>
              <a:t>, and cannot have any input parameters</a:t>
            </a:r>
          </a:p>
          <a:p>
            <a:r>
              <a:rPr lang="en-US" altLang="zh-TW" sz="2800" dirty="0"/>
              <a:t>The compiler always creates a default </a:t>
            </a:r>
            <a:r>
              <a:rPr lang="en-US" altLang="zh-TW" sz="2800" dirty="0" err="1"/>
              <a:t>deconstructor</a:t>
            </a:r>
            <a:r>
              <a:rPr lang="en-US" altLang="zh-TW" sz="2800" dirty="0"/>
              <a:t> if not programmed</a:t>
            </a:r>
          </a:p>
          <a:p>
            <a:r>
              <a:rPr lang="en-US" altLang="zh-TW" sz="2800" dirty="0"/>
              <a:t>No </a:t>
            </a:r>
            <a:r>
              <a:rPr lang="en-US" altLang="zh-TW" sz="2800" dirty="0">
                <a:latin typeface="Courier New" panose="02070309020205020404" pitchFamily="49" charset="0"/>
                <a:cs typeface="Courier New" panose="02070309020205020404" pitchFamily="49" charset="0"/>
              </a:rPr>
              <a:t>return</a:t>
            </a:r>
            <a:r>
              <a:rPr lang="en-US" altLang="zh-TW" sz="2800" dirty="0"/>
              <a:t> statement</a:t>
            </a:r>
            <a:endParaRPr lang="zh-TW" altLang="en-US"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15</a:t>
            </a:fld>
            <a:endParaRPr lang="en-US" altLang="zh-TW"/>
          </a:p>
        </p:txBody>
      </p:sp>
      <p:sp>
        <p:nvSpPr>
          <p:cNvPr id="4" name="標題 3"/>
          <p:cNvSpPr>
            <a:spLocks noGrp="1"/>
          </p:cNvSpPr>
          <p:nvPr>
            <p:ph type="title"/>
          </p:nvPr>
        </p:nvSpPr>
        <p:spPr/>
        <p:txBody>
          <a:bodyPr/>
          <a:lstStyle/>
          <a:p>
            <a:r>
              <a:rPr lang="en-US" altLang="zh-TW" dirty="0" err="1"/>
              <a:t>Deconstructor</a:t>
            </a:r>
            <a:endParaRPr lang="zh-TW" altLang="en-US" dirty="0"/>
          </a:p>
        </p:txBody>
      </p:sp>
    </p:spTree>
    <p:extLst>
      <p:ext uri="{BB962C8B-B14F-4D97-AF65-F5344CB8AC3E}">
        <p14:creationId xmlns:p14="http://schemas.microsoft.com/office/powerpoint/2010/main" val="2771509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F5A2A8EF-A48F-4F8F-985B-479274EA465E}" type="slidenum">
              <a:rPr lang="zh-TW" altLang="en-US" smtClean="0"/>
              <a:pPr/>
              <a:t>16</a:t>
            </a:fld>
            <a:endParaRPr lang="en-US" altLang="zh-TW"/>
          </a:p>
        </p:txBody>
      </p:sp>
      <p:sp>
        <p:nvSpPr>
          <p:cNvPr id="4" name="標題 3"/>
          <p:cNvSpPr>
            <a:spLocks noGrp="1"/>
          </p:cNvSpPr>
          <p:nvPr>
            <p:ph type="title"/>
          </p:nvPr>
        </p:nvSpPr>
        <p:spPr/>
        <p:txBody>
          <a:bodyPr/>
          <a:lstStyle/>
          <a:p>
            <a:r>
              <a:rPr lang="en-US" altLang="zh-TW" dirty="0" err="1"/>
              <a:t>Deconstructor</a:t>
            </a:r>
            <a:r>
              <a:rPr lang="en-US" altLang="zh-TW" dirty="0"/>
              <a:t> – An Example</a:t>
            </a:r>
            <a:endParaRPr lang="zh-TW" altLang="en-US" dirty="0"/>
          </a:p>
        </p:txBody>
      </p:sp>
      <p:sp>
        <p:nvSpPr>
          <p:cNvPr id="8" name="內容版面配置區 7"/>
          <p:cNvSpPr>
            <a:spLocks noGrp="1"/>
          </p:cNvSpPr>
          <p:nvPr>
            <p:ph idx="1"/>
          </p:nvPr>
        </p:nvSpPr>
        <p:spPr/>
        <p:txBody>
          <a:bodyPr>
            <a:normAutofit/>
          </a:bodyPr>
          <a:lstStyle/>
          <a:p>
            <a:pPr marL="109728" indent="0">
              <a:spcBef>
                <a:spcPts val="200"/>
              </a:spcBef>
              <a:buNone/>
            </a:pP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deconstructor</a:t>
            </a:r>
            <a:endParaRPr lang="en-US" altLang="zh-TW"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List::~List()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if (_Length != 0)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delete [] _Array;</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_Array = NULL;</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_Length = 0;</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82968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dirty="0"/>
              <a:t>A member function is a function inside the class. And in the implementation, we use a resolution operator, </a:t>
            </a:r>
            <a:r>
              <a:rPr lang="en-US" altLang="zh-TW" dirty="0">
                <a:latin typeface="Courier New" panose="02070309020205020404" pitchFamily="49" charset="0"/>
                <a:cs typeface="Courier New" panose="02070309020205020404" pitchFamily="49" charset="0"/>
              </a:rPr>
              <a:t>::</a:t>
            </a:r>
            <a:r>
              <a:rPr lang="en-US" altLang="zh-TW" dirty="0"/>
              <a:t>, to specify which class a member function belongs to</a:t>
            </a:r>
          </a:p>
          <a:p>
            <a:pPr>
              <a:spcBef>
                <a:spcPts val="200"/>
              </a:spcBef>
            </a:pPr>
            <a:endParaRPr lang="en-US" altLang="zh-TW" dirty="0"/>
          </a:p>
          <a:p>
            <a:pPr marL="109728" indent="0">
              <a:spcBef>
                <a:spcPts val="200"/>
              </a:spcBef>
              <a:buNone/>
            </a:pPr>
            <a:r>
              <a:rPr lang="en-US" altLang="zh-TW" dirty="0">
                <a:latin typeface="Courier New" panose="02070309020205020404" pitchFamily="49" charset="0"/>
                <a:cs typeface="Courier New" panose="02070309020205020404" pitchFamily="49" charset="0"/>
              </a:rPr>
              <a:t>// declaration in </a:t>
            </a:r>
            <a:r>
              <a:rPr lang="en-US" altLang="zh-TW" dirty="0" err="1">
                <a:latin typeface="Courier New" panose="02070309020205020404" pitchFamily="49" charset="0"/>
                <a:cs typeface="Courier New" panose="02070309020205020404" pitchFamily="49" charset="0"/>
              </a:rPr>
              <a:t>List.h</a:t>
            </a: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setElement</a:t>
            </a:r>
            <a:r>
              <a:rPr lang="en-US" altLang="zh-TW" dirty="0">
                <a:latin typeface="Courier New" panose="02070309020205020404" pitchFamily="49" charset="0"/>
                <a:cs typeface="Courier New" panose="02070309020205020404" pitchFamily="49" charset="0"/>
              </a:rPr>
              <a:t>(unsigned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implementation in List.cpp</a:t>
            </a:r>
          </a:p>
          <a:p>
            <a:pPr marL="109728" indent="0">
              <a:spcBef>
                <a:spcPts val="200"/>
              </a:spcBef>
              <a:buNone/>
            </a:pP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List::</a:t>
            </a:r>
            <a:r>
              <a:rPr lang="en-US" altLang="zh-TW" dirty="0" err="1">
                <a:latin typeface="Courier New" panose="02070309020205020404" pitchFamily="49" charset="0"/>
                <a:cs typeface="Courier New" panose="02070309020205020404" pitchFamily="49" charset="0"/>
              </a:rPr>
              <a:t>setElement</a:t>
            </a:r>
            <a:r>
              <a:rPr lang="en-US" altLang="zh-TW" dirty="0">
                <a:latin typeface="Courier New" panose="02070309020205020404" pitchFamily="49" charset="0"/>
                <a:cs typeface="Courier New" panose="02070309020205020404" pitchFamily="49" charset="0"/>
              </a:rPr>
              <a:t>(unsigned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pos</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val</a:t>
            </a:r>
            <a:r>
              <a:rPr lang="en-US" altLang="zh-TW" dirty="0">
                <a:latin typeface="Courier New" panose="02070309020205020404" pitchFamily="49" charset="0"/>
                <a:cs typeface="Courier New" panose="02070309020205020404" pitchFamily="49" charset="0"/>
              </a:rPr>
              <a:t>) {</a:t>
            </a:r>
          </a:p>
          <a:p>
            <a:pPr marL="109728" indent="0">
              <a:spcBef>
                <a:spcPts val="200"/>
              </a:spcBef>
              <a:buNone/>
            </a:pPr>
            <a:r>
              <a:rPr lang="en-US" altLang="zh-TW" dirty="0">
                <a:latin typeface="Courier New" panose="02070309020205020404" pitchFamily="49" charset="0"/>
                <a:cs typeface="Courier New" panose="02070309020205020404" pitchFamily="49" charset="0"/>
              </a:rPr>
              <a:t>    if (</a:t>
            </a:r>
            <a:r>
              <a:rPr lang="en-US" altLang="zh-TW" dirty="0" err="1">
                <a:latin typeface="Courier New" panose="02070309020205020404" pitchFamily="49" charset="0"/>
                <a:cs typeface="Courier New" panose="02070309020205020404" pitchFamily="49" charset="0"/>
              </a:rPr>
              <a:t>pos</a:t>
            </a:r>
            <a:r>
              <a:rPr lang="en-US" altLang="zh-TW" dirty="0">
                <a:latin typeface="Courier New" panose="02070309020205020404" pitchFamily="49" charset="0"/>
                <a:cs typeface="Courier New" panose="02070309020205020404" pitchFamily="49" charset="0"/>
              </a:rPr>
              <a:t> &lt; _Size)</a:t>
            </a:r>
          </a:p>
          <a:p>
            <a:pPr marL="109728" indent="0">
              <a:spcBef>
                <a:spcPts val="200"/>
              </a:spcBef>
              <a:buNone/>
            </a:pPr>
            <a:r>
              <a:rPr lang="en-US" altLang="zh-TW" dirty="0">
                <a:latin typeface="Courier New" panose="02070309020205020404" pitchFamily="49" charset="0"/>
                <a:cs typeface="Courier New" panose="02070309020205020404" pitchFamily="49" charset="0"/>
              </a:rPr>
              <a:t>        return _Array[</a:t>
            </a:r>
            <a:r>
              <a:rPr lang="en-US" altLang="zh-TW" dirty="0" err="1">
                <a:latin typeface="Courier New" panose="02070309020205020404" pitchFamily="49" charset="0"/>
                <a:cs typeface="Courier New" panose="02070309020205020404" pitchFamily="49" charset="0"/>
              </a:rPr>
              <a:t>pos</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17</a:t>
            </a:fld>
            <a:endParaRPr lang="en-US" altLang="zh-TW"/>
          </a:p>
        </p:txBody>
      </p:sp>
      <p:sp>
        <p:nvSpPr>
          <p:cNvPr id="4" name="標題 3"/>
          <p:cNvSpPr>
            <a:spLocks noGrp="1"/>
          </p:cNvSpPr>
          <p:nvPr>
            <p:ph type="title"/>
          </p:nvPr>
        </p:nvSpPr>
        <p:spPr/>
        <p:txBody>
          <a:bodyPr/>
          <a:lstStyle/>
          <a:p>
            <a:r>
              <a:rPr lang="en-US" altLang="zh-TW" dirty="0"/>
              <a:t>Member Function</a:t>
            </a:r>
            <a:endParaRPr lang="zh-TW" altLang="en-US" dirty="0"/>
          </a:p>
        </p:txBody>
      </p:sp>
    </p:spTree>
    <p:extLst>
      <p:ext uri="{BB962C8B-B14F-4D97-AF65-F5344CB8AC3E}">
        <p14:creationId xmlns:p14="http://schemas.microsoft.com/office/powerpoint/2010/main" val="1667605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2</a:t>
            </a:r>
            <a:br>
              <a:rPr lang="en-US" altLang="zh-TW" sz="3600" dirty="0"/>
            </a:br>
            <a:r>
              <a:rPr lang="en-US" altLang="zh-TW" sz="3600" dirty="0"/>
              <a:t>Namespaces</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18</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3272005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664635" y="1600201"/>
            <a:ext cx="10075084" cy="4525968"/>
          </a:xfrm>
        </p:spPr>
        <p:txBody>
          <a:bodyPr>
            <a:normAutofit/>
          </a:bodyPr>
          <a:lstStyle/>
          <a:p>
            <a:r>
              <a:rPr lang="en-US" altLang="zh-TW" dirty="0"/>
              <a:t>A namespace groups entities like classes, variables, and functions under a name</a:t>
            </a:r>
          </a:p>
          <a:p>
            <a:r>
              <a:rPr lang="en-US" altLang="zh-TW" dirty="0"/>
              <a:t>The global space can then be divided into “sub-spaces,” each one with its own name</a:t>
            </a:r>
          </a:p>
          <a:p>
            <a:r>
              <a:rPr lang="en-US" altLang="zh-TW" dirty="0"/>
              <a:t>Format</a:t>
            </a:r>
          </a:p>
          <a:p>
            <a:pPr marL="109728" indent="0">
              <a:buNone/>
            </a:pPr>
            <a:r>
              <a:rPr lang="en-US" altLang="zh-TW" dirty="0">
                <a:latin typeface="Courier New" panose="02070309020205020404" pitchFamily="49" charset="0"/>
                <a:cs typeface="Courier New" panose="02070309020205020404" pitchFamily="49" charset="0"/>
              </a:rPr>
              <a:t>namespace </a:t>
            </a:r>
            <a:r>
              <a:rPr lang="en-US" altLang="zh-TW" i="1" dirty="0">
                <a:latin typeface="Courier New" panose="02070309020205020404" pitchFamily="49" charset="0"/>
                <a:cs typeface="Courier New" panose="02070309020205020404" pitchFamily="49" charset="0"/>
              </a:rPr>
              <a:t>identifier</a:t>
            </a:r>
            <a:r>
              <a:rPr lang="en-US" altLang="zh-TW" dirty="0">
                <a:latin typeface="Courier New" panose="02070309020205020404" pitchFamily="49" charset="0"/>
                <a:cs typeface="Courier New" panose="02070309020205020404" pitchFamily="49" charset="0"/>
              </a:rPr>
              <a:t> {</a:t>
            </a:r>
          </a:p>
          <a:p>
            <a:pPr marL="109728" indent="0">
              <a:buNone/>
            </a:pPr>
            <a:r>
              <a:rPr lang="en-US" altLang="zh-TW" dirty="0">
                <a:latin typeface="Courier New" panose="02070309020205020404" pitchFamily="49" charset="0"/>
                <a:cs typeface="Courier New" panose="02070309020205020404" pitchFamily="49" charset="0"/>
              </a:rPr>
              <a:t>    </a:t>
            </a:r>
            <a:r>
              <a:rPr lang="en-US" altLang="zh-TW" i="1" dirty="0">
                <a:latin typeface="Courier New" panose="02070309020205020404" pitchFamily="49" charset="0"/>
                <a:cs typeface="Courier New" panose="02070309020205020404" pitchFamily="49" charset="0"/>
              </a:rPr>
              <a:t>entities</a:t>
            </a:r>
          </a:p>
          <a:p>
            <a:pPr marL="109728" indent="0">
              <a:buNone/>
            </a:pPr>
            <a:r>
              <a:rPr lang="en-US" altLang="zh-TW" dirty="0">
                <a:latin typeface="Courier New" panose="02070309020205020404" pitchFamily="49" charset="0"/>
                <a:cs typeface="Courier New" panose="02070309020205020404" pitchFamily="49" charset="0"/>
              </a:rPr>
              <a:t>}</a:t>
            </a:r>
          </a:p>
          <a:p>
            <a:r>
              <a:rPr lang="en-US" altLang="zh-TW" dirty="0"/>
              <a:t>where </a:t>
            </a:r>
            <a:r>
              <a:rPr lang="en-US" altLang="zh-TW" i="1" dirty="0">
                <a:latin typeface="Courier New" panose="02070309020205020404" pitchFamily="49" charset="0"/>
                <a:cs typeface="Courier New" panose="02070309020205020404" pitchFamily="49" charset="0"/>
              </a:rPr>
              <a:t>identifier</a:t>
            </a:r>
            <a:r>
              <a:rPr lang="en-US" altLang="zh-TW" dirty="0"/>
              <a:t> is any valid identifier, and </a:t>
            </a:r>
            <a:r>
              <a:rPr lang="en-US" altLang="zh-TW" i="1" dirty="0">
                <a:latin typeface="Courier New" panose="02070309020205020404" pitchFamily="49" charset="0"/>
                <a:cs typeface="Courier New" panose="02070309020205020404" pitchFamily="49" charset="0"/>
              </a:rPr>
              <a:t>entities</a:t>
            </a:r>
            <a:r>
              <a:rPr lang="en-US" altLang="zh-TW" dirty="0"/>
              <a:t> are classes, variables, and functions in the namespace</a:t>
            </a:r>
            <a:endParaRPr lang="zh-TW" altLang="en-US"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19</a:t>
            </a:fld>
            <a:endParaRPr lang="en-US" altLang="zh-TW"/>
          </a:p>
        </p:txBody>
      </p:sp>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namespace</a:t>
            </a:r>
            <a:endParaRPr lang="zh-TW" alt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61887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dirty="0">
                <a:latin typeface="Courier New" panose="02070309020205020404" pitchFamily="49" charset="0"/>
                <a:cs typeface="Courier New" panose="02070309020205020404" pitchFamily="49" charset="0"/>
              </a:rPr>
              <a:t>namespace</a:t>
            </a:r>
            <a:r>
              <a:rPr lang="en-US" altLang="zh-TW" dirty="0"/>
              <a:t> Example 1: Resolution</a:t>
            </a:r>
            <a:endParaRPr lang="zh-TW" altLang="en-US" dirty="0"/>
          </a:p>
        </p:txBody>
      </p:sp>
      <p:sp>
        <p:nvSpPr>
          <p:cNvPr id="2" name="內容版面配置區 1"/>
          <p:cNvSpPr>
            <a:spLocks noGrp="1"/>
          </p:cNvSpPr>
          <p:nvPr>
            <p:ph idx="1"/>
          </p:nvPr>
        </p:nvSpPr>
        <p:spPr>
          <a:xfrm>
            <a:off x="664635" y="1354667"/>
            <a:ext cx="10075084" cy="4771501"/>
          </a:xfrm>
        </p:spPr>
        <p:txBody>
          <a:bodyPr>
            <a:normAutofit fontScale="92500" lnSpcReduction="20000"/>
          </a:bodyPr>
          <a:lstStyle/>
          <a:p>
            <a:pPr marL="109728"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 is a namespace too</a:t>
            </a:r>
          </a:p>
          <a:p>
            <a:pPr marL="109728"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namespace first {</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var</a:t>
            </a:r>
            <a:r>
              <a:rPr lang="en-US" altLang="zh-TW" dirty="0">
                <a:latin typeface="Courier New" panose="02070309020205020404" pitchFamily="49" charset="0"/>
                <a:cs typeface="Courier New" panose="02070309020205020404" pitchFamily="49" charset="0"/>
              </a:rPr>
              <a:t> = 5;</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namespace second {</a:t>
            </a:r>
          </a:p>
          <a:p>
            <a:pPr marL="109728" indent="0">
              <a:spcBef>
                <a:spcPts val="200"/>
              </a:spcBef>
              <a:buNone/>
            </a:pPr>
            <a:r>
              <a:rPr lang="en-US" altLang="zh-TW" dirty="0">
                <a:latin typeface="Courier New" panose="02070309020205020404" pitchFamily="49" charset="0"/>
                <a:cs typeface="Courier New" panose="02070309020205020404" pitchFamily="49" charset="0"/>
              </a:rPr>
              <a:t>    double </a:t>
            </a:r>
            <a:r>
              <a:rPr lang="en-US" altLang="zh-TW" dirty="0" err="1">
                <a:latin typeface="Courier New" panose="02070309020205020404" pitchFamily="49" charset="0"/>
                <a:cs typeface="Courier New" panose="02070309020205020404" pitchFamily="49" charset="0"/>
              </a:rPr>
              <a:t>var</a:t>
            </a:r>
            <a:r>
              <a:rPr lang="en-US" altLang="zh-TW" dirty="0">
                <a:latin typeface="Courier New" panose="02070309020205020404" pitchFamily="49" charset="0"/>
                <a:cs typeface="Courier New" panose="02070309020205020404" pitchFamily="49" charset="0"/>
              </a:rPr>
              <a:t> = 3.14159;</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main () {</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first::</a:t>
            </a:r>
            <a:r>
              <a:rPr lang="en-US" altLang="zh-TW" dirty="0" err="1">
                <a:latin typeface="Courier New" panose="02070309020205020404" pitchFamily="49" charset="0"/>
                <a:cs typeface="Courier New" panose="02070309020205020404" pitchFamily="49" charset="0"/>
              </a:rPr>
              <a:t>var</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second::</a:t>
            </a:r>
            <a:r>
              <a:rPr lang="en-US" altLang="zh-TW" dirty="0" err="1">
                <a:latin typeface="Courier New" panose="02070309020205020404" pitchFamily="49" charset="0"/>
                <a:cs typeface="Courier New" panose="02070309020205020404" pitchFamily="49" charset="0"/>
              </a:rPr>
              <a:t>var</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return 0;</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20</a:t>
            </a:fld>
            <a:endParaRPr lang="en-US" altLang="zh-TW"/>
          </a:p>
        </p:txBody>
      </p:sp>
      <p:sp>
        <p:nvSpPr>
          <p:cNvPr id="5" name="內容版面配置區 1"/>
          <p:cNvSpPr txBox="1">
            <a:spLocks/>
          </p:cNvSpPr>
          <p:nvPr/>
        </p:nvSpPr>
        <p:spPr>
          <a:xfrm>
            <a:off x="7548372" y="1249370"/>
            <a:ext cx="2664296" cy="5472608"/>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fontAlgn="auto"/>
            <a:r>
              <a:rPr lang="en-US" altLang="zh-TW" sz="2400" b="1" dirty="0"/>
              <a:t>Result</a:t>
            </a:r>
          </a:p>
          <a:p>
            <a:pPr marL="109728" indent="0">
              <a:buNone/>
            </a:pPr>
            <a:r>
              <a:rPr lang="en-US" altLang="zh-TW" sz="2000" b="1" dirty="0"/>
              <a:t>    5</a:t>
            </a:r>
          </a:p>
          <a:p>
            <a:pPr marL="109728" indent="0">
              <a:buNone/>
            </a:pPr>
            <a:r>
              <a:rPr lang="en-US" altLang="zh-TW" sz="2000" b="1" dirty="0"/>
              <a:t>    3.14159</a:t>
            </a:r>
            <a:endParaRPr lang="zh-TW" altLang="en-US" sz="2000" b="1" dirty="0"/>
          </a:p>
        </p:txBody>
      </p:sp>
    </p:spTree>
    <p:extLst>
      <p:ext uri="{BB962C8B-B14F-4D97-AF65-F5344CB8AC3E}">
        <p14:creationId xmlns:p14="http://schemas.microsoft.com/office/powerpoint/2010/main" val="3150625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namespace</a:t>
            </a:r>
            <a:r>
              <a:rPr lang="en-US" altLang="zh-TW" dirty="0"/>
              <a:t> Example 2: using</a:t>
            </a:r>
            <a:endParaRPr lang="zh-TW" altLang="en-US" dirty="0"/>
          </a:p>
        </p:txBody>
      </p:sp>
      <p:sp>
        <p:nvSpPr>
          <p:cNvPr id="2" name="內容版面配置區 1"/>
          <p:cNvSpPr>
            <a:spLocks noGrp="1"/>
          </p:cNvSpPr>
          <p:nvPr>
            <p:ph idx="1"/>
          </p:nvPr>
        </p:nvSpPr>
        <p:spPr>
          <a:xfrm>
            <a:off x="664635" y="1249371"/>
            <a:ext cx="10075084" cy="4876798"/>
          </a:xfrm>
        </p:spPr>
        <p:txBody>
          <a:bodyPr>
            <a:normAutofit fontScale="92500" lnSpcReduction="20000"/>
          </a:bodyPr>
          <a:lstStyle/>
          <a:p>
            <a:pPr marL="109728" indent="0">
              <a:spcBef>
                <a:spcPts val="200"/>
              </a:spcBef>
              <a:buNone/>
            </a:pPr>
            <a:r>
              <a:rPr lang="en-US" altLang="zh-TW" sz="1600" dirty="0">
                <a:latin typeface="Courier New" panose="02070309020205020404" pitchFamily="49" charset="0"/>
                <a:cs typeface="Courier New" panose="02070309020205020404" pitchFamily="49" charset="0"/>
              </a:rPr>
              <a:t>#include &lt;</a:t>
            </a:r>
            <a:r>
              <a:rPr lang="en-US" altLang="zh-TW" sz="1600" dirty="0" err="1">
                <a:latin typeface="Courier New" panose="02070309020205020404" pitchFamily="49" charset="0"/>
                <a:cs typeface="Courier New" panose="02070309020205020404" pitchFamily="49" charset="0"/>
              </a:rPr>
              <a:t>iostream</a:t>
            </a:r>
            <a:r>
              <a:rPr lang="en-US" altLang="zh-TW" sz="1600" dirty="0">
                <a:latin typeface="Courier New" panose="02070309020205020404" pitchFamily="49" charset="0"/>
                <a:cs typeface="Courier New" panose="02070309020205020404" pitchFamily="49" charset="0"/>
              </a:rPr>
              <a:t>&gt;</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using namespace </a:t>
            </a:r>
            <a:r>
              <a:rPr lang="en-US" altLang="zh-TW" sz="1600" dirty="0" err="1">
                <a:latin typeface="Courier New" panose="02070309020205020404" pitchFamily="49" charset="0"/>
                <a:cs typeface="Courier New" panose="02070309020205020404" pitchFamily="49" charset="0"/>
              </a:rPr>
              <a:t>std</a:t>
            </a:r>
            <a:r>
              <a:rPr lang="en-US" altLang="zh-TW" sz="16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namespace first {</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int</a:t>
            </a:r>
            <a:r>
              <a:rPr lang="en-US" altLang="zh-TW" sz="1600" dirty="0">
                <a:latin typeface="Courier New" panose="02070309020205020404" pitchFamily="49" charset="0"/>
                <a:cs typeface="Courier New" panose="02070309020205020404" pitchFamily="49" charset="0"/>
              </a:rPr>
              <a:t> x = 3;</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int</a:t>
            </a:r>
            <a:r>
              <a:rPr lang="en-US" altLang="zh-TW" sz="1600" dirty="0">
                <a:latin typeface="Courier New" panose="02070309020205020404" pitchFamily="49" charset="0"/>
                <a:cs typeface="Courier New" panose="02070309020205020404" pitchFamily="49" charset="0"/>
              </a:rPr>
              <a:t> y = 7;</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namespace second {</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double x = 3.14159;</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double y = 1.83729;</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err="1">
                <a:latin typeface="Courier New" panose="02070309020205020404" pitchFamily="49" charset="0"/>
                <a:cs typeface="Courier New" panose="02070309020205020404" pitchFamily="49" charset="0"/>
              </a:rPr>
              <a:t>int</a:t>
            </a:r>
            <a:r>
              <a:rPr lang="en-US" altLang="zh-TW" sz="1600" dirty="0">
                <a:latin typeface="Courier New" panose="02070309020205020404" pitchFamily="49" charset="0"/>
                <a:cs typeface="Courier New" panose="02070309020205020404" pitchFamily="49" charset="0"/>
              </a:rPr>
              <a:t> main () {</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using first::x;</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using second::y;</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cout</a:t>
            </a:r>
            <a:r>
              <a:rPr lang="en-US" altLang="zh-TW" sz="1600" dirty="0">
                <a:latin typeface="Courier New" panose="02070309020205020404" pitchFamily="49" charset="0"/>
                <a:cs typeface="Courier New" panose="02070309020205020404" pitchFamily="49" charset="0"/>
              </a:rPr>
              <a:t> &lt;&lt; x &lt;&lt; </a:t>
            </a:r>
            <a:r>
              <a:rPr lang="en-US" altLang="zh-TW" sz="1600" dirty="0" err="1">
                <a:latin typeface="Courier New" panose="02070309020205020404" pitchFamily="49" charset="0"/>
                <a:cs typeface="Courier New" panose="02070309020205020404" pitchFamily="49" charset="0"/>
              </a:rPr>
              <a:t>endl</a:t>
            </a:r>
            <a:r>
              <a:rPr lang="en-US" altLang="zh-TW" sz="1600" dirty="0">
                <a:latin typeface="Courier New" panose="02070309020205020404" pitchFamily="49" charset="0"/>
                <a:cs typeface="Courier New" panose="02070309020205020404" pitchFamily="49" charset="0"/>
              </a:rPr>
              <a:t>;</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cout</a:t>
            </a:r>
            <a:r>
              <a:rPr lang="en-US" altLang="zh-TW" sz="1600" dirty="0">
                <a:latin typeface="Courier New" panose="02070309020205020404" pitchFamily="49" charset="0"/>
                <a:cs typeface="Courier New" panose="02070309020205020404" pitchFamily="49" charset="0"/>
              </a:rPr>
              <a:t> &lt;&lt; y &lt;&lt; </a:t>
            </a:r>
            <a:r>
              <a:rPr lang="en-US" altLang="zh-TW" sz="1600" dirty="0" err="1">
                <a:latin typeface="Courier New" panose="02070309020205020404" pitchFamily="49" charset="0"/>
                <a:cs typeface="Courier New" panose="02070309020205020404" pitchFamily="49" charset="0"/>
              </a:rPr>
              <a:t>endl</a:t>
            </a:r>
            <a:r>
              <a:rPr lang="en-US" altLang="zh-TW" sz="1600" dirty="0">
                <a:latin typeface="Courier New" panose="02070309020205020404" pitchFamily="49" charset="0"/>
                <a:cs typeface="Courier New" panose="02070309020205020404" pitchFamily="49" charset="0"/>
              </a:rPr>
              <a:t>;</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cout</a:t>
            </a:r>
            <a:r>
              <a:rPr lang="en-US" altLang="zh-TW" sz="1600" dirty="0">
                <a:latin typeface="Courier New" panose="02070309020205020404" pitchFamily="49" charset="0"/>
                <a:cs typeface="Courier New" panose="02070309020205020404" pitchFamily="49" charset="0"/>
              </a:rPr>
              <a:t> &lt;&lt; first::y &lt;&lt; </a:t>
            </a:r>
            <a:r>
              <a:rPr lang="en-US" altLang="zh-TW" sz="1600" dirty="0" err="1">
                <a:latin typeface="Courier New" panose="02070309020205020404" pitchFamily="49" charset="0"/>
                <a:cs typeface="Courier New" panose="02070309020205020404" pitchFamily="49" charset="0"/>
              </a:rPr>
              <a:t>endl</a:t>
            </a:r>
            <a:r>
              <a:rPr lang="en-US" altLang="zh-TW" sz="1600" dirty="0">
                <a:latin typeface="Courier New" panose="02070309020205020404" pitchFamily="49" charset="0"/>
                <a:cs typeface="Courier New" panose="02070309020205020404" pitchFamily="49" charset="0"/>
              </a:rPr>
              <a:t>;</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cout</a:t>
            </a:r>
            <a:r>
              <a:rPr lang="en-US" altLang="zh-TW" sz="1600" dirty="0">
                <a:latin typeface="Courier New" panose="02070309020205020404" pitchFamily="49" charset="0"/>
                <a:cs typeface="Courier New" panose="02070309020205020404" pitchFamily="49" charset="0"/>
              </a:rPr>
              <a:t> &lt;&lt; second::x &lt;&lt; </a:t>
            </a:r>
            <a:r>
              <a:rPr lang="en-US" altLang="zh-TW" sz="1600" dirty="0" err="1">
                <a:latin typeface="Courier New" panose="02070309020205020404" pitchFamily="49" charset="0"/>
                <a:cs typeface="Courier New" panose="02070309020205020404" pitchFamily="49" charset="0"/>
              </a:rPr>
              <a:t>endl</a:t>
            </a:r>
            <a:r>
              <a:rPr lang="en-US" altLang="zh-TW" sz="1600" dirty="0">
                <a:latin typeface="Courier New" panose="02070309020205020404" pitchFamily="49" charset="0"/>
                <a:cs typeface="Courier New" panose="02070309020205020404" pitchFamily="49" charset="0"/>
              </a:rPr>
              <a:t>;</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    return 0;</a:t>
            </a:r>
          </a:p>
          <a:p>
            <a:pPr marL="109728" indent="0">
              <a:spcBef>
                <a:spcPts val="200"/>
              </a:spcBef>
              <a:buNone/>
            </a:pPr>
            <a:r>
              <a:rPr lang="en-US" altLang="zh-TW" sz="1600"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21</a:t>
            </a:fld>
            <a:endParaRPr lang="en-US" altLang="zh-TW"/>
          </a:p>
        </p:txBody>
      </p:sp>
      <p:sp>
        <p:nvSpPr>
          <p:cNvPr id="5" name="內容版面配置區 1"/>
          <p:cNvSpPr txBox="1">
            <a:spLocks/>
          </p:cNvSpPr>
          <p:nvPr/>
        </p:nvSpPr>
        <p:spPr>
          <a:xfrm>
            <a:off x="7536160" y="1249370"/>
            <a:ext cx="2664296" cy="5472608"/>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fontAlgn="auto"/>
            <a:r>
              <a:rPr lang="en-US" altLang="zh-TW" sz="2400" b="1" dirty="0"/>
              <a:t>Result</a:t>
            </a:r>
          </a:p>
          <a:p>
            <a:pPr marL="109728" indent="0">
              <a:buNone/>
            </a:pPr>
            <a:r>
              <a:rPr lang="en-US" altLang="zh-TW" sz="2000" b="1" dirty="0"/>
              <a:t>    3</a:t>
            </a:r>
          </a:p>
          <a:p>
            <a:pPr marL="109728" indent="0">
              <a:buNone/>
            </a:pPr>
            <a:r>
              <a:rPr lang="en-US" altLang="zh-TW" sz="2000" b="1" dirty="0"/>
              <a:t>    1.83729</a:t>
            </a:r>
          </a:p>
          <a:p>
            <a:pPr marL="109728" indent="0">
              <a:buNone/>
            </a:pPr>
            <a:r>
              <a:rPr lang="en-US" altLang="zh-TW" sz="2000" b="1" dirty="0"/>
              <a:t>    7</a:t>
            </a:r>
          </a:p>
          <a:p>
            <a:pPr marL="109728" indent="0">
              <a:buNone/>
            </a:pPr>
            <a:r>
              <a:rPr lang="en-US" altLang="zh-TW" sz="2000" b="1" dirty="0"/>
              <a:t>    3.14159</a:t>
            </a:r>
            <a:endParaRPr lang="zh-TW" altLang="en-US" sz="2000" b="1" dirty="0"/>
          </a:p>
        </p:txBody>
      </p:sp>
    </p:spTree>
    <p:extLst>
      <p:ext uri="{BB962C8B-B14F-4D97-AF65-F5344CB8AC3E}">
        <p14:creationId xmlns:p14="http://schemas.microsoft.com/office/powerpoint/2010/main" val="1872973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namespace</a:t>
            </a:r>
            <a:r>
              <a:rPr lang="en-US" altLang="zh-TW" dirty="0"/>
              <a:t> Example 3: using</a:t>
            </a:r>
            <a:endParaRPr lang="zh-TW" altLang="en-US" dirty="0"/>
          </a:p>
        </p:txBody>
      </p:sp>
      <p:sp>
        <p:nvSpPr>
          <p:cNvPr id="2" name="內容版面配置區 1"/>
          <p:cNvSpPr>
            <a:spLocks noGrp="1"/>
          </p:cNvSpPr>
          <p:nvPr>
            <p:ph idx="1"/>
          </p:nvPr>
        </p:nvSpPr>
        <p:spPr>
          <a:xfrm>
            <a:off x="664635" y="1273793"/>
            <a:ext cx="10075084" cy="4852376"/>
          </a:xfrm>
        </p:spPr>
        <p:txBody>
          <a:bodyPr>
            <a:normAutofit fontScale="77500" lnSpcReduction="20000"/>
          </a:bodyPr>
          <a:lstStyle/>
          <a:p>
            <a:pPr marL="109728"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p>
          <a:p>
            <a:pPr marL="109728"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namespace first {</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x = 3;</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y = 7;</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namespace second {</a:t>
            </a:r>
          </a:p>
          <a:p>
            <a:pPr marL="109728" indent="0">
              <a:spcBef>
                <a:spcPts val="200"/>
              </a:spcBef>
              <a:buNone/>
            </a:pPr>
            <a:r>
              <a:rPr lang="en-US" altLang="zh-TW" dirty="0">
                <a:latin typeface="Courier New" panose="02070309020205020404" pitchFamily="49" charset="0"/>
                <a:cs typeface="Courier New" panose="02070309020205020404" pitchFamily="49" charset="0"/>
              </a:rPr>
              <a:t>    double x = 3.14159;</a:t>
            </a:r>
          </a:p>
          <a:p>
            <a:pPr marL="109728" indent="0">
              <a:spcBef>
                <a:spcPts val="200"/>
              </a:spcBef>
              <a:buNone/>
            </a:pPr>
            <a:r>
              <a:rPr lang="en-US" altLang="zh-TW" dirty="0">
                <a:latin typeface="Courier New" panose="02070309020205020404" pitchFamily="49" charset="0"/>
                <a:cs typeface="Courier New" panose="02070309020205020404" pitchFamily="49" charset="0"/>
              </a:rPr>
              <a:t>    double y = 1.83729;</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main () {</a:t>
            </a:r>
          </a:p>
          <a:p>
            <a:pPr marL="109728" indent="0">
              <a:spcBef>
                <a:spcPts val="200"/>
              </a:spcBef>
              <a:buNone/>
            </a:pPr>
            <a:r>
              <a:rPr lang="en-US" altLang="zh-TW" dirty="0">
                <a:latin typeface="Courier New" panose="02070309020205020404" pitchFamily="49" charset="0"/>
                <a:cs typeface="Courier New" panose="02070309020205020404" pitchFamily="49" charset="0"/>
              </a:rPr>
              <a:t>    using namespace first;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x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y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second::x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second::y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return 0;</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22</a:t>
            </a:fld>
            <a:endParaRPr lang="en-US" altLang="zh-TW"/>
          </a:p>
        </p:txBody>
      </p:sp>
      <p:sp>
        <p:nvSpPr>
          <p:cNvPr id="5" name="內容版面配置區 1"/>
          <p:cNvSpPr txBox="1">
            <a:spLocks/>
          </p:cNvSpPr>
          <p:nvPr/>
        </p:nvSpPr>
        <p:spPr>
          <a:xfrm>
            <a:off x="7536160" y="1273792"/>
            <a:ext cx="2664296" cy="5472608"/>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fontAlgn="auto"/>
            <a:r>
              <a:rPr lang="en-US" altLang="zh-TW" sz="2400" b="1" dirty="0"/>
              <a:t>Result</a:t>
            </a:r>
          </a:p>
          <a:p>
            <a:pPr marL="109728" indent="0">
              <a:buNone/>
            </a:pPr>
            <a:r>
              <a:rPr lang="en-US" altLang="zh-TW" sz="2000" b="1" dirty="0"/>
              <a:t>    3</a:t>
            </a:r>
          </a:p>
          <a:p>
            <a:pPr marL="109728" indent="0">
              <a:buNone/>
            </a:pPr>
            <a:r>
              <a:rPr lang="en-US" altLang="zh-TW" sz="2000" b="1" dirty="0"/>
              <a:t>    7</a:t>
            </a:r>
          </a:p>
          <a:p>
            <a:pPr marL="109728" indent="0">
              <a:buNone/>
            </a:pPr>
            <a:r>
              <a:rPr lang="en-US" altLang="zh-TW" sz="2000" b="1" dirty="0"/>
              <a:t>    3.14158</a:t>
            </a:r>
          </a:p>
          <a:p>
            <a:pPr marL="109728" indent="0">
              <a:buNone/>
            </a:pPr>
            <a:r>
              <a:rPr lang="en-US" altLang="zh-TW" sz="2000" b="1" dirty="0"/>
              <a:t>    1.83729</a:t>
            </a:r>
          </a:p>
        </p:txBody>
      </p:sp>
    </p:spTree>
    <p:extLst>
      <p:ext uri="{BB962C8B-B14F-4D97-AF65-F5344CB8AC3E}">
        <p14:creationId xmlns:p14="http://schemas.microsoft.com/office/powerpoint/2010/main" val="1342348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3</a:t>
            </a:r>
            <a:br>
              <a:rPr lang="en-US" altLang="zh-TW" sz="3600" dirty="0"/>
            </a:br>
            <a:r>
              <a:rPr lang="en-US" altLang="zh-TW" sz="3600" dirty="0"/>
              <a:t>I/O Stream</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23</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1183438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err="1">
                <a:latin typeface="Courier New" panose="02070309020205020404" pitchFamily="49" charset="0"/>
                <a:cs typeface="Courier New" panose="02070309020205020404" pitchFamily="49" charset="0"/>
              </a:rPr>
              <a:t>std</a:t>
            </a:r>
            <a:r>
              <a:rPr lang="en-US" altLang="zh-TW" dirty="0"/>
              <a:t> Namespace</a:t>
            </a:r>
            <a:endParaRPr lang="zh-TW" altLang="en-US" dirty="0"/>
          </a:p>
        </p:txBody>
      </p:sp>
      <p:sp>
        <p:nvSpPr>
          <p:cNvPr id="2" name="內容版面配置區 1"/>
          <p:cNvSpPr>
            <a:spLocks noGrp="1"/>
          </p:cNvSpPr>
          <p:nvPr>
            <p:ph idx="1"/>
          </p:nvPr>
        </p:nvSpPr>
        <p:spPr/>
        <p:txBody>
          <a:bodyPr>
            <a:normAutofit/>
          </a:bodyPr>
          <a:lstStyle/>
          <a:p>
            <a:pPr>
              <a:spcBef>
                <a:spcPts val="200"/>
              </a:spcBef>
            </a:pPr>
            <a:endParaRPr lang="en-US" altLang="zh-TW"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&lt;</a:t>
            </a:r>
            <a:r>
              <a:rPr lang="en-US" altLang="zh-TW" sz="2400" dirty="0" err="1">
                <a:latin typeface="Courier New" panose="02070309020205020404" pitchFamily="49" charset="0"/>
                <a:cs typeface="Courier New" panose="02070309020205020404" pitchFamily="49" charset="0"/>
              </a:rPr>
              <a:t>iostream</a:t>
            </a:r>
            <a:r>
              <a:rPr lang="en-US" altLang="zh-TW" sz="2400" dirty="0">
                <a:latin typeface="Courier New" panose="02070309020205020404" pitchFamily="49" charset="0"/>
                <a:cs typeface="Courier New" panose="02070309020205020404" pitchFamily="49" charset="0"/>
              </a:rPr>
              <a:t>&gt;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&lt;</a:t>
            </a:r>
            <a:r>
              <a:rPr lang="en-US" altLang="zh-TW" sz="2400" dirty="0" err="1">
                <a:latin typeface="Courier New" panose="02070309020205020404" pitchFamily="49" charset="0"/>
                <a:cs typeface="Courier New" panose="02070309020205020404" pitchFamily="49" charset="0"/>
              </a:rPr>
              <a:t>fstream</a:t>
            </a:r>
            <a:r>
              <a:rPr lang="en-US" altLang="zh-TW" sz="2400" dirty="0">
                <a:latin typeface="Courier New" panose="02070309020205020404" pitchFamily="49" charset="0"/>
                <a:cs typeface="Courier New" panose="02070309020205020404" pitchFamily="49" charset="0"/>
              </a:rPr>
              <a:t>&gt;</a:t>
            </a:r>
          </a:p>
          <a:p>
            <a:pPr marL="109728" indent="0">
              <a:spcBef>
                <a:spcPts val="200"/>
              </a:spcBef>
              <a:buNone/>
            </a:pPr>
            <a:endParaRPr lang="en-US" altLang="zh-TW"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using namespace </a:t>
            </a:r>
            <a:r>
              <a:rPr lang="en-US" altLang="zh-TW" sz="2400" dirty="0" err="1">
                <a:latin typeface="Courier New" panose="02070309020205020404" pitchFamily="49" charset="0"/>
                <a:cs typeface="Courier New" panose="02070309020205020404" pitchFamily="49" charset="0"/>
              </a:rPr>
              <a:t>std</a:t>
            </a:r>
            <a:r>
              <a:rPr lang="en-US" altLang="zh-TW" sz="2400" dirty="0">
                <a:latin typeface="Courier New" panose="02070309020205020404" pitchFamily="49" charset="0"/>
                <a:cs typeface="Courier New" panose="02070309020205020404" pitchFamily="49" charset="0"/>
              </a:rPr>
              <a:t>; // need to have this</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 statement to not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 use the resolution</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                     // operator, ::</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24</a:t>
            </a:fld>
            <a:endParaRPr lang="en-US" altLang="zh-TW"/>
          </a:p>
        </p:txBody>
      </p:sp>
    </p:spTree>
    <p:extLst>
      <p:ext uri="{BB962C8B-B14F-4D97-AF65-F5344CB8AC3E}">
        <p14:creationId xmlns:p14="http://schemas.microsoft.com/office/powerpoint/2010/main" val="2377484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mn-lt"/>
                <a:cs typeface="Courier New" panose="02070309020205020404" pitchFamily="49" charset="0"/>
              </a:rPr>
              <a:t>Basic Operators</a:t>
            </a:r>
            <a:endParaRPr lang="zh-TW" altLang="en-US" dirty="0"/>
          </a:p>
        </p:txBody>
      </p:sp>
      <p:sp>
        <p:nvSpPr>
          <p:cNvPr id="2" name="內容版面配置區 1"/>
          <p:cNvSpPr>
            <a:spLocks noGrp="1"/>
          </p:cNvSpPr>
          <p:nvPr>
            <p:ph idx="1"/>
          </p:nvPr>
        </p:nvSpPr>
        <p:spPr/>
        <p:txBody>
          <a:bodyPr>
            <a:normAutofit/>
          </a:bodyPr>
          <a:lstStyle/>
          <a:p>
            <a:r>
              <a:rPr lang="en-US" altLang="zh-TW" dirty="0">
                <a:latin typeface="Courier New" panose="02070309020205020404" pitchFamily="49" charset="0"/>
                <a:cs typeface="Courier New" panose="02070309020205020404" pitchFamily="49" charset="0"/>
              </a:rPr>
              <a:t>&lt;&lt;</a:t>
            </a:r>
            <a:r>
              <a:rPr lang="en-US" altLang="zh-TW" dirty="0">
                <a:cs typeface="Courier New" panose="02070309020205020404" pitchFamily="49" charset="0"/>
              </a:rPr>
              <a:t> - output operator</a:t>
            </a:r>
          </a:p>
          <a:p>
            <a:r>
              <a:rPr lang="en-US" altLang="zh-TW" dirty="0">
                <a:latin typeface="Courier New" panose="02070309020205020404" pitchFamily="49" charset="0"/>
                <a:cs typeface="Courier New" panose="02070309020205020404" pitchFamily="49" charset="0"/>
              </a:rPr>
              <a:t>&gt;&gt;</a:t>
            </a:r>
            <a:r>
              <a:rPr lang="en-US" altLang="zh-TW" dirty="0">
                <a:cs typeface="Courier New" panose="02070309020205020404" pitchFamily="49" charset="0"/>
              </a:rPr>
              <a:t> - input operator</a:t>
            </a:r>
          </a:p>
          <a:p>
            <a:r>
              <a:rPr lang="en-US" altLang="zh-TW" dirty="0" err="1">
                <a:latin typeface="Courier New" panose="02070309020205020404" pitchFamily="49" charset="0"/>
                <a:cs typeface="Courier New" panose="02070309020205020404" pitchFamily="49" charset="0"/>
              </a:rPr>
              <a:t>endl</a:t>
            </a:r>
            <a:r>
              <a:rPr lang="en-US" altLang="zh-TW" dirty="0">
                <a:cs typeface="Courier New" panose="02070309020205020404" pitchFamily="49" charset="0"/>
              </a:rPr>
              <a:t> – new line, </a:t>
            </a:r>
            <a:r>
              <a:rPr lang="en-US" altLang="zh-TW" dirty="0">
                <a:latin typeface="Courier New" panose="02070309020205020404" pitchFamily="49" charset="0"/>
                <a:cs typeface="Courier New" panose="02070309020205020404" pitchFamily="49" charset="0"/>
              </a:rPr>
              <a:t>“\n”</a:t>
            </a:r>
          </a:p>
          <a:p>
            <a:pPr marL="109728" indent="0">
              <a:buNone/>
            </a:pPr>
            <a:endParaRPr lang="en-US" altLang="zh-TW" dirty="0">
              <a:latin typeface="Courier New" panose="02070309020205020404" pitchFamily="49" charset="0"/>
              <a:cs typeface="Courier New" panose="02070309020205020404" pitchFamily="49" charset="0"/>
            </a:endParaRPr>
          </a:p>
          <a:p>
            <a:pPr marL="109728" indent="0">
              <a:buNone/>
            </a:pPr>
            <a:r>
              <a:rPr lang="en-US" altLang="zh-TW" dirty="0">
                <a:cs typeface="Courier New" panose="02070309020205020404" pitchFamily="49" charset="0"/>
              </a:rPr>
              <a:t>Examples</a:t>
            </a:r>
          </a:p>
          <a:p>
            <a:pPr marL="109728" indent="0">
              <a:spcBef>
                <a:spcPts val="200"/>
              </a:spcBef>
              <a:buNone/>
            </a:pP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“Got to run!”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err="1">
                <a:latin typeface="Courier New" panose="02070309020205020404" pitchFamily="49" charset="0"/>
                <a:cs typeface="Courier New" panose="02070309020205020404" pitchFamily="49" charset="0"/>
              </a:rPr>
              <a:t>cin</a:t>
            </a:r>
            <a:r>
              <a:rPr lang="en-US" altLang="zh-TW" dirty="0">
                <a:latin typeface="Courier New" panose="02070309020205020404" pitchFamily="49" charset="0"/>
                <a:cs typeface="Courier New" panose="02070309020205020404" pitchFamily="49" charset="0"/>
              </a:rPr>
              <a:t> &gt;&gt; </a:t>
            </a:r>
            <a:r>
              <a:rPr lang="en-US" altLang="zh-TW" dirty="0" err="1">
                <a:latin typeface="Courier New" panose="02070309020205020404" pitchFamily="49" charset="0"/>
                <a:cs typeface="Courier New" panose="02070309020205020404" pitchFamily="49" charset="0"/>
              </a:rPr>
              <a:t>inStr</a:t>
            </a:r>
            <a:r>
              <a:rPr lang="en-US" altLang="zh-TW" dirty="0">
                <a:latin typeface="Courier New" panose="02070309020205020404" pitchFamily="49" charset="0"/>
                <a:cs typeface="Courier New" panose="02070309020205020404" pitchFamily="49" charset="0"/>
              </a:rPr>
              <a:t>;</a:t>
            </a:r>
          </a:p>
          <a:p>
            <a:pPr marL="109728" indent="0">
              <a:buNone/>
            </a:pPr>
            <a:endParaRPr lang="en-US" altLang="zh-TW"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25</a:t>
            </a:fld>
            <a:endParaRPr lang="en-US" altLang="zh-TW"/>
          </a:p>
        </p:txBody>
      </p:sp>
    </p:spTree>
    <p:extLst>
      <p:ext uri="{BB962C8B-B14F-4D97-AF65-F5344CB8AC3E}">
        <p14:creationId xmlns:p14="http://schemas.microsoft.com/office/powerpoint/2010/main" val="211538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r>
              <a:rPr lang="en-US" altLang="zh-TW" dirty="0">
                <a:latin typeface="+mn-lt"/>
                <a:cs typeface="Courier New" panose="02070309020205020404" pitchFamily="49" charset="0"/>
              </a:rPr>
              <a:t>, Standard I/O</a:t>
            </a:r>
            <a:endParaRPr lang="zh-TW" altLang="en-US" dirty="0">
              <a:latin typeface="+mn-lt"/>
            </a:endParaRPr>
          </a:p>
        </p:txBody>
      </p:sp>
      <p:sp>
        <p:nvSpPr>
          <p:cNvPr id="2" name="內容版面配置區 1"/>
          <p:cNvSpPr>
            <a:spLocks noGrp="1"/>
          </p:cNvSpPr>
          <p:nvPr>
            <p:ph idx="1"/>
          </p:nvPr>
        </p:nvSpPr>
        <p:spPr/>
        <p:txBody>
          <a:bodyPr>
            <a:normAutofit fontScale="92500" lnSpcReduction="20000"/>
          </a:bodyPr>
          <a:lstStyle/>
          <a:p>
            <a:pPr marL="109728" indent="0">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p>
          <a:p>
            <a:r>
              <a:rPr lang="en-US" altLang="zh-TW" dirty="0" err="1">
                <a:latin typeface="Courier New" panose="02070309020205020404" pitchFamily="49" charset="0"/>
                <a:cs typeface="Courier New" panose="02070309020205020404" pitchFamily="49" charset="0"/>
              </a:rPr>
              <a:t>cin</a:t>
            </a:r>
            <a:r>
              <a:rPr lang="en-US" altLang="zh-TW" dirty="0">
                <a:cs typeface="Courier New" panose="02070309020205020404" pitchFamily="49" charset="0"/>
              </a:rPr>
              <a:t> – input stream function</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inInt</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cin</a:t>
            </a:r>
            <a:r>
              <a:rPr lang="en-US" altLang="zh-TW" dirty="0">
                <a:latin typeface="Courier New" panose="02070309020205020404" pitchFamily="49" charset="0"/>
                <a:cs typeface="Courier New" panose="02070309020205020404" pitchFamily="49" charset="0"/>
              </a:rPr>
              <a:t> &gt;&gt; </a:t>
            </a:r>
            <a:r>
              <a:rPr lang="en-US" altLang="zh-TW" dirty="0" err="1">
                <a:latin typeface="Courier New" panose="02070309020205020404" pitchFamily="49" charset="0"/>
                <a:cs typeface="Courier New" panose="02070309020205020404" pitchFamily="49" charset="0"/>
              </a:rPr>
              <a:t>inInt</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scanf</a:t>
            </a:r>
            <a:r>
              <a:rPr lang="en-US" altLang="zh-TW" dirty="0">
                <a:latin typeface="Courier New" panose="02070309020205020404" pitchFamily="49" charset="0"/>
                <a:cs typeface="Courier New" panose="02070309020205020404" pitchFamily="49" charset="0"/>
              </a:rPr>
              <a:t>(“%d”, &amp;</a:t>
            </a:r>
            <a:r>
              <a:rPr lang="en-US" altLang="zh-TW" dirty="0" err="1">
                <a:latin typeface="Courier New" panose="02070309020205020404" pitchFamily="49" charset="0"/>
                <a:cs typeface="Courier New" panose="02070309020205020404" pitchFamily="49" charset="0"/>
              </a:rPr>
              <a:t>inInt</a:t>
            </a:r>
            <a:r>
              <a:rPr lang="en-US" altLang="zh-TW" dirty="0">
                <a:latin typeface="Courier New" panose="02070309020205020404" pitchFamily="49" charset="0"/>
                <a:cs typeface="Courier New" panose="02070309020205020404" pitchFamily="49" charset="0"/>
              </a:rPr>
              <a:t>);</a:t>
            </a:r>
          </a:p>
          <a:p>
            <a:r>
              <a:rPr lang="en-US" altLang="zh-TW" dirty="0" err="1">
                <a:latin typeface="Courier New" panose="02070309020205020404" pitchFamily="49" charset="0"/>
                <a:cs typeface="Courier New" panose="02070309020205020404" pitchFamily="49" charset="0"/>
              </a:rPr>
              <a:t>cout</a:t>
            </a:r>
            <a:r>
              <a:rPr lang="en-US" altLang="zh-TW" dirty="0">
                <a:cs typeface="Courier New" panose="02070309020205020404" pitchFamily="49" charset="0"/>
              </a:rPr>
              <a:t> – output stream function</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“Hello World!”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printf</a:t>
            </a:r>
            <a:r>
              <a:rPr lang="en-US" altLang="zh-TW" dirty="0">
                <a:latin typeface="Courier New" panose="02070309020205020404" pitchFamily="49" charset="0"/>
                <a:cs typeface="Courier New" panose="02070309020205020404" pitchFamily="49" charset="0"/>
              </a:rPr>
              <a:t>(“Hello World\n”);</a:t>
            </a:r>
          </a:p>
          <a:p>
            <a:r>
              <a:rPr lang="en-US" altLang="zh-TW" dirty="0" err="1">
                <a:latin typeface="Courier New" panose="02070309020205020404" pitchFamily="49" charset="0"/>
                <a:cs typeface="Courier New" panose="02070309020205020404" pitchFamily="49" charset="0"/>
              </a:rPr>
              <a:t>cerr</a:t>
            </a:r>
            <a:r>
              <a:rPr lang="en-US" altLang="zh-TW" dirty="0">
                <a:cs typeface="Courier New" panose="02070309020205020404" pitchFamily="49" charset="0"/>
              </a:rPr>
              <a:t> – error output stream function</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cerr</a:t>
            </a:r>
            <a:r>
              <a:rPr lang="en-US" altLang="zh-TW" dirty="0">
                <a:latin typeface="Courier New" panose="02070309020205020404" pitchFamily="49" charset="0"/>
                <a:cs typeface="Courier New" panose="02070309020205020404" pitchFamily="49" charset="0"/>
              </a:rPr>
              <a:t> &lt;&lt; “Error condition\n”;</a:t>
            </a:r>
          </a:p>
          <a:p>
            <a:r>
              <a:rPr lang="en-US" altLang="zh-TW" dirty="0">
                <a:latin typeface="Courier New" panose="02070309020205020404" pitchFamily="49" charset="0"/>
                <a:cs typeface="Courier New" panose="02070309020205020404" pitchFamily="49" charset="0"/>
              </a:rPr>
              <a:t>clog</a:t>
            </a:r>
            <a:r>
              <a:rPr lang="en-US" altLang="zh-TW" dirty="0">
                <a:cs typeface="Courier New" panose="02070309020205020404" pitchFamily="49" charset="0"/>
              </a:rPr>
              <a:t> – log output stream function</a:t>
            </a:r>
          </a:p>
          <a:p>
            <a:pPr marL="109728" indent="0">
              <a:spcBef>
                <a:spcPts val="200"/>
              </a:spcBef>
              <a:buNone/>
            </a:pPr>
            <a:r>
              <a:rPr lang="en-US" altLang="zh-TW" dirty="0">
                <a:latin typeface="Courier New" panose="02070309020205020404" pitchFamily="49" charset="0"/>
                <a:cs typeface="Courier New" panose="02070309020205020404" pitchFamily="49" charset="0"/>
              </a:rPr>
              <a:t>   clog &lt;&lt; “Captain’s log”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26</a:t>
            </a:fld>
            <a:endParaRPr lang="en-US" altLang="zh-TW"/>
          </a:p>
        </p:txBody>
      </p:sp>
    </p:spTree>
    <p:extLst>
      <p:ext uri="{BB962C8B-B14F-4D97-AF65-F5344CB8AC3E}">
        <p14:creationId xmlns:p14="http://schemas.microsoft.com/office/powerpoint/2010/main" val="2352907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&lt;</a:t>
            </a:r>
            <a:r>
              <a:rPr lang="en-US" altLang="zh-TW" dirty="0" err="1">
                <a:latin typeface="Courier New" panose="02070309020205020404" pitchFamily="49" charset="0"/>
                <a:cs typeface="Courier New" panose="02070309020205020404" pitchFamily="49" charset="0"/>
              </a:rPr>
              <a:t>fstream</a:t>
            </a:r>
            <a:r>
              <a:rPr lang="en-US" altLang="zh-TW" dirty="0">
                <a:latin typeface="Courier New" panose="02070309020205020404" pitchFamily="49" charset="0"/>
                <a:cs typeface="Courier New" panose="02070309020205020404" pitchFamily="49" charset="0"/>
              </a:rPr>
              <a:t>&gt;</a:t>
            </a:r>
            <a:r>
              <a:rPr lang="en-US" altLang="zh-TW" dirty="0">
                <a:latin typeface="+mn-lt"/>
                <a:cs typeface="Courier New" panose="02070309020205020404" pitchFamily="49" charset="0"/>
              </a:rPr>
              <a:t>, File Functions</a:t>
            </a:r>
            <a:endParaRPr lang="zh-TW" altLang="en-US" dirty="0">
              <a:latin typeface="+mn-lt"/>
            </a:endParaRPr>
          </a:p>
        </p:txBody>
      </p:sp>
      <p:sp>
        <p:nvSpPr>
          <p:cNvPr id="2" name="內容版面配置區 1"/>
          <p:cNvSpPr>
            <a:spLocks noGrp="1"/>
          </p:cNvSpPr>
          <p:nvPr>
            <p:ph idx="1"/>
          </p:nvPr>
        </p:nvSpPr>
        <p:spPr>
          <a:xfrm>
            <a:off x="664635" y="1519684"/>
            <a:ext cx="10075084" cy="4854222"/>
          </a:xfrm>
        </p:spPr>
        <p:txBody>
          <a:bodyPr>
            <a:normAutofit fontScale="85000" lnSpcReduction="20000"/>
          </a:bodyPr>
          <a:lstStyle/>
          <a:p>
            <a:pPr>
              <a:spcBef>
                <a:spcPts val="200"/>
              </a:spcBef>
            </a:pPr>
            <a:r>
              <a:rPr lang="en-US" altLang="zh-TW" dirty="0">
                <a:latin typeface="Courier New" panose="02070309020205020404" pitchFamily="49" charset="0"/>
                <a:cs typeface="Courier New" panose="02070309020205020404" pitchFamily="49" charset="0"/>
              </a:rPr>
              <a:t>open(</a:t>
            </a:r>
            <a:r>
              <a:rPr lang="en-US" altLang="zh-TW" i="1" dirty="0">
                <a:latin typeface="Courier New" panose="02070309020205020404" pitchFamily="49" charset="0"/>
                <a:cs typeface="Courier New" panose="02070309020205020404" pitchFamily="49" charset="0"/>
              </a:rPr>
              <a:t>filename</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a:t>
            </a:r>
            <a:r>
              <a:rPr lang="en-US" altLang="zh-TW" i="1" dirty="0">
                <a:latin typeface="Courier New" panose="02070309020205020404" pitchFamily="49" charset="0"/>
                <a:cs typeface="Courier New" panose="02070309020205020404" pitchFamily="49" charset="0"/>
              </a:rPr>
              <a:t>mode</a:t>
            </a:r>
            <a:r>
              <a:rPr lang="en-US" altLang="zh-TW" dirty="0">
                <a:latin typeface="Courier New" panose="02070309020205020404" pitchFamily="49" charset="0"/>
                <a:cs typeface="Courier New" panose="02070309020205020404" pitchFamily="49" charset="0"/>
              </a:rPr>
              <a:t>)</a:t>
            </a:r>
          </a:p>
          <a:p>
            <a:pPr lvl="1">
              <a:spcBef>
                <a:spcPts val="200"/>
              </a:spcBef>
            </a:pPr>
            <a:r>
              <a:rPr lang="en-US" altLang="zh-TW" dirty="0">
                <a:cs typeface="Courier New" panose="02070309020205020404" pitchFamily="49" charset="0"/>
              </a:rPr>
              <a:t>mode</a:t>
            </a:r>
            <a:r>
              <a:rPr lang="en-US" altLang="zh-TW" dirty="0">
                <a:latin typeface="Courier New" panose="02070309020205020404" pitchFamily="49" charset="0"/>
                <a:cs typeface="Courier New" panose="02070309020205020404" pitchFamily="49" charset="0"/>
              </a:rPr>
              <a:t>: in, out, app</a:t>
            </a:r>
          </a:p>
          <a:p>
            <a:pPr>
              <a:spcBef>
                <a:spcPts val="200"/>
              </a:spcBef>
            </a:pPr>
            <a:r>
              <a:rPr lang="en-US" altLang="zh-TW" dirty="0" err="1">
                <a:latin typeface="Courier New" panose="02070309020205020404" pitchFamily="49" charset="0"/>
                <a:cs typeface="Courier New" panose="02070309020205020404" pitchFamily="49" charset="0"/>
              </a:rPr>
              <a:t>eof</a:t>
            </a:r>
            <a:r>
              <a:rPr lang="en-US" altLang="zh-TW" dirty="0">
                <a:latin typeface="Courier New" panose="02070309020205020404" pitchFamily="49" charset="0"/>
                <a:cs typeface="Courier New" panose="02070309020205020404" pitchFamily="49" charset="0"/>
              </a:rPr>
              <a:t>()</a:t>
            </a:r>
          </a:p>
          <a:p>
            <a:pPr>
              <a:spcBef>
                <a:spcPts val="200"/>
              </a:spcBef>
            </a:pPr>
            <a:r>
              <a:rPr lang="en-US" altLang="zh-TW" dirty="0">
                <a:latin typeface="Courier New" panose="02070309020205020404" pitchFamily="49" charset="0"/>
                <a:cs typeface="Courier New" panose="02070309020205020404" pitchFamily="49" charset="0"/>
              </a:rPr>
              <a:t>close()</a:t>
            </a:r>
          </a:p>
          <a:p>
            <a:pPr>
              <a:spcBef>
                <a:spcPts val="200"/>
              </a:spcBef>
            </a:pPr>
            <a:r>
              <a:rPr lang="en-US" altLang="zh-TW" dirty="0">
                <a:latin typeface="Courier New" panose="02070309020205020404" pitchFamily="49" charset="0"/>
                <a:cs typeface="Courier New" panose="02070309020205020404" pitchFamily="49" charset="0"/>
              </a:rPr>
              <a:t>fail()</a:t>
            </a:r>
          </a:p>
          <a:p>
            <a:pPr marL="109728" indent="0">
              <a:spcBef>
                <a:spcPts val="200"/>
              </a:spcBef>
              <a:buNone/>
            </a:pPr>
            <a:r>
              <a:rPr lang="en-US" altLang="zh-TW" dirty="0">
                <a:cs typeface="Courier New" panose="02070309020205020404" pitchFamily="49" charset="0"/>
              </a:rPr>
              <a:t>Example</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fstream</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oFile</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iFile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inInt</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iFile.open</a:t>
            </a:r>
            <a:r>
              <a:rPr lang="en-US" altLang="zh-TW" dirty="0">
                <a:latin typeface="Courier New" panose="02070309020205020404" pitchFamily="49" charset="0"/>
                <a:cs typeface="Courier New" panose="02070309020205020404" pitchFamily="49" charset="0"/>
              </a:rPr>
              <a:t>(“input”, </a:t>
            </a:r>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::in);</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oFile.open</a:t>
            </a:r>
            <a:r>
              <a:rPr lang="en-US" altLang="zh-TW" dirty="0">
                <a:latin typeface="Courier New" panose="02070309020205020404" pitchFamily="49" charset="0"/>
                <a:cs typeface="Courier New" panose="02070309020205020404" pitchFamily="49" charset="0"/>
              </a:rPr>
              <a:t>(“output”, </a:t>
            </a:r>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::app);</a:t>
            </a:r>
          </a:p>
          <a:p>
            <a:pPr marL="109728" indent="0">
              <a:spcBef>
                <a:spcPts val="200"/>
              </a:spcBef>
              <a:buNone/>
            </a:pPr>
            <a:r>
              <a:rPr lang="en-US" altLang="zh-TW" dirty="0">
                <a:latin typeface="Courier New" panose="02070309020205020404" pitchFamily="49" charset="0"/>
                <a:cs typeface="Courier New" panose="02070309020205020404" pitchFamily="49" charset="0"/>
              </a:rPr>
              <a:t>  if (!</a:t>
            </a:r>
            <a:r>
              <a:rPr lang="en-US" altLang="zh-TW" dirty="0" err="1">
                <a:latin typeface="Courier New" panose="02070309020205020404" pitchFamily="49" charset="0"/>
                <a:cs typeface="Courier New" panose="02070309020205020404" pitchFamily="49" charset="0"/>
              </a:rPr>
              <a:t>iFile.fail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while(!</a:t>
            </a:r>
            <a:r>
              <a:rPr lang="en-US" altLang="zh-TW" dirty="0" err="1">
                <a:latin typeface="Courier New" panose="02070309020205020404" pitchFamily="49" charset="0"/>
                <a:cs typeface="Courier New" panose="02070309020205020404" pitchFamily="49" charset="0"/>
              </a:rPr>
              <a:t>iFile.eof</a:t>
            </a:r>
            <a:r>
              <a:rPr lang="en-US" altLang="zh-TW" dirty="0">
                <a:latin typeface="Courier New" panose="02070309020205020404" pitchFamily="49" charset="0"/>
                <a:cs typeface="Courier New" panose="02070309020205020404" pitchFamily="49" charset="0"/>
              </a:rPr>
              <a:t>()) {</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iFile</a:t>
            </a:r>
            <a:r>
              <a:rPr lang="en-US" altLang="zh-TW" dirty="0">
                <a:latin typeface="Courier New" panose="02070309020205020404" pitchFamily="49" charset="0"/>
                <a:cs typeface="Courier New" panose="02070309020205020404" pitchFamily="49" charset="0"/>
              </a:rPr>
              <a:t> &gt;&gt; </a:t>
            </a:r>
            <a:r>
              <a:rPr lang="en-US" altLang="zh-TW" dirty="0" err="1">
                <a:latin typeface="Courier New" panose="02070309020205020404" pitchFamily="49" charset="0"/>
                <a:cs typeface="Courier New" panose="02070309020205020404" pitchFamily="49" charset="0"/>
              </a:rPr>
              <a:t>inInt</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oFile</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inInt</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oFile.close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iFile.close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27</a:t>
            </a:fld>
            <a:endParaRPr lang="en-US" altLang="zh-TW"/>
          </a:p>
        </p:txBody>
      </p:sp>
    </p:spTree>
    <p:extLst>
      <p:ext uri="{BB962C8B-B14F-4D97-AF65-F5344CB8AC3E}">
        <p14:creationId xmlns:p14="http://schemas.microsoft.com/office/powerpoint/2010/main" val="255414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664635" y="1864159"/>
            <a:ext cx="10075084" cy="4509747"/>
          </a:xfrm>
        </p:spPr>
        <p:txBody>
          <a:bodyPr>
            <a:normAutofit fontScale="92500" lnSpcReduction="10000"/>
          </a:bodyPr>
          <a:lstStyle/>
          <a:p>
            <a:r>
              <a:rPr lang="en-US" altLang="zh-TW" dirty="0"/>
              <a:t>Need to include &lt;</a:t>
            </a:r>
            <a:r>
              <a:rPr lang="en-US" altLang="zh-TW" dirty="0" err="1"/>
              <a:t>iomanip</a:t>
            </a:r>
            <a:r>
              <a:rPr lang="en-US" altLang="zh-TW" dirty="0"/>
              <a:t>&gt; to use manipulators</a:t>
            </a:r>
          </a:p>
          <a:p>
            <a:r>
              <a:rPr lang="en-US" altLang="zh-TW" dirty="0"/>
              <a:t>Manipulators</a:t>
            </a:r>
          </a:p>
          <a:p>
            <a:pPr lvl="1"/>
            <a:r>
              <a:rPr lang="en-US" altLang="zh-TW" dirty="0">
                <a:latin typeface="Courier New" panose="02070309020205020404" pitchFamily="49" charset="0"/>
                <a:cs typeface="Courier New" panose="02070309020205020404" pitchFamily="49" charset="0"/>
              </a:rPr>
              <a:t>hex </a:t>
            </a:r>
            <a:r>
              <a:rPr lang="en-US" altLang="zh-TW" dirty="0">
                <a:cs typeface="Courier New" panose="02070309020205020404" pitchFamily="49" charset="0"/>
              </a:rPr>
              <a:t>– display the following value in hexadecimal format</a:t>
            </a:r>
          </a:p>
          <a:p>
            <a:pPr lvl="1"/>
            <a:r>
              <a:rPr lang="en-US" altLang="zh-TW" dirty="0">
                <a:latin typeface="Courier New" panose="02070309020205020404" pitchFamily="49" charset="0"/>
                <a:cs typeface="Courier New" panose="02070309020205020404" pitchFamily="49" charset="0"/>
              </a:rPr>
              <a:t>dec</a:t>
            </a:r>
            <a:r>
              <a:rPr lang="en-US" altLang="zh-TW" dirty="0">
                <a:cs typeface="Courier New" panose="02070309020205020404" pitchFamily="49" charset="0"/>
              </a:rPr>
              <a:t> – display the following value in decimal format</a:t>
            </a:r>
          </a:p>
          <a:p>
            <a:pPr lvl="1"/>
            <a:r>
              <a:rPr lang="en-US" altLang="zh-TW" dirty="0" err="1">
                <a:latin typeface="Courier New" panose="02070309020205020404" pitchFamily="49" charset="0"/>
                <a:cs typeface="Courier New" panose="02070309020205020404" pitchFamily="49" charset="0"/>
              </a:rPr>
              <a:t>setw</a:t>
            </a:r>
            <a:r>
              <a:rPr lang="en-US" altLang="zh-TW" dirty="0">
                <a:latin typeface="Courier New" panose="02070309020205020404" pitchFamily="49" charset="0"/>
                <a:cs typeface="Courier New" panose="02070309020205020404" pitchFamily="49" charset="0"/>
              </a:rPr>
              <a:t>(</a:t>
            </a:r>
            <a:r>
              <a:rPr lang="en-US" altLang="zh-TW" i="1" dirty="0">
                <a:latin typeface="Courier New" panose="02070309020205020404" pitchFamily="49" charset="0"/>
                <a:cs typeface="Courier New" panose="02070309020205020404" pitchFamily="49" charset="0"/>
              </a:rPr>
              <a:t>width</a:t>
            </a:r>
            <a:r>
              <a:rPr lang="en-US" altLang="zh-TW" dirty="0">
                <a:latin typeface="Courier New" panose="02070309020205020404" pitchFamily="49" charset="0"/>
                <a:cs typeface="Courier New" panose="02070309020205020404" pitchFamily="49" charset="0"/>
              </a:rPr>
              <a:t>)</a:t>
            </a:r>
            <a:r>
              <a:rPr lang="en-US" altLang="zh-TW" dirty="0">
                <a:cs typeface="Courier New" panose="02070309020205020404" pitchFamily="49" charset="0"/>
              </a:rPr>
              <a:t> – display the next value in a field with the specified </a:t>
            </a:r>
            <a:r>
              <a:rPr lang="en-US" altLang="zh-TW" i="1" dirty="0">
                <a:latin typeface="Courier New" panose="02070309020205020404" pitchFamily="49" charset="0"/>
                <a:cs typeface="Courier New" panose="02070309020205020404" pitchFamily="49" charset="0"/>
              </a:rPr>
              <a:t>width</a:t>
            </a:r>
            <a:r>
              <a:rPr lang="en-US" altLang="zh-TW" i="1" dirty="0">
                <a:cs typeface="Courier New" panose="02070309020205020404" pitchFamily="49" charset="0"/>
              </a:rPr>
              <a:t> </a:t>
            </a:r>
            <a:r>
              <a:rPr lang="en-US" altLang="zh-TW" dirty="0">
                <a:cs typeface="Courier New" panose="02070309020205020404" pitchFamily="49" charset="0"/>
              </a:rPr>
              <a:t>(1 is default)</a:t>
            </a:r>
          </a:p>
          <a:p>
            <a:pPr lvl="1"/>
            <a:r>
              <a:rPr lang="en-US" altLang="zh-TW" dirty="0" err="1">
                <a:latin typeface="Courier New" panose="02070309020205020404" pitchFamily="49" charset="0"/>
                <a:cs typeface="Courier New" panose="02070309020205020404" pitchFamily="49" charset="0"/>
              </a:rPr>
              <a:t>setprecision</a:t>
            </a:r>
            <a:r>
              <a:rPr lang="en-US" altLang="zh-TW" dirty="0">
                <a:latin typeface="Courier New" panose="02070309020205020404" pitchFamily="49" charset="0"/>
                <a:cs typeface="Courier New" panose="02070309020205020404" pitchFamily="49" charset="0"/>
              </a:rPr>
              <a:t>(</a:t>
            </a:r>
            <a:r>
              <a:rPr lang="en-US" altLang="zh-TW" i="1" dirty="0">
                <a:latin typeface="Courier New" panose="02070309020205020404" pitchFamily="49" charset="0"/>
                <a:cs typeface="Courier New" panose="02070309020205020404" pitchFamily="49" charset="0"/>
              </a:rPr>
              <a:t>precision</a:t>
            </a:r>
            <a:r>
              <a:rPr lang="en-US" altLang="zh-TW" dirty="0">
                <a:latin typeface="Courier New" panose="02070309020205020404" pitchFamily="49" charset="0"/>
                <a:cs typeface="Courier New" panose="02070309020205020404" pitchFamily="49" charset="0"/>
              </a:rPr>
              <a:t>)</a:t>
            </a:r>
            <a:r>
              <a:rPr lang="en-US" altLang="zh-TW" dirty="0">
                <a:cs typeface="Courier New" panose="02070309020205020404" pitchFamily="49" charset="0"/>
              </a:rPr>
              <a:t> – display values with the specified </a:t>
            </a:r>
            <a:r>
              <a:rPr lang="en-US" altLang="zh-TW" i="1" dirty="0">
                <a:latin typeface="Courier New" panose="02070309020205020404" pitchFamily="49" charset="0"/>
                <a:cs typeface="Courier New" panose="02070309020205020404" pitchFamily="49" charset="0"/>
              </a:rPr>
              <a:t>precision</a:t>
            </a:r>
            <a:r>
              <a:rPr lang="en-US" altLang="zh-TW" dirty="0">
                <a:cs typeface="Courier New" panose="02070309020205020404" pitchFamily="49" charset="0"/>
              </a:rPr>
              <a:t> (6 is common default)</a:t>
            </a:r>
          </a:p>
          <a:p>
            <a:pPr lvl="1"/>
            <a:r>
              <a:rPr lang="en-US" altLang="zh-TW" dirty="0" err="1">
                <a:latin typeface="Courier New" panose="02070309020205020404" pitchFamily="49" charset="0"/>
                <a:cs typeface="Courier New" panose="02070309020205020404" pitchFamily="49" charset="0"/>
              </a:rPr>
              <a:t>setiosflags</a:t>
            </a:r>
            <a:r>
              <a:rPr lang="en-US" altLang="zh-TW" dirty="0">
                <a:latin typeface="Courier New" panose="02070309020205020404" pitchFamily="49" charset="0"/>
                <a:cs typeface="Courier New" panose="02070309020205020404" pitchFamily="49" charset="0"/>
              </a:rPr>
              <a:t>(</a:t>
            </a:r>
            <a:r>
              <a:rPr lang="en-US" altLang="zh-TW" i="1" dirty="0" err="1">
                <a:latin typeface="Courier New" panose="02070309020205020404" pitchFamily="49" charset="0"/>
                <a:cs typeface="Courier New" panose="02070309020205020404" pitchFamily="49" charset="0"/>
              </a:rPr>
              <a:t>flagList</a:t>
            </a:r>
            <a:r>
              <a:rPr lang="en-US" altLang="zh-TW" dirty="0">
                <a:latin typeface="Courier New" panose="02070309020205020404" pitchFamily="49" charset="0"/>
                <a:cs typeface="Courier New" panose="02070309020205020404" pitchFamily="49" charset="0"/>
              </a:rPr>
              <a:t>)</a:t>
            </a:r>
            <a:r>
              <a:rPr lang="en-US" altLang="zh-TW" dirty="0">
                <a:cs typeface="Courier New" panose="02070309020205020404" pitchFamily="49" charset="0"/>
              </a:rPr>
              <a:t> – set the formatting flags, where </a:t>
            </a:r>
            <a:r>
              <a:rPr lang="en-US" altLang="zh-TW" i="1" dirty="0" err="1">
                <a:latin typeface="Courier New" panose="02070309020205020404" pitchFamily="49" charset="0"/>
                <a:cs typeface="Courier New" panose="02070309020205020404" pitchFamily="49" charset="0"/>
              </a:rPr>
              <a:t>flagList</a:t>
            </a:r>
            <a:r>
              <a:rPr lang="en-US" altLang="zh-TW" dirty="0">
                <a:cs typeface="Courier New" panose="02070309020205020404" pitchFamily="49" charset="0"/>
              </a:rPr>
              <a:t> is a sequence of one or more flags, separated with the </a:t>
            </a:r>
            <a:r>
              <a:rPr lang="en-US" altLang="zh-TW" dirty="0">
                <a:latin typeface="Courier New" panose="02070309020205020404" pitchFamily="49" charset="0"/>
                <a:cs typeface="Courier New" panose="02070309020205020404" pitchFamily="49" charset="0"/>
              </a:rPr>
              <a:t>|</a:t>
            </a:r>
            <a:r>
              <a:rPr lang="en-US" altLang="zh-TW" dirty="0">
                <a:cs typeface="Courier New" panose="02070309020205020404" pitchFamily="49" charset="0"/>
              </a:rPr>
              <a:t> operator, where flags are</a:t>
            </a:r>
          </a:p>
          <a:p>
            <a:pPr lvl="2"/>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showpoint</a:t>
            </a:r>
            <a:r>
              <a:rPr lang="en-US" altLang="zh-TW" dirty="0">
                <a:cs typeface="Courier New" panose="02070309020205020404" pitchFamily="49" charset="0"/>
              </a:rPr>
              <a:t> – display decimal point and trailing 0’s</a:t>
            </a:r>
          </a:p>
          <a:p>
            <a:pPr lvl="2"/>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::fixed</a:t>
            </a:r>
            <a:r>
              <a:rPr lang="en-US" altLang="zh-TW" dirty="0">
                <a:cs typeface="Courier New" panose="02070309020205020404" pitchFamily="49" charset="0"/>
              </a:rPr>
              <a:t> – display real values in fixed-point</a:t>
            </a:r>
            <a:endParaRPr lang="en-US" altLang="zh-TW" dirty="0">
              <a:latin typeface="Courier New" panose="02070309020205020404" pitchFamily="49" charset="0"/>
              <a:cs typeface="Courier New" panose="02070309020205020404" pitchFamily="49" charset="0"/>
            </a:endParaRPr>
          </a:p>
          <a:p>
            <a:pPr lvl="2"/>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::scientific</a:t>
            </a:r>
            <a:r>
              <a:rPr lang="en-US" altLang="zh-TW" dirty="0">
                <a:cs typeface="Courier New" panose="02070309020205020404" pitchFamily="49" charset="0"/>
              </a:rPr>
              <a:t> – display real values in floating-point</a:t>
            </a:r>
            <a:endParaRPr lang="en-US" altLang="zh-TW" dirty="0">
              <a:latin typeface="Courier New" panose="02070309020205020404" pitchFamily="49" charset="0"/>
              <a:cs typeface="Courier New" panose="02070309020205020404" pitchFamily="49" charset="0"/>
            </a:endParaRPr>
          </a:p>
          <a:p>
            <a:pPr lvl="2"/>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::left</a:t>
            </a:r>
            <a:r>
              <a:rPr lang="en-US" altLang="zh-TW" dirty="0">
                <a:cs typeface="Courier New" panose="02070309020205020404" pitchFamily="49" charset="0"/>
              </a:rPr>
              <a:t> – display values left-justified within a field</a:t>
            </a:r>
            <a:endParaRPr lang="en-US" altLang="zh-TW" dirty="0">
              <a:latin typeface="Courier New" panose="02070309020205020404" pitchFamily="49" charset="0"/>
              <a:cs typeface="Courier New" panose="02070309020205020404" pitchFamily="49" charset="0"/>
            </a:endParaRPr>
          </a:p>
          <a:p>
            <a:pPr lvl="2"/>
            <a:r>
              <a:rPr lang="en-US" altLang="zh-TW" dirty="0" err="1">
                <a:latin typeface="Courier New" panose="02070309020205020404" pitchFamily="49" charset="0"/>
                <a:cs typeface="Courier New" panose="02070309020205020404" pitchFamily="49" charset="0"/>
              </a:rPr>
              <a:t>ios:right</a:t>
            </a:r>
            <a:r>
              <a:rPr lang="en-US" altLang="zh-TW" dirty="0">
                <a:cs typeface="Courier New" panose="02070309020205020404" pitchFamily="49" charset="0"/>
              </a:rPr>
              <a:t> – display values right-justified within a field</a:t>
            </a:r>
            <a:endParaRPr lang="en-US" altLang="zh-TW" dirty="0">
              <a:latin typeface="Courier New" panose="02070309020205020404" pitchFamily="49" charset="0"/>
              <a:cs typeface="Courier New" panose="02070309020205020404" pitchFamily="49" charset="0"/>
            </a:endParaRPr>
          </a:p>
          <a:p>
            <a:pPr lvl="2"/>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28</a:t>
            </a:fld>
            <a:endParaRPr lang="en-US" altLang="zh-TW"/>
          </a:p>
        </p:txBody>
      </p:sp>
      <p:sp>
        <p:nvSpPr>
          <p:cNvPr id="4" name="標題 3"/>
          <p:cNvSpPr>
            <a:spLocks noGrp="1"/>
          </p:cNvSpPr>
          <p:nvPr>
            <p:ph type="title"/>
          </p:nvPr>
        </p:nvSpPr>
        <p:spPr/>
        <p:txBody>
          <a:bodyPr/>
          <a:lstStyle/>
          <a:p>
            <a:r>
              <a:rPr lang="en-US" altLang="zh-TW" dirty="0"/>
              <a:t>Output Formatting</a:t>
            </a:r>
            <a:endParaRPr lang="zh-TW" altLang="en-US" dirty="0"/>
          </a:p>
        </p:txBody>
      </p:sp>
    </p:spTree>
    <p:extLst>
      <p:ext uri="{BB962C8B-B14F-4D97-AF65-F5344CB8AC3E}">
        <p14:creationId xmlns:p14="http://schemas.microsoft.com/office/powerpoint/2010/main" val="2084283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Formatted Output Examples</a:t>
            </a:r>
            <a:endParaRPr lang="zh-TW" altLang="en-US" dirty="0"/>
          </a:p>
        </p:txBody>
      </p:sp>
      <p:sp>
        <p:nvSpPr>
          <p:cNvPr id="2" name="內容版面配置區 1"/>
          <p:cNvSpPr>
            <a:spLocks noGrp="1"/>
          </p:cNvSpPr>
          <p:nvPr>
            <p:ph idx="1"/>
          </p:nvPr>
        </p:nvSpPr>
        <p:spPr>
          <a:xfrm>
            <a:off x="664635" y="1512711"/>
            <a:ext cx="10075084" cy="4763911"/>
          </a:xfrm>
        </p:spPr>
        <p:txBody>
          <a:bodyPr>
            <a:normAutofit fontScale="92500" lnSpcReduction="20000"/>
          </a:bodyPr>
          <a:lstStyle/>
          <a:p>
            <a:pPr marL="109728" indent="0">
              <a:spcBef>
                <a:spcPts val="200"/>
              </a:spcBef>
              <a:buNone/>
            </a:pPr>
            <a:r>
              <a:rPr lang="en-US" altLang="zh-TW" dirty="0">
                <a:latin typeface="Courier New" panose="02070309020205020404" pitchFamily="49" charset="0"/>
                <a:cs typeface="Courier New" panose="02070309020205020404" pitchFamily="49" charset="0"/>
              </a:rPr>
              <a:t>double Alpha = 8.0/3.0, Beta = 9.0/3.0;</a:t>
            </a:r>
          </a:p>
          <a:p>
            <a:pPr marL="109728" indent="0">
              <a:spcBef>
                <a:spcPts val="200"/>
              </a:spcBef>
              <a:buNone/>
            </a:pP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“\n(” &lt;&lt; Alpha &lt;&lt; “)”</a:t>
            </a:r>
          </a:p>
          <a:p>
            <a:pPr marL="109728" indent="0">
              <a:spcBef>
                <a:spcPts val="200"/>
              </a:spcBef>
              <a:buNone/>
            </a:pPr>
            <a:r>
              <a:rPr lang="en-US" altLang="zh-TW" dirty="0">
                <a:latin typeface="Courier New" panose="02070309020205020404" pitchFamily="49" charset="0"/>
                <a:cs typeface="Courier New" panose="02070309020205020404" pitchFamily="49" charset="0"/>
              </a:rPr>
              <a:t>     &lt;&lt; “\n(“ &lt;&lt; Beta &lt;&lt; “)\n”;</a:t>
            </a:r>
          </a:p>
          <a:p>
            <a:pPr marL="109728" indent="0">
              <a:spcBef>
                <a:spcPts val="200"/>
              </a:spcBef>
              <a:buNone/>
            </a:pP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setiosflags</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showpoint|ios</a:t>
            </a:r>
            <a:r>
              <a:rPr lang="en-US" altLang="zh-TW" dirty="0">
                <a:latin typeface="Courier New" panose="02070309020205020404" pitchFamily="49" charset="0"/>
                <a:cs typeface="Courier New" panose="02070309020205020404" pitchFamily="49" charset="0"/>
              </a:rPr>
              <a:t>::fixed)</a:t>
            </a:r>
          </a:p>
          <a:p>
            <a:pPr marL="109728" indent="0">
              <a:spcBef>
                <a:spcPts val="200"/>
              </a:spcBef>
              <a:buNone/>
            </a:pPr>
            <a:r>
              <a:rPr lang="en-US" altLang="zh-TW" dirty="0">
                <a:latin typeface="Courier New" panose="02070309020205020404" pitchFamily="49" charset="0"/>
                <a:cs typeface="Courier New" panose="02070309020205020404" pitchFamily="49" charset="0"/>
              </a:rPr>
              <a:t>     &lt;&lt; “\n(” &lt;&lt; Alpha &lt;&lt; “)”</a:t>
            </a:r>
          </a:p>
          <a:p>
            <a:pPr marL="109728" indent="0">
              <a:spcBef>
                <a:spcPts val="200"/>
              </a:spcBef>
              <a:buNone/>
            </a:pPr>
            <a:r>
              <a:rPr lang="en-US" altLang="zh-TW" dirty="0">
                <a:latin typeface="Courier New" panose="02070309020205020404" pitchFamily="49" charset="0"/>
                <a:cs typeface="Courier New" panose="02070309020205020404" pitchFamily="49" charset="0"/>
              </a:rPr>
              <a:t>     &lt;&lt; “\n(“ &lt;&lt; Beta &lt;&lt; “)\n”;</a:t>
            </a:r>
          </a:p>
          <a:p>
            <a:pPr marL="109728" indent="0">
              <a:spcBef>
                <a:spcPts val="200"/>
              </a:spcBef>
              <a:buNone/>
            </a:pP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setiosflags</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ios</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showpoint|ios</a:t>
            </a:r>
            <a:r>
              <a:rPr lang="en-US" altLang="zh-TW" dirty="0">
                <a:latin typeface="Courier New" panose="02070309020205020404" pitchFamily="49" charset="0"/>
                <a:cs typeface="Courier New" panose="02070309020205020404" pitchFamily="49" charset="0"/>
              </a:rPr>
              <a:t>::fixed)</a:t>
            </a:r>
          </a:p>
          <a:p>
            <a:pPr marL="109728" indent="0">
              <a:spcBef>
                <a:spcPts val="200"/>
              </a:spcBef>
              <a:buNone/>
            </a:pP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setprecision</a:t>
            </a:r>
            <a:r>
              <a:rPr lang="en-US" altLang="zh-TW" dirty="0">
                <a:latin typeface="Courier New" panose="02070309020205020404" pitchFamily="49" charset="0"/>
                <a:cs typeface="Courier New" panose="02070309020205020404" pitchFamily="49" charset="0"/>
              </a:rPr>
              <a:t>(3)</a:t>
            </a:r>
          </a:p>
          <a:p>
            <a:pPr marL="109728" indent="0">
              <a:spcBef>
                <a:spcPts val="200"/>
              </a:spcBef>
              <a:buNone/>
            </a:pPr>
            <a:r>
              <a:rPr lang="en-US" altLang="zh-TW" dirty="0">
                <a:latin typeface="Courier New" panose="02070309020205020404" pitchFamily="49" charset="0"/>
                <a:cs typeface="Courier New" panose="02070309020205020404" pitchFamily="49" charset="0"/>
              </a:rPr>
              <a:t>     &lt;&lt; “\n(” &lt;&lt; Alpha &lt;&lt; “)”</a:t>
            </a:r>
          </a:p>
          <a:p>
            <a:pPr marL="109728" indent="0">
              <a:spcBef>
                <a:spcPts val="200"/>
              </a:spcBef>
              <a:buNone/>
            </a:pPr>
            <a:r>
              <a:rPr lang="en-US" altLang="zh-TW" dirty="0">
                <a:latin typeface="Courier New" panose="02070309020205020404" pitchFamily="49" charset="0"/>
                <a:cs typeface="Courier New" panose="02070309020205020404" pitchFamily="49" charset="0"/>
              </a:rPr>
              <a:t>     &lt;&lt; “\n(“ &lt;&lt; </a:t>
            </a:r>
            <a:r>
              <a:rPr lang="en-US" altLang="zh-TW" dirty="0" err="1">
                <a:latin typeface="Courier New" panose="02070309020205020404" pitchFamily="49" charset="0"/>
                <a:cs typeface="Courier New" panose="02070309020205020404" pitchFamily="49" charset="0"/>
              </a:rPr>
              <a:t>setw</a:t>
            </a:r>
            <a:r>
              <a:rPr lang="en-US" altLang="zh-TW" dirty="0">
                <a:latin typeface="Courier New" panose="02070309020205020404" pitchFamily="49" charset="0"/>
                <a:cs typeface="Courier New" panose="02070309020205020404" pitchFamily="49" charset="0"/>
              </a:rPr>
              <a:t>(10) &lt;&lt; Beta &lt;&lt; “)\n”;</a:t>
            </a: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b="1" dirty="0">
                <a:cs typeface="Courier New" panose="02070309020205020404" pitchFamily="49" charset="0"/>
              </a:rPr>
              <a:t>Output is:</a:t>
            </a:r>
          </a:p>
          <a:p>
            <a:pPr marL="109728" indent="0">
              <a:spcBef>
                <a:spcPts val="200"/>
              </a:spcBef>
              <a:buNone/>
            </a:pPr>
            <a:r>
              <a:rPr lang="en-US" altLang="zh-TW" dirty="0">
                <a:latin typeface="Courier New" panose="02070309020205020404" pitchFamily="49" charset="0"/>
                <a:cs typeface="Courier New" panose="02070309020205020404" pitchFamily="49" charset="0"/>
              </a:rPr>
              <a:t>   (2.666667)</a:t>
            </a:r>
          </a:p>
          <a:p>
            <a:pPr marL="109728" indent="0">
              <a:spcBef>
                <a:spcPts val="200"/>
              </a:spcBef>
              <a:buNone/>
            </a:pPr>
            <a:r>
              <a:rPr lang="en-US" altLang="zh-TW" dirty="0">
                <a:latin typeface="Courier New" panose="02070309020205020404" pitchFamily="49" charset="0"/>
                <a:cs typeface="Courier New" panose="02070309020205020404" pitchFamily="49" charset="0"/>
              </a:rPr>
              <a:t>   (3)</a:t>
            </a:r>
          </a:p>
          <a:p>
            <a:pPr marL="109728" indent="0">
              <a:spcBef>
                <a:spcPts val="200"/>
              </a:spcBef>
              <a:buNone/>
            </a:pPr>
            <a:r>
              <a:rPr lang="en-US" altLang="zh-TW" dirty="0">
                <a:latin typeface="Courier New" panose="02070309020205020404" pitchFamily="49" charset="0"/>
                <a:cs typeface="Courier New" panose="02070309020205020404" pitchFamily="49" charset="0"/>
              </a:rPr>
              <a:t>   (2.66667)</a:t>
            </a:r>
          </a:p>
          <a:p>
            <a:pPr marL="109728" indent="0">
              <a:spcBef>
                <a:spcPts val="200"/>
              </a:spcBef>
              <a:buNone/>
            </a:pPr>
            <a:r>
              <a:rPr lang="en-US" altLang="zh-TW" dirty="0">
                <a:latin typeface="Courier New" panose="02070309020205020404" pitchFamily="49" charset="0"/>
                <a:cs typeface="Courier New" panose="02070309020205020404" pitchFamily="49" charset="0"/>
              </a:rPr>
              <a:t>   (3.00000)</a:t>
            </a:r>
          </a:p>
          <a:p>
            <a:pPr marL="109728" indent="0">
              <a:spcBef>
                <a:spcPts val="200"/>
              </a:spcBef>
              <a:buNone/>
            </a:pPr>
            <a:r>
              <a:rPr lang="en-US" altLang="zh-TW" dirty="0">
                <a:latin typeface="Courier New" panose="02070309020205020404" pitchFamily="49" charset="0"/>
                <a:cs typeface="Courier New" panose="02070309020205020404" pitchFamily="49" charset="0"/>
              </a:rPr>
              <a:t>   (2.667)</a:t>
            </a:r>
          </a:p>
          <a:p>
            <a:pPr marL="109728" indent="0">
              <a:spcBef>
                <a:spcPts val="200"/>
              </a:spcBef>
              <a:buNone/>
            </a:pPr>
            <a:r>
              <a:rPr lang="en-US" altLang="zh-TW" dirty="0">
                <a:latin typeface="Courier New" panose="02070309020205020404" pitchFamily="49" charset="0"/>
                <a:cs typeface="Courier New" panose="02070309020205020404" pitchFamily="49" charset="0"/>
              </a:rPr>
              <a:t>   (          3.000)</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29</a:t>
            </a:fld>
            <a:endParaRPr lang="en-US" altLang="zh-TW"/>
          </a:p>
        </p:txBody>
      </p:sp>
    </p:spTree>
    <p:extLst>
      <p:ext uri="{BB962C8B-B14F-4D97-AF65-F5344CB8AC3E}">
        <p14:creationId xmlns:p14="http://schemas.microsoft.com/office/powerpoint/2010/main" val="1404603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4</a:t>
            </a:r>
            <a:br>
              <a:rPr lang="en-US" altLang="zh-TW" sz="3600" dirty="0"/>
            </a:br>
            <a:r>
              <a:rPr lang="en-US" altLang="zh-TW" sz="3600" dirty="0"/>
              <a:t>Operator Overloading</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30</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3663658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dirty="0"/>
              <a:t>Assignment operator is one of the operator </a:t>
            </a:r>
            <a:r>
              <a:rPr lang="en-US" altLang="zh-TW" dirty="0" err="1"/>
              <a:t>overloadings</a:t>
            </a:r>
            <a:endParaRPr lang="en-US" altLang="zh-TW" dirty="0"/>
          </a:p>
          <a:p>
            <a:r>
              <a:rPr lang="en-US" altLang="zh-TW" dirty="0"/>
              <a:t>Its return type can either referenced or not, i.e. </a:t>
            </a:r>
            <a:r>
              <a:rPr lang="en-US" altLang="zh-TW" dirty="0">
                <a:latin typeface="Courier New" panose="02070309020205020404" pitchFamily="49" charset="0"/>
                <a:cs typeface="Courier New" panose="02070309020205020404" pitchFamily="49" charset="0"/>
              </a:rPr>
              <a:t>&amp;</a:t>
            </a:r>
            <a:r>
              <a:rPr lang="en-US" altLang="zh-TW" dirty="0"/>
              <a:t> or no </a:t>
            </a:r>
            <a:r>
              <a:rPr lang="en-US" altLang="zh-TW" dirty="0">
                <a:latin typeface="Courier New" panose="02070309020205020404" pitchFamily="49" charset="0"/>
                <a:cs typeface="Courier New" panose="02070309020205020404" pitchFamily="49" charset="0"/>
              </a:rPr>
              <a:t>&amp;</a:t>
            </a:r>
          </a:p>
          <a:p>
            <a:pPr marL="109728" indent="0">
              <a:spcBef>
                <a:spcPts val="200"/>
              </a:spcBef>
              <a:buNone/>
            </a:pPr>
            <a:r>
              <a:rPr lang="en-US" altLang="zh-TW" dirty="0">
                <a:latin typeface="Courier New" panose="02070309020205020404" pitchFamily="49" charset="0"/>
                <a:cs typeface="Courier New" panose="02070309020205020404" pitchFamily="49" charset="0"/>
              </a:rPr>
              <a:t>List&amp; operator=(</a:t>
            </a:r>
            <a:r>
              <a:rPr lang="en-US" altLang="zh-TW" dirty="0" err="1">
                <a:latin typeface="Courier New" panose="02070309020205020404" pitchFamily="49" charset="0"/>
                <a:cs typeface="Courier New" panose="02070309020205020404" pitchFamily="49" charset="0"/>
              </a:rPr>
              <a:t>const</a:t>
            </a:r>
            <a:r>
              <a:rPr lang="en-US" altLang="zh-TW" dirty="0">
                <a:latin typeface="Courier New" panose="02070309020205020404" pitchFamily="49" charset="0"/>
                <a:cs typeface="Courier New" panose="02070309020205020404" pitchFamily="49" charset="0"/>
              </a:rPr>
              <a:t> List&amp;);</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List&amp; List::operator=(</a:t>
            </a:r>
            <a:r>
              <a:rPr lang="en-US" altLang="zh-TW" dirty="0" err="1">
                <a:latin typeface="Courier New" panose="02070309020205020404" pitchFamily="49" charset="0"/>
                <a:cs typeface="Courier New" panose="02070309020205020404" pitchFamily="49" charset="0"/>
              </a:rPr>
              <a:t>const</a:t>
            </a:r>
            <a:r>
              <a:rPr lang="en-US" altLang="zh-TW" dirty="0">
                <a:latin typeface="Courier New" panose="02070309020205020404" pitchFamily="49" charset="0"/>
                <a:cs typeface="Courier New" panose="02070309020205020404" pitchFamily="49" charset="0"/>
              </a:rPr>
              <a:t> List &amp;list)</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i="1" dirty="0">
                <a:latin typeface="Courier New" panose="02070309020205020404" pitchFamily="49" charset="0"/>
                <a:cs typeface="Courier New" panose="02070309020205020404" pitchFamily="49" charset="0"/>
              </a:rPr>
              <a:t>statements</a:t>
            </a:r>
          </a:p>
          <a:p>
            <a:pPr marL="109728" indent="0">
              <a:spcBef>
                <a:spcPts val="200"/>
              </a:spcBef>
              <a:buNone/>
            </a:pPr>
            <a:endParaRPr lang="en-US" altLang="zh-TW" i="1"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return *this;</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31</a:t>
            </a:fld>
            <a:endParaRPr lang="en-US" altLang="zh-TW"/>
          </a:p>
        </p:txBody>
      </p:sp>
      <p:sp>
        <p:nvSpPr>
          <p:cNvPr id="4" name="標題 3"/>
          <p:cNvSpPr>
            <a:spLocks noGrp="1"/>
          </p:cNvSpPr>
          <p:nvPr>
            <p:ph type="title"/>
          </p:nvPr>
        </p:nvSpPr>
        <p:spPr/>
        <p:txBody>
          <a:bodyPr/>
          <a:lstStyle/>
          <a:p>
            <a:r>
              <a:rPr lang="en-US" altLang="zh-TW" dirty="0"/>
              <a:t>Assignment Operator</a:t>
            </a:r>
            <a:endParaRPr lang="zh-TW" altLang="en-US" dirty="0"/>
          </a:p>
        </p:txBody>
      </p:sp>
    </p:spTree>
    <p:extLst>
      <p:ext uri="{BB962C8B-B14F-4D97-AF65-F5344CB8AC3E}">
        <p14:creationId xmlns:p14="http://schemas.microsoft.com/office/powerpoint/2010/main" val="1774463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a:t>
            </a:r>
            <a:r>
              <a:rPr lang="en-US" altLang="zh-TW" dirty="0"/>
              <a:t> Overloading</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70000" lnSpcReduction="20000"/>
          </a:bodyPr>
          <a:lstStyle/>
          <a:p>
            <a:pPr>
              <a:spcBef>
                <a:spcPts val="200"/>
              </a:spcBef>
            </a:pPr>
            <a:r>
              <a:rPr lang="en-US" altLang="zh-TW" sz="2600" dirty="0">
                <a:latin typeface="Courier New" panose="02070309020205020404" pitchFamily="49" charset="0"/>
                <a:cs typeface="Courier New" panose="02070309020205020404" pitchFamily="49" charset="0"/>
              </a:rPr>
              <a:t>+</a:t>
            </a:r>
            <a:r>
              <a:rPr lang="en-US" altLang="zh-TW" sz="2600" dirty="0"/>
              <a:t> is a binary operator. However, its operation is to evaluate, and then the class returned is used to update. This is a member function of the class, so class resolution is needed</a:t>
            </a:r>
          </a:p>
          <a:p>
            <a:pPr>
              <a:spcBef>
                <a:spcPts val="200"/>
              </a:spcBef>
            </a:pPr>
            <a:r>
              <a:rPr lang="en-US" altLang="zh-TW" sz="2600" dirty="0"/>
              <a:t>Its return type cannot be a reference, i.e. </a:t>
            </a:r>
            <a:r>
              <a:rPr lang="en-US" altLang="zh-TW" sz="2600" dirty="0">
                <a:latin typeface="Courier New" panose="02070309020205020404" pitchFamily="49" charset="0"/>
                <a:cs typeface="Courier New" panose="02070309020205020404" pitchFamily="49" charset="0"/>
              </a:rPr>
              <a:t>&amp;</a:t>
            </a: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endParaRPr lang="en-US" altLang="zh-TW" sz="2600" dirty="0">
              <a:latin typeface="Courier New" panose="02070309020205020404" pitchFamily="49" charset="0"/>
              <a:cs typeface="Courier New" panose="02070309020205020404" pitchFamily="49" charset="0"/>
            </a:endParaRPr>
          </a:p>
          <a:p>
            <a:pPr marL="109728" indent="0">
              <a:spcBef>
                <a:spcPts val="200"/>
              </a:spcBef>
              <a:buNone/>
            </a:pPr>
            <a:r>
              <a:rPr lang="en-US" altLang="zh-TW" sz="2600" dirty="0">
                <a:latin typeface="Courier New" panose="02070309020205020404" pitchFamily="49" charset="0"/>
                <a:cs typeface="Courier New" panose="02070309020205020404" pitchFamily="49" charset="0"/>
              </a:rPr>
              <a:t>// member function declaration</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List operator+(</a:t>
            </a:r>
            <a:r>
              <a:rPr lang="en-US" altLang="zh-TW" sz="2600" dirty="0" err="1">
                <a:latin typeface="Courier New" panose="02070309020205020404" pitchFamily="49" charset="0"/>
                <a:cs typeface="Courier New" panose="02070309020205020404" pitchFamily="49" charset="0"/>
              </a:rPr>
              <a:t>const</a:t>
            </a:r>
            <a:r>
              <a:rPr lang="en-US" altLang="zh-TW" sz="2600" dirty="0">
                <a:latin typeface="Courier New" panose="02070309020205020404" pitchFamily="49" charset="0"/>
                <a:cs typeface="Courier New" panose="02070309020205020404" pitchFamily="49" charset="0"/>
              </a:rPr>
              <a:t> List&amp;);</a:t>
            </a:r>
          </a:p>
          <a:p>
            <a:pPr marL="109728" indent="0">
              <a:spcBef>
                <a:spcPts val="200"/>
              </a:spcBef>
              <a:buNone/>
            </a:pPr>
            <a:endParaRPr lang="en-US" altLang="zh-TW" sz="2600" dirty="0">
              <a:latin typeface="Courier New" panose="02070309020205020404" pitchFamily="49" charset="0"/>
              <a:cs typeface="Courier New" panose="02070309020205020404" pitchFamily="49" charset="0"/>
            </a:endParaRPr>
          </a:p>
          <a:p>
            <a:pPr marL="109728" indent="0">
              <a:spcBef>
                <a:spcPts val="200"/>
              </a:spcBef>
              <a:buNone/>
            </a:pPr>
            <a:r>
              <a:rPr lang="en-US" altLang="zh-TW" sz="2600" dirty="0">
                <a:latin typeface="Courier New" panose="02070309020205020404" pitchFamily="49" charset="0"/>
                <a:cs typeface="Courier New" panose="02070309020205020404" pitchFamily="49" charset="0"/>
              </a:rPr>
              <a:t>// implementation</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List List::operator+(</a:t>
            </a:r>
            <a:r>
              <a:rPr lang="en-US" altLang="zh-TW" sz="2600" dirty="0" err="1">
                <a:latin typeface="Courier New" panose="02070309020205020404" pitchFamily="49" charset="0"/>
                <a:cs typeface="Courier New" panose="02070309020205020404" pitchFamily="49" charset="0"/>
              </a:rPr>
              <a:t>const</a:t>
            </a:r>
            <a:r>
              <a:rPr lang="en-US" altLang="zh-TW" sz="2600" dirty="0">
                <a:latin typeface="Courier New" panose="02070309020205020404" pitchFamily="49" charset="0"/>
                <a:cs typeface="Courier New" panose="02070309020205020404" pitchFamily="49" charset="0"/>
              </a:rPr>
              <a:t> List &amp;other) {</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unsigned </a:t>
            </a:r>
            <a:r>
              <a:rPr lang="en-US" altLang="zh-TW" sz="2600" dirty="0" err="1">
                <a:latin typeface="Courier New" panose="02070309020205020404" pitchFamily="49" charset="0"/>
                <a:cs typeface="Courier New" panose="02070309020205020404" pitchFamily="49" charset="0"/>
              </a:rPr>
              <a:t>int</a:t>
            </a:r>
            <a:r>
              <a:rPr lang="en-US" altLang="zh-TW" sz="2600" dirty="0">
                <a:latin typeface="Courier New" panose="02070309020205020404" pitchFamily="49" charset="0"/>
                <a:cs typeface="Courier New" panose="02070309020205020404" pitchFamily="49" charset="0"/>
              </a:rPr>
              <a:t> loop =</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_Size &lt; </a:t>
            </a:r>
            <a:r>
              <a:rPr lang="en-US" altLang="zh-TW" sz="2600" dirty="0" err="1">
                <a:latin typeface="Courier New" panose="02070309020205020404" pitchFamily="49" charset="0"/>
                <a:cs typeface="Courier New" panose="02070309020205020404" pitchFamily="49" charset="0"/>
              </a:rPr>
              <a:t>other._Size</a:t>
            </a:r>
            <a:r>
              <a:rPr lang="en-US" altLang="zh-TW" sz="2600" dirty="0">
                <a:latin typeface="Courier New" panose="02070309020205020404" pitchFamily="49" charset="0"/>
                <a:cs typeface="Courier New" panose="02070309020205020404" pitchFamily="49" charset="0"/>
              </a:rPr>
              <a:t> ? _</a:t>
            </a:r>
            <a:r>
              <a:rPr lang="en-US" altLang="zh-TW" sz="2600" dirty="0" err="1">
                <a:latin typeface="Courier New" panose="02070309020205020404" pitchFamily="49" charset="0"/>
                <a:cs typeface="Courier New" panose="02070309020205020404" pitchFamily="49" charset="0"/>
              </a:rPr>
              <a:t>Size:other</a:t>
            </a:r>
            <a:r>
              <a:rPr lang="en-US" altLang="zh-TW" sz="2600" dirty="0">
                <a:latin typeface="Courier New" panose="02070309020205020404" pitchFamily="49" charset="0"/>
                <a:cs typeface="Courier New" panose="02070309020205020404" pitchFamily="49" charset="0"/>
              </a:rPr>
              <a:t>._Size;</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 create a return object is required</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List </a:t>
            </a:r>
            <a:r>
              <a:rPr lang="en-US" altLang="zh-TW" sz="2600" dirty="0" err="1">
                <a:latin typeface="Courier New" panose="02070309020205020404" pitchFamily="49" charset="0"/>
                <a:cs typeface="Courier New" panose="02070309020205020404" pitchFamily="49" charset="0"/>
              </a:rPr>
              <a:t>lt</a:t>
            </a:r>
            <a:r>
              <a:rPr lang="en-US" altLang="zh-TW" sz="2600" dirty="0">
                <a:latin typeface="Courier New" panose="02070309020205020404" pitchFamily="49" charset="0"/>
                <a:cs typeface="Courier New" panose="02070309020205020404" pitchFamily="49" charset="0"/>
              </a:rPr>
              <a:t>(loop);</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for (</a:t>
            </a:r>
            <a:r>
              <a:rPr lang="en-US" altLang="zh-TW" sz="2600" dirty="0" err="1">
                <a:latin typeface="Courier New" panose="02070309020205020404" pitchFamily="49" charset="0"/>
                <a:cs typeface="Courier New" panose="02070309020205020404" pitchFamily="49" charset="0"/>
              </a:rPr>
              <a:t>int</a:t>
            </a:r>
            <a:r>
              <a:rPr lang="en-US" altLang="zh-TW" sz="2600" dirty="0">
                <a:latin typeface="Courier New" panose="02070309020205020404" pitchFamily="49" charset="0"/>
                <a:cs typeface="Courier New" panose="02070309020205020404" pitchFamily="49" charset="0"/>
              </a:rPr>
              <a:t> </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 0; </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&lt; loop; </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a:t>
            </a:r>
            <a:r>
              <a:rPr lang="en-US" altLang="zh-TW" sz="2600" dirty="0" err="1">
                <a:latin typeface="Courier New" panose="02070309020205020404" pitchFamily="49" charset="0"/>
                <a:cs typeface="Courier New" panose="02070309020205020404" pitchFamily="49" charset="0"/>
              </a:rPr>
              <a:t>lt</a:t>
            </a:r>
            <a:r>
              <a:rPr lang="en-US" altLang="zh-TW" sz="2600" dirty="0">
                <a:latin typeface="Courier New" panose="02070309020205020404" pitchFamily="49" charset="0"/>
                <a:cs typeface="Courier New" panose="02070309020205020404" pitchFamily="49" charset="0"/>
              </a:rPr>
              <a:t>._Array[</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 _Array[</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 </a:t>
            </a:r>
            <a:r>
              <a:rPr lang="en-US" altLang="zh-TW" sz="2600" dirty="0" err="1">
                <a:latin typeface="Courier New" panose="02070309020205020404" pitchFamily="49" charset="0"/>
                <a:cs typeface="Courier New" panose="02070309020205020404" pitchFamily="49" charset="0"/>
              </a:rPr>
              <a:t>other._Array</a:t>
            </a:r>
            <a:r>
              <a:rPr lang="en-US" altLang="zh-TW" sz="2600" dirty="0">
                <a:latin typeface="Courier New" panose="02070309020205020404" pitchFamily="49" charset="0"/>
                <a:cs typeface="Courier New" panose="02070309020205020404" pitchFamily="49" charset="0"/>
              </a:rPr>
              <a:t>[</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2600" dirty="0">
              <a:latin typeface="Courier New" panose="02070309020205020404" pitchFamily="49" charset="0"/>
              <a:cs typeface="Courier New" panose="02070309020205020404" pitchFamily="49" charset="0"/>
            </a:endParaRPr>
          </a:p>
          <a:p>
            <a:pPr marL="109728" indent="0">
              <a:spcBef>
                <a:spcPts val="200"/>
              </a:spcBef>
              <a:buNone/>
            </a:pPr>
            <a:r>
              <a:rPr lang="en-US" altLang="zh-TW" sz="2600" dirty="0">
                <a:latin typeface="Courier New" panose="02070309020205020404" pitchFamily="49" charset="0"/>
                <a:cs typeface="Courier New" panose="02070309020205020404" pitchFamily="49" charset="0"/>
              </a:rPr>
              <a:t>    return </a:t>
            </a:r>
            <a:r>
              <a:rPr lang="en-US" altLang="zh-TW" sz="2600" dirty="0" err="1">
                <a:latin typeface="Courier New" panose="02070309020205020404" pitchFamily="49" charset="0"/>
                <a:cs typeface="Courier New" panose="02070309020205020404" pitchFamily="49" charset="0"/>
              </a:rPr>
              <a:t>lt</a:t>
            </a:r>
            <a:r>
              <a:rPr lang="en-US" altLang="zh-TW" sz="26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32</a:t>
            </a:fld>
            <a:endParaRPr lang="en-US" altLang="zh-TW"/>
          </a:p>
        </p:txBody>
      </p:sp>
    </p:spTree>
    <p:extLst>
      <p:ext uri="{BB962C8B-B14F-4D97-AF65-F5344CB8AC3E}">
        <p14:creationId xmlns:p14="http://schemas.microsoft.com/office/powerpoint/2010/main" val="3074821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281D6-4279-DC00-AB5A-B9944B44C548}"/>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5B19E082-282A-14F5-944D-9ADF7ACC4032}"/>
              </a:ext>
            </a:extLst>
          </p:cNvPr>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a:t>
            </a:r>
            <a:r>
              <a:rPr lang="en-US" altLang="zh-TW" dirty="0"/>
              <a:t> Overloading</a:t>
            </a:r>
            <a:endParaRPr lang="zh-TW" altLang="en-US" dirty="0"/>
          </a:p>
        </p:txBody>
      </p:sp>
      <p:sp>
        <p:nvSpPr>
          <p:cNvPr id="2" name="內容版面配置區 1">
            <a:extLst>
              <a:ext uri="{FF2B5EF4-FFF2-40B4-BE49-F238E27FC236}">
                <a16:creationId xmlns:a16="http://schemas.microsoft.com/office/drawing/2014/main" id="{37A72511-DBB2-DCB0-0AE1-6DEF23AC9B15}"/>
              </a:ext>
            </a:extLst>
          </p:cNvPr>
          <p:cNvSpPr>
            <a:spLocks noGrp="1"/>
          </p:cNvSpPr>
          <p:nvPr>
            <p:ph idx="1"/>
          </p:nvPr>
        </p:nvSpPr>
        <p:spPr>
          <a:xfrm>
            <a:off x="664635" y="1600201"/>
            <a:ext cx="10075084" cy="4525968"/>
          </a:xfrm>
        </p:spPr>
        <p:txBody>
          <a:bodyPr>
            <a:normAutofit fontScale="70000" lnSpcReduction="20000"/>
          </a:bodyPr>
          <a:lstStyle/>
          <a:p>
            <a:pPr>
              <a:spcBef>
                <a:spcPts val="200"/>
              </a:spcBef>
            </a:pPr>
            <a:r>
              <a:rPr lang="en-US" altLang="zh-TW" sz="2600" dirty="0">
                <a:latin typeface="Courier New" panose="02070309020205020404" pitchFamily="49" charset="0"/>
                <a:cs typeface="Courier New" panose="02070309020205020404" pitchFamily="49" charset="0"/>
              </a:rPr>
              <a:t>-</a:t>
            </a:r>
            <a:r>
              <a:rPr lang="en-US" altLang="zh-TW" sz="2600" dirty="0"/>
              <a:t> is a binary operator. However, its operation is to evaluate, and then the class returned is used to update. This is a member function of the class, so class resolution is needed</a:t>
            </a:r>
          </a:p>
          <a:p>
            <a:pPr>
              <a:spcBef>
                <a:spcPts val="200"/>
              </a:spcBef>
            </a:pPr>
            <a:r>
              <a:rPr lang="en-US" altLang="zh-TW" sz="2600" dirty="0"/>
              <a:t>Its return type cannot be a reference, i.e. </a:t>
            </a:r>
            <a:r>
              <a:rPr lang="en-US" altLang="zh-TW" sz="2600" dirty="0">
                <a:latin typeface="Courier New" panose="02070309020205020404" pitchFamily="49" charset="0"/>
                <a:cs typeface="Courier New" panose="02070309020205020404" pitchFamily="49" charset="0"/>
              </a:rPr>
              <a:t>&amp;</a:t>
            </a: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endParaRPr lang="en-US" altLang="zh-TW" sz="2600" dirty="0">
              <a:latin typeface="Courier New" panose="02070309020205020404" pitchFamily="49" charset="0"/>
              <a:cs typeface="Courier New" panose="02070309020205020404" pitchFamily="49" charset="0"/>
            </a:endParaRPr>
          </a:p>
          <a:p>
            <a:pPr marL="109728" indent="0">
              <a:spcBef>
                <a:spcPts val="200"/>
              </a:spcBef>
              <a:buNone/>
            </a:pPr>
            <a:r>
              <a:rPr lang="en-US" altLang="zh-TW" sz="2600" dirty="0">
                <a:latin typeface="Courier New" panose="02070309020205020404" pitchFamily="49" charset="0"/>
                <a:cs typeface="Courier New" panose="02070309020205020404" pitchFamily="49" charset="0"/>
              </a:rPr>
              <a:t>// member function declaration</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List operator-(const List&amp;);</a:t>
            </a:r>
          </a:p>
          <a:p>
            <a:pPr marL="109728" indent="0">
              <a:spcBef>
                <a:spcPts val="200"/>
              </a:spcBef>
              <a:buNone/>
            </a:pPr>
            <a:endParaRPr lang="en-US" altLang="zh-TW" sz="2600" dirty="0">
              <a:latin typeface="Courier New" panose="02070309020205020404" pitchFamily="49" charset="0"/>
              <a:cs typeface="Courier New" panose="02070309020205020404" pitchFamily="49" charset="0"/>
            </a:endParaRPr>
          </a:p>
          <a:p>
            <a:pPr marL="109728" indent="0">
              <a:spcBef>
                <a:spcPts val="200"/>
              </a:spcBef>
              <a:buNone/>
            </a:pPr>
            <a:r>
              <a:rPr lang="en-US" altLang="zh-TW" sz="2600" dirty="0">
                <a:latin typeface="Courier New" panose="02070309020205020404" pitchFamily="49" charset="0"/>
                <a:cs typeface="Courier New" panose="02070309020205020404" pitchFamily="49" charset="0"/>
              </a:rPr>
              <a:t>// implementation</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List List::operator-(const List &amp;other) {</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unsigned </a:t>
            </a:r>
            <a:r>
              <a:rPr lang="en-US" altLang="zh-TW" sz="2600" dirty="0" err="1">
                <a:latin typeface="Courier New" panose="02070309020205020404" pitchFamily="49" charset="0"/>
                <a:cs typeface="Courier New" panose="02070309020205020404" pitchFamily="49" charset="0"/>
              </a:rPr>
              <a:t>int</a:t>
            </a:r>
            <a:r>
              <a:rPr lang="en-US" altLang="zh-TW" sz="2600" dirty="0">
                <a:latin typeface="Courier New" panose="02070309020205020404" pitchFamily="49" charset="0"/>
                <a:cs typeface="Courier New" panose="02070309020205020404" pitchFamily="49" charset="0"/>
              </a:rPr>
              <a:t> loop =</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_Size &lt; </a:t>
            </a:r>
            <a:r>
              <a:rPr lang="en-US" altLang="zh-TW" sz="2600" dirty="0" err="1">
                <a:latin typeface="Courier New" panose="02070309020205020404" pitchFamily="49" charset="0"/>
                <a:cs typeface="Courier New" panose="02070309020205020404" pitchFamily="49" charset="0"/>
              </a:rPr>
              <a:t>other._Size</a:t>
            </a:r>
            <a:r>
              <a:rPr lang="en-US" altLang="zh-TW" sz="2600" dirty="0">
                <a:latin typeface="Courier New" panose="02070309020205020404" pitchFamily="49" charset="0"/>
                <a:cs typeface="Courier New" panose="02070309020205020404" pitchFamily="49" charset="0"/>
              </a:rPr>
              <a:t> ? _</a:t>
            </a:r>
            <a:r>
              <a:rPr lang="en-US" altLang="zh-TW" sz="2600" dirty="0" err="1">
                <a:latin typeface="Courier New" panose="02070309020205020404" pitchFamily="49" charset="0"/>
                <a:cs typeface="Courier New" panose="02070309020205020404" pitchFamily="49" charset="0"/>
              </a:rPr>
              <a:t>Size:other</a:t>
            </a:r>
            <a:r>
              <a:rPr lang="en-US" altLang="zh-TW" sz="2600" dirty="0">
                <a:latin typeface="Courier New" panose="02070309020205020404" pitchFamily="49" charset="0"/>
                <a:cs typeface="Courier New" panose="02070309020205020404" pitchFamily="49" charset="0"/>
              </a:rPr>
              <a:t>._Size;</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 create a return object is required</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List </a:t>
            </a:r>
            <a:r>
              <a:rPr lang="en-US" altLang="zh-TW" sz="2600" dirty="0" err="1">
                <a:latin typeface="Courier New" panose="02070309020205020404" pitchFamily="49" charset="0"/>
                <a:cs typeface="Courier New" panose="02070309020205020404" pitchFamily="49" charset="0"/>
              </a:rPr>
              <a:t>lt</a:t>
            </a:r>
            <a:r>
              <a:rPr lang="en-US" altLang="zh-TW" sz="2600" dirty="0">
                <a:latin typeface="Courier New" panose="02070309020205020404" pitchFamily="49" charset="0"/>
                <a:cs typeface="Courier New" panose="02070309020205020404" pitchFamily="49" charset="0"/>
              </a:rPr>
              <a:t>(loop);</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for (</a:t>
            </a:r>
            <a:r>
              <a:rPr lang="en-US" altLang="zh-TW" sz="2600" dirty="0" err="1">
                <a:latin typeface="Courier New" panose="02070309020205020404" pitchFamily="49" charset="0"/>
                <a:cs typeface="Courier New" panose="02070309020205020404" pitchFamily="49" charset="0"/>
              </a:rPr>
              <a:t>int</a:t>
            </a:r>
            <a:r>
              <a:rPr lang="en-US" altLang="zh-TW" sz="2600" dirty="0">
                <a:latin typeface="Courier New" panose="02070309020205020404" pitchFamily="49" charset="0"/>
                <a:cs typeface="Courier New" panose="02070309020205020404" pitchFamily="49" charset="0"/>
              </a:rPr>
              <a:t> </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 0; </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&lt; loop; </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        </a:t>
            </a:r>
            <a:r>
              <a:rPr lang="en-US" altLang="zh-TW" sz="2600" dirty="0" err="1">
                <a:latin typeface="Courier New" panose="02070309020205020404" pitchFamily="49" charset="0"/>
                <a:cs typeface="Courier New" panose="02070309020205020404" pitchFamily="49" charset="0"/>
              </a:rPr>
              <a:t>lt</a:t>
            </a:r>
            <a:r>
              <a:rPr lang="en-US" altLang="zh-TW" sz="2600" dirty="0">
                <a:latin typeface="Courier New" panose="02070309020205020404" pitchFamily="49" charset="0"/>
                <a:cs typeface="Courier New" panose="02070309020205020404" pitchFamily="49" charset="0"/>
              </a:rPr>
              <a:t>._Array[</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 _Array[</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 - </a:t>
            </a:r>
            <a:r>
              <a:rPr lang="en-US" altLang="zh-TW" sz="2600" dirty="0" err="1">
                <a:latin typeface="Courier New" panose="02070309020205020404" pitchFamily="49" charset="0"/>
                <a:cs typeface="Courier New" panose="02070309020205020404" pitchFamily="49" charset="0"/>
              </a:rPr>
              <a:t>other._Array</a:t>
            </a:r>
            <a:r>
              <a:rPr lang="en-US" altLang="zh-TW" sz="2600" dirty="0">
                <a:latin typeface="Courier New" panose="02070309020205020404" pitchFamily="49" charset="0"/>
                <a:cs typeface="Courier New" panose="02070309020205020404" pitchFamily="49" charset="0"/>
              </a:rPr>
              <a:t>[</a:t>
            </a:r>
            <a:r>
              <a:rPr lang="en-US" altLang="zh-TW" sz="2600" dirty="0" err="1">
                <a:latin typeface="Courier New" panose="02070309020205020404" pitchFamily="49" charset="0"/>
                <a:cs typeface="Courier New" panose="02070309020205020404" pitchFamily="49" charset="0"/>
              </a:rPr>
              <a:t>i</a:t>
            </a:r>
            <a:r>
              <a:rPr lang="en-US" altLang="zh-TW" sz="26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2600" dirty="0">
              <a:latin typeface="Courier New" panose="02070309020205020404" pitchFamily="49" charset="0"/>
              <a:cs typeface="Courier New" panose="02070309020205020404" pitchFamily="49" charset="0"/>
            </a:endParaRPr>
          </a:p>
          <a:p>
            <a:pPr marL="109728" indent="0">
              <a:spcBef>
                <a:spcPts val="200"/>
              </a:spcBef>
              <a:buNone/>
            </a:pPr>
            <a:r>
              <a:rPr lang="en-US" altLang="zh-TW" sz="2600" dirty="0">
                <a:latin typeface="Courier New" panose="02070309020205020404" pitchFamily="49" charset="0"/>
                <a:cs typeface="Courier New" panose="02070309020205020404" pitchFamily="49" charset="0"/>
              </a:rPr>
              <a:t>    return </a:t>
            </a:r>
            <a:r>
              <a:rPr lang="en-US" altLang="zh-TW" sz="2600" dirty="0" err="1">
                <a:latin typeface="Courier New" panose="02070309020205020404" pitchFamily="49" charset="0"/>
                <a:cs typeface="Courier New" panose="02070309020205020404" pitchFamily="49" charset="0"/>
              </a:rPr>
              <a:t>lt</a:t>
            </a:r>
            <a:r>
              <a:rPr lang="en-US" altLang="zh-TW" sz="26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600" dirty="0">
                <a:latin typeface="Courier New" panose="02070309020205020404" pitchFamily="49" charset="0"/>
                <a:cs typeface="Courier New" panose="02070309020205020404" pitchFamily="49" charset="0"/>
              </a:rPr>
              <a:t>}</a:t>
            </a:r>
          </a:p>
        </p:txBody>
      </p:sp>
      <p:sp>
        <p:nvSpPr>
          <p:cNvPr id="3" name="投影片編號版面配置區 2">
            <a:extLst>
              <a:ext uri="{FF2B5EF4-FFF2-40B4-BE49-F238E27FC236}">
                <a16:creationId xmlns:a16="http://schemas.microsoft.com/office/drawing/2014/main" id="{371720D9-4362-6F9A-A104-C41BFEDA9CF1}"/>
              </a:ext>
            </a:extLst>
          </p:cNvPr>
          <p:cNvSpPr>
            <a:spLocks noGrp="1"/>
          </p:cNvSpPr>
          <p:nvPr>
            <p:ph type="sldNum" sz="quarter" idx="12"/>
          </p:nvPr>
        </p:nvSpPr>
        <p:spPr/>
        <p:txBody>
          <a:bodyPr/>
          <a:lstStyle/>
          <a:p>
            <a:fld id="{F5A2A8EF-A48F-4F8F-985B-479274EA465E}" type="slidenum">
              <a:rPr lang="zh-TW" altLang="en-US" smtClean="0"/>
              <a:pPr/>
              <a:t>33</a:t>
            </a:fld>
            <a:endParaRPr lang="en-US" altLang="zh-TW"/>
          </a:p>
        </p:txBody>
      </p:sp>
    </p:spTree>
    <p:extLst>
      <p:ext uri="{BB962C8B-B14F-4D97-AF65-F5344CB8AC3E}">
        <p14:creationId xmlns:p14="http://schemas.microsoft.com/office/powerpoint/2010/main" val="2872321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a:t>
            </a:r>
            <a:r>
              <a:rPr lang="en-US" altLang="zh-TW" dirty="0"/>
              <a:t> Overloading</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85000" lnSpcReduction="20000"/>
          </a:bodyPr>
          <a:lstStyle/>
          <a:p>
            <a:pPr>
              <a:spcBef>
                <a:spcPts val="200"/>
              </a:spcBef>
            </a:pPr>
            <a:r>
              <a:rPr lang="en-US" altLang="zh-TW" dirty="0">
                <a:latin typeface="Courier New" panose="02070309020205020404" pitchFamily="49" charset="0"/>
                <a:cs typeface="Courier New" panose="02070309020205020404" pitchFamily="49" charset="0"/>
              </a:rPr>
              <a:t>+=</a:t>
            </a:r>
            <a:r>
              <a:rPr lang="en-US" altLang="zh-TW" dirty="0"/>
              <a:t> is a unary operator. However, its operation is to evaluate, and then the class returned is used to update. This is a member function of the class, so class resolution is needed</a:t>
            </a:r>
          </a:p>
          <a:p>
            <a:pPr>
              <a:spcBef>
                <a:spcPts val="200"/>
              </a:spcBef>
            </a:pPr>
            <a:r>
              <a:rPr lang="en-US" altLang="zh-TW" dirty="0"/>
              <a:t>Its return type can either be referenced or not, i.e. </a:t>
            </a:r>
            <a:r>
              <a:rPr lang="en-US" altLang="zh-TW" dirty="0">
                <a:latin typeface="Courier New" panose="02070309020205020404" pitchFamily="49" charset="0"/>
                <a:cs typeface="Courier New" panose="02070309020205020404" pitchFamily="49" charset="0"/>
              </a:rPr>
              <a:t>&amp;</a:t>
            </a:r>
            <a:r>
              <a:rPr lang="en-US" altLang="zh-TW" dirty="0"/>
              <a:t> or no </a:t>
            </a:r>
            <a:r>
              <a:rPr lang="en-US" altLang="zh-TW" dirty="0">
                <a:latin typeface="Courier New" panose="02070309020205020404" pitchFamily="49" charset="0"/>
                <a:cs typeface="Courier New" panose="02070309020205020404" pitchFamily="49" charset="0"/>
              </a:rPr>
              <a:t>&amp;</a:t>
            </a:r>
          </a:p>
          <a:p>
            <a:pPr marL="109728"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9728" indent="0">
              <a:spcBef>
                <a:spcPts val="200"/>
              </a:spcBef>
              <a:buNone/>
            </a:pPr>
            <a:r>
              <a:rPr lang="en-US" altLang="zh-TW" sz="2300" dirty="0">
                <a:latin typeface="Courier New" panose="02070309020205020404" pitchFamily="49" charset="0"/>
                <a:cs typeface="Courier New" panose="02070309020205020404" pitchFamily="49" charset="0"/>
              </a:rPr>
              <a:t>// member function declaration</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List operator+=(</a:t>
            </a:r>
            <a:r>
              <a:rPr lang="en-US" altLang="zh-TW" sz="2300" dirty="0" err="1">
                <a:latin typeface="Courier New" panose="02070309020205020404" pitchFamily="49" charset="0"/>
                <a:cs typeface="Courier New" panose="02070309020205020404" pitchFamily="49" charset="0"/>
              </a:rPr>
              <a:t>const</a:t>
            </a:r>
            <a:r>
              <a:rPr lang="en-US" altLang="zh-TW" sz="2300" dirty="0">
                <a:latin typeface="Courier New" panose="02070309020205020404" pitchFamily="49" charset="0"/>
                <a:cs typeface="Courier New" panose="02070309020205020404" pitchFamily="49" charset="0"/>
              </a:rPr>
              <a:t> List&amp;);</a:t>
            </a:r>
          </a:p>
          <a:p>
            <a:pPr marL="109728"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9728" indent="0">
              <a:spcBef>
                <a:spcPts val="200"/>
              </a:spcBef>
              <a:buNone/>
            </a:pPr>
            <a:r>
              <a:rPr lang="en-US" altLang="zh-TW" sz="2300" dirty="0">
                <a:latin typeface="Courier New" panose="02070309020205020404" pitchFamily="49" charset="0"/>
                <a:cs typeface="Courier New" panose="02070309020205020404" pitchFamily="49" charset="0"/>
              </a:rPr>
              <a:t>// implementation</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List List::operator+=(</a:t>
            </a:r>
            <a:r>
              <a:rPr lang="en-US" altLang="zh-TW" sz="2300" dirty="0" err="1">
                <a:latin typeface="Courier New" panose="02070309020205020404" pitchFamily="49" charset="0"/>
                <a:cs typeface="Courier New" panose="02070309020205020404" pitchFamily="49" charset="0"/>
              </a:rPr>
              <a:t>const</a:t>
            </a:r>
            <a:r>
              <a:rPr lang="en-US" altLang="zh-TW" sz="2300" dirty="0">
                <a:latin typeface="Courier New" panose="02070309020205020404" pitchFamily="49" charset="0"/>
                <a:cs typeface="Courier New" panose="02070309020205020404" pitchFamily="49" charset="0"/>
              </a:rPr>
              <a:t> List &amp;other) {</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    unsigned </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loop =</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                 _Size &lt; </a:t>
            </a:r>
            <a:r>
              <a:rPr lang="en-US" altLang="zh-TW" sz="2300" dirty="0" err="1">
                <a:latin typeface="Courier New" panose="02070309020205020404" pitchFamily="49" charset="0"/>
                <a:cs typeface="Courier New" panose="02070309020205020404" pitchFamily="49" charset="0"/>
              </a:rPr>
              <a:t>other._Size</a:t>
            </a:r>
            <a:r>
              <a:rPr lang="en-US" altLang="zh-TW" sz="2300" dirty="0">
                <a:latin typeface="Courier New" panose="02070309020205020404" pitchFamily="49" charset="0"/>
                <a:cs typeface="Courier New" panose="02070309020205020404" pitchFamily="49" charset="0"/>
              </a:rPr>
              <a:t> ? _</a:t>
            </a:r>
            <a:r>
              <a:rPr lang="en-US" altLang="zh-TW" sz="2300" dirty="0" err="1">
                <a:latin typeface="Courier New" panose="02070309020205020404" pitchFamily="49" charset="0"/>
                <a:cs typeface="Courier New" panose="02070309020205020404" pitchFamily="49" charset="0"/>
              </a:rPr>
              <a:t>Size:other</a:t>
            </a:r>
            <a:r>
              <a:rPr lang="en-US" altLang="zh-TW" sz="2300" dirty="0">
                <a:latin typeface="Courier New" panose="02070309020205020404" pitchFamily="49" charset="0"/>
                <a:cs typeface="Courier New" panose="02070309020205020404" pitchFamily="49" charset="0"/>
              </a:rPr>
              <a:t>._Size;</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    for (</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0;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&lt; loop;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        _Array[</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a:t>
            </a:r>
            <a:r>
              <a:rPr lang="en-US" altLang="zh-TW" sz="2300" dirty="0" err="1">
                <a:latin typeface="Courier New" panose="02070309020205020404" pitchFamily="49" charset="0"/>
                <a:cs typeface="Courier New" panose="02070309020205020404" pitchFamily="49" charset="0"/>
              </a:rPr>
              <a:t>other._Array</a:t>
            </a:r>
            <a:r>
              <a:rPr lang="en-US" altLang="zh-TW" sz="2300" dirty="0">
                <a:latin typeface="Courier New" panose="02070309020205020404" pitchFamily="49" charset="0"/>
                <a:cs typeface="Courier New" panose="02070309020205020404" pitchFamily="49" charset="0"/>
              </a:rPr>
              <a:t>[</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9728" indent="0">
              <a:spcBef>
                <a:spcPts val="200"/>
              </a:spcBef>
              <a:buNone/>
            </a:pPr>
            <a:r>
              <a:rPr lang="en-US" altLang="zh-TW" sz="2300" dirty="0">
                <a:latin typeface="Courier New" panose="02070309020205020404" pitchFamily="49" charset="0"/>
                <a:cs typeface="Courier New" panose="02070309020205020404" pitchFamily="49" charset="0"/>
              </a:rPr>
              <a:t>    return *this;</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34</a:t>
            </a:fld>
            <a:endParaRPr lang="en-US" altLang="zh-TW"/>
          </a:p>
        </p:txBody>
      </p:sp>
    </p:spTree>
    <p:extLst>
      <p:ext uri="{BB962C8B-B14F-4D97-AF65-F5344CB8AC3E}">
        <p14:creationId xmlns:p14="http://schemas.microsoft.com/office/powerpoint/2010/main" val="1589589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C6083-7D43-10E6-AEA1-B0DAED1BA432}"/>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A425B3F3-5798-B24D-1183-012D02BDAA0D}"/>
              </a:ext>
            </a:extLst>
          </p:cNvPr>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a:t>
            </a:r>
            <a:r>
              <a:rPr lang="en-US" altLang="zh-TW" dirty="0"/>
              <a:t> Overloading</a:t>
            </a:r>
            <a:endParaRPr lang="zh-TW" altLang="en-US" dirty="0"/>
          </a:p>
        </p:txBody>
      </p:sp>
      <p:sp>
        <p:nvSpPr>
          <p:cNvPr id="2" name="內容版面配置區 1">
            <a:extLst>
              <a:ext uri="{FF2B5EF4-FFF2-40B4-BE49-F238E27FC236}">
                <a16:creationId xmlns:a16="http://schemas.microsoft.com/office/drawing/2014/main" id="{FA720E53-2826-EFB9-E26B-1CC536C04252}"/>
              </a:ext>
            </a:extLst>
          </p:cNvPr>
          <p:cNvSpPr>
            <a:spLocks noGrp="1"/>
          </p:cNvSpPr>
          <p:nvPr>
            <p:ph idx="1"/>
          </p:nvPr>
        </p:nvSpPr>
        <p:spPr>
          <a:xfrm>
            <a:off x="664635" y="1600201"/>
            <a:ext cx="10075084" cy="4525968"/>
          </a:xfrm>
        </p:spPr>
        <p:txBody>
          <a:bodyPr>
            <a:normAutofit fontScale="85000" lnSpcReduction="20000"/>
          </a:bodyPr>
          <a:lstStyle/>
          <a:p>
            <a:pPr>
              <a:spcBef>
                <a:spcPts val="200"/>
              </a:spcBef>
            </a:pPr>
            <a:r>
              <a:rPr lang="en-US" altLang="zh-TW" dirty="0">
                <a:latin typeface="Courier New" panose="02070309020205020404" pitchFamily="49" charset="0"/>
                <a:cs typeface="Courier New" panose="02070309020205020404" pitchFamily="49" charset="0"/>
              </a:rPr>
              <a:t>-=</a:t>
            </a:r>
            <a:r>
              <a:rPr lang="en-US" altLang="zh-TW" dirty="0"/>
              <a:t> is a unary operator. However, its operation is to evaluate, and then the class returned is used to update. This is a member function of the class, so class resolution is needed</a:t>
            </a:r>
          </a:p>
          <a:p>
            <a:pPr>
              <a:spcBef>
                <a:spcPts val="200"/>
              </a:spcBef>
            </a:pPr>
            <a:r>
              <a:rPr lang="en-US" altLang="zh-TW" dirty="0"/>
              <a:t>Its return type can either be referenced or not, i.e. </a:t>
            </a:r>
            <a:r>
              <a:rPr lang="en-US" altLang="zh-TW" dirty="0">
                <a:latin typeface="Courier New" panose="02070309020205020404" pitchFamily="49" charset="0"/>
                <a:cs typeface="Courier New" panose="02070309020205020404" pitchFamily="49" charset="0"/>
              </a:rPr>
              <a:t>&amp;</a:t>
            </a:r>
            <a:r>
              <a:rPr lang="en-US" altLang="zh-TW" dirty="0"/>
              <a:t> or no </a:t>
            </a:r>
            <a:r>
              <a:rPr lang="en-US" altLang="zh-TW" dirty="0">
                <a:latin typeface="Courier New" panose="02070309020205020404" pitchFamily="49" charset="0"/>
                <a:cs typeface="Courier New" panose="02070309020205020404" pitchFamily="49" charset="0"/>
              </a:rPr>
              <a:t>&amp;</a:t>
            </a:r>
          </a:p>
          <a:p>
            <a:pPr marL="109728"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9728" indent="0">
              <a:spcBef>
                <a:spcPts val="200"/>
              </a:spcBef>
              <a:buNone/>
            </a:pPr>
            <a:r>
              <a:rPr lang="en-US" altLang="zh-TW" sz="2300" dirty="0">
                <a:latin typeface="Courier New" panose="02070309020205020404" pitchFamily="49" charset="0"/>
                <a:cs typeface="Courier New" panose="02070309020205020404" pitchFamily="49" charset="0"/>
              </a:rPr>
              <a:t>// member function declaration</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List operator-=(const List&amp;);</a:t>
            </a:r>
          </a:p>
          <a:p>
            <a:pPr marL="109728"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9728" indent="0">
              <a:spcBef>
                <a:spcPts val="200"/>
              </a:spcBef>
              <a:buNone/>
            </a:pPr>
            <a:r>
              <a:rPr lang="en-US" altLang="zh-TW" sz="2300" dirty="0">
                <a:latin typeface="Courier New" panose="02070309020205020404" pitchFamily="49" charset="0"/>
                <a:cs typeface="Courier New" panose="02070309020205020404" pitchFamily="49" charset="0"/>
              </a:rPr>
              <a:t>// implementation</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List List::operator-=(const List &amp;other) {</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    unsigned </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loop =</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                 _Size &lt; </a:t>
            </a:r>
            <a:r>
              <a:rPr lang="en-US" altLang="zh-TW" sz="2300" dirty="0" err="1">
                <a:latin typeface="Courier New" panose="02070309020205020404" pitchFamily="49" charset="0"/>
                <a:cs typeface="Courier New" panose="02070309020205020404" pitchFamily="49" charset="0"/>
              </a:rPr>
              <a:t>other._Size</a:t>
            </a:r>
            <a:r>
              <a:rPr lang="en-US" altLang="zh-TW" sz="2300" dirty="0">
                <a:latin typeface="Courier New" panose="02070309020205020404" pitchFamily="49" charset="0"/>
                <a:cs typeface="Courier New" panose="02070309020205020404" pitchFamily="49" charset="0"/>
              </a:rPr>
              <a:t> ? _</a:t>
            </a:r>
            <a:r>
              <a:rPr lang="en-US" altLang="zh-TW" sz="2300" dirty="0" err="1">
                <a:latin typeface="Courier New" panose="02070309020205020404" pitchFamily="49" charset="0"/>
                <a:cs typeface="Courier New" panose="02070309020205020404" pitchFamily="49" charset="0"/>
              </a:rPr>
              <a:t>Size:other</a:t>
            </a:r>
            <a:r>
              <a:rPr lang="en-US" altLang="zh-TW" sz="2300" dirty="0">
                <a:latin typeface="Courier New" panose="02070309020205020404" pitchFamily="49" charset="0"/>
                <a:cs typeface="Courier New" panose="02070309020205020404" pitchFamily="49" charset="0"/>
              </a:rPr>
              <a:t>._Size;</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    for (</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0;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&lt; loop;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        _Array[</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a:t>
            </a:r>
            <a:r>
              <a:rPr lang="en-US" altLang="zh-TW" sz="2300" dirty="0" err="1">
                <a:latin typeface="Courier New" panose="02070309020205020404" pitchFamily="49" charset="0"/>
                <a:cs typeface="Courier New" panose="02070309020205020404" pitchFamily="49" charset="0"/>
              </a:rPr>
              <a:t>other._Array</a:t>
            </a:r>
            <a:r>
              <a:rPr lang="en-US" altLang="zh-TW" sz="2300" dirty="0">
                <a:latin typeface="Courier New" panose="02070309020205020404" pitchFamily="49" charset="0"/>
                <a:cs typeface="Courier New" panose="02070309020205020404" pitchFamily="49" charset="0"/>
              </a:rPr>
              <a:t>[</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a:t>
            </a:r>
          </a:p>
          <a:p>
            <a:pPr marL="109728"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9728" indent="0">
              <a:spcBef>
                <a:spcPts val="200"/>
              </a:spcBef>
              <a:buNone/>
            </a:pPr>
            <a:r>
              <a:rPr lang="en-US" altLang="zh-TW" sz="2300" dirty="0">
                <a:latin typeface="Courier New" panose="02070309020205020404" pitchFamily="49" charset="0"/>
                <a:cs typeface="Courier New" panose="02070309020205020404" pitchFamily="49" charset="0"/>
              </a:rPr>
              <a:t>    return *this;</a:t>
            </a:r>
          </a:p>
          <a:p>
            <a:pPr marL="109728" indent="0">
              <a:spcBef>
                <a:spcPts val="200"/>
              </a:spcBef>
              <a:buNone/>
            </a:pPr>
            <a:r>
              <a:rPr lang="en-US" altLang="zh-TW" sz="2300" dirty="0">
                <a:latin typeface="Courier New" panose="02070309020205020404" pitchFamily="49" charset="0"/>
                <a:cs typeface="Courier New" panose="02070309020205020404" pitchFamily="49" charset="0"/>
              </a:rPr>
              <a:t>}</a:t>
            </a:r>
          </a:p>
        </p:txBody>
      </p:sp>
      <p:sp>
        <p:nvSpPr>
          <p:cNvPr id="3" name="投影片編號版面配置區 2">
            <a:extLst>
              <a:ext uri="{FF2B5EF4-FFF2-40B4-BE49-F238E27FC236}">
                <a16:creationId xmlns:a16="http://schemas.microsoft.com/office/drawing/2014/main" id="{3B70C4A1-8A08-5B3A-245A-EE126A775C85}"/>
              </a:ext>
            </a:extLst>
          </p:cNvPr>
          <p:cNvSpPr>
            <a:spLocks noGrp="1"/>
          </p:cNvSpPr>
          <p:nvPr>
            <p:ph type="sldNum" sz="quarter" idx="12"/>
          </p:nvPr>
        </p:nvSpPr>
        <p:spPr/>
        <p:txBody>
          <a:bodyPr/>
          <a:lstStyle/>
          <a:p>
            <a:fld id="{F5A2A8EF-A48F-4F8F-985B-479274EA465E}" type="slidenum">
              <a:rPr lang="zh-TW" altLang="en-US" smtClean="0"/>
              <a:pPr/>
              <a:t>35</a:t>
            </a:fld>
            <a:endParaRPr lang="en-US" altLang="zh-TW"/>
          </a:p>
        </p:txBody>
      </p:sp>
    </p:spTree>
    <p:extLst>
      <p:ext uri="{BB962C8B-B14F-4D97-AF65-F5344CB8AC3E}">
        <p14:creationId xmlns:p14="http://schemas.microsoft.com/office/powerpoint/2010/main" val="2203850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a:t>
            </a:r>
            <a:r>
              <a:rPr lang="en-US" altLang="zh-TW" dirty="0"/>
              <a:t> Overloading</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92500" lnSpcReduction="10000"/>
          </a:bodyPr>
          <a:lstStyle/>
          <a:p>
            <a:pPr marL="108000">
              <a:spcBef>
                <a:spcPts val="200"/>
              </a:spcBef>
            </a:pPr>
            <a:r>
              <a:rPr lang="en-US" altLang="zh-TW" dirty="0">
                <a:latin typeface="Courier New" panose="02070309020205020404" pitchFamily="49" charset="0"/>
                <a:cs typeface="Courier New" panose="02070309020205020404" pitchFamily="49" charset="0"/>
              </a:rPr>
              <a:t>++</a:t>
            </a:r>
            <a:r>
              <a:rPr lang="en-US" altLang="zh-TW" dirty="0"/>
              <a:t> is a unary operator. However, there are two forms of this operator: prefix and postfix. </a:t>
            </a:r>
            <a:r>
              <a:rPr lang="en-US" altLang="zh-TW" dirty="0">
                <a:latin typeface="Courier New" panose="02070309020205020404" pitchFamily="49" charset="0"/>
                <a:cs typeface="Courier New" panose="02070309020205020404" pitchFamily="49" charset="0"/>
              </a:rPr>
              <a:t>operator++()</a:t>
            </a:r>
            <a:r>
              <a:rPr lang="en-US" altLang="zh-TW" dirty="0"/>
              <a:t>, or </a:t>
            </a:r>
            <a:r>
              <a:rPr lang="en-US" altLang="zh-TW" dirty="0">
                <a:latin typeface="Courier New" panose="02070309020205020404" pitchFamily="49" charset="0"/>
                <a:cs typeface="Courier New" panose="02070309020205020404" pitchFamily="49" charset="0"/>
              </a:rPr>
              <a:t>operator++(void)</a:t>
            </a:r>
            <a:r>
              <a:rPr lang="en-US" altLang="zh-TW" dirty="0"/>
              <a:t>, are used for prefix, e.g. </a:t>
            </a:r>
            <a:r>
              <a:rPr lang="en-US" altLang="zh-TW" dirty="0">
                <a:latin typeface="Courier New" panose="02070309020205020404" pitchFamily="49" charset="0"/>
                <a:cs typeface="Courier New" panose="02070309020205020404" pitchFamily="49" charset="0"/>
              </a:rPr>
              <a:t>++list</a:t>
            </a:r>
          </a:p>
          <a:p>
            <a:pPr marL="108000">
              <a:spcBef>
                <a:spcPts val="200"/>
              </a:spcBef>
            </a:pPr>
            <a:r>
              <a:rPr lang="en-US" altLang="zh-TW" dirty="0"/>
              <a:t>Its return type can either be referenced or not, i.e. </a:t>
            </a:r>
            <a:r>
              <a:rPr lang="en-US" altLang="zh-TW" dirty="0">
                <a:latin typeface="Courier New" panose="02070309020205020404" pitchFamily="49" charset="0"/>
                <a:cs typeface="Courier New" panose="02070309020205020404" pitchFamily="49" charset="0"/>
              </a:rPr>
              <a:t>&amp;</a:t>
            </a:r>
            <a:r>
              <a:rPr lang="en-US" altLang="zh-TW" dirty="0"/>
              <a:t> or no </a:t>
            </a:r>
            <a:r>
              <a:rPr lang="en-US" altLang="zh-TW" dirty="0">
                <a:latin typeface="Courier New" panose="02070309020205020404" pitchFamily="49" charset="0"/>
                <a:cs typeface="Courier New" panose="02070309020205020404" pitchFamily="49" charset="0"/>
              </a:rPr>
              <a:t>&amp;</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member function declaration, prefix</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List operator++();</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implementation</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List List::operator++() {</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for (</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0;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&lt; _Size;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++_Array[</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prefix ++</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return *this;</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36</a:t>
            </a:fld>
            <a:endParaRPr lang="en-US" altLang="zh-TW"/>
          </a:p>
        </p:txBody>
      </p:sp>
    </p:spTree>
    <p:extLst>
      <p:ext uri="{BB962C8B-B14F-4D97-AF65-F5344CB8AC3E}">
        <p14:creationId xmlns:p14="http://schemas.microsoft.com/office/powerpoint/2010/main" val="6110677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a:t>
            </a:r>
            <a:r>
              <a:rPr lang="en-US" altLang="zh-TW" dirty="0"/>
              <a:t> Overloading</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92500" lnSpcReduction="20000"/>
          </a:bodyPr>
          <a:lstStyle/>
          <a:p>
            <a:pPr marL="108000">
              <a:spcBef>
                <a:spcPts val="200"/>
              </a:spcBef>
            </a:pPr>
            <a:r>
              <a:rPr lang="en-US" altLang="zh-TW" dirty="0">
                <a:latin typeface="Courier New" panose="02070309020205020404" pitchFamily="49" charset="0"/>
                <a:cs typeface="Courier New" panose="02070309020205020404" pitchFamily="49" charset="0"/>
              </a:rPr>
              <a:t>operator++(</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a:t>
            </a:r>
            <a:r>
              <a:rPr lang="en-US" altLang="zh-TW" dirty="0"/>
              <a:t> is used for postfix, e.g. </a:t>
            </a:r>
            <a:r>
              <a:rPr lang="en-US" altLang="zh-TW" dirty="0">
                <a:latin typeface="Courier New" panose="02070309020205020404" pitchFamily="49" charset="0"/>
                <a:cs typeface="Courier New" panose="02070309020205020404" pitchFamily="49" charset="0"/>
              </a:rPr>
              <a:t>list++</a:t>
            </a:r>
            <a:r>
              <a:rPr lang="en-US" altLang="zh-TW" dirty="0">
                <a:cs typeface="Courier New" panose="02070309020205020404" pitchFamily="49" charset="0"/>
              </a:rPr>
              <a:t>. This </a:t>
            </a:r>
            <a:r>
              <a:rPr lang="en-US" altLang="zh-TW" dirty="0" err="1">
                <a:latin typeface="Courier New" panose="02070309020205020404" pitchFamily="49" charset="0"/>
                <a:cs typeface="Courier New" panose="02070309020205020404" pitchFamily="49" charset="0"/>
              </a:rPr>
              <a:t>int</a:t>
            </a:r>
            <a:r>
              <a:rPr lang="en-US" altLang="zh-TW" dirty="0">
                <a:cs typeface="Courier New" panose="02070309020205020404" pitchFamily="49" charset="0"/>
              </a:rPr>
              <a:t> is not used in the code. Its sole purpose is for the compiler to recognize this is a postfix </a:t>
            </a:r>
            <a:r>
              <a:rPr lang="en-US" altLang="zh-TW" dirty="0">
                <a:latin typeface="Courier New" panose="02070309020205020404" pitchFamily="49" charset="0"/>
                <a:cs typeface="Courier New" panose="02070309020205020404" pitchFamily="49" charset="0"/>
              </a:rPr>
              <a:t>++</a:t>
            </a:r>
          </a:p>
          <a:p>
            <a:pPr marL="108000">
              <a:spcBef>
                <a:spcPts val="200"/>
              </a:spcBef>
            </a:pPr>
            <a:r>
              <a:rPr lang="en-US" altLang="zh-TW" dirty="0"/>
              <a:t>Its return type can either referenced or not, i.e. </a:t>
            </a:r>
            <a:r>
              <a:rPr lang="en-US" altLang="zh-TW" dirty="0">
                <a:latin typeface="Courier New" panose="02070309020205020404" pitchFamily="49" charset="0"/>
                <a:cs typeface="Courier New" panose="02070309020205020404" pitchFamily="49" charset="0"/>
              </a:rPr>
              <a:t>&amp;</a:t>
            </a:r>
            <a:r>
              <a:rPr lang="en-US" altLang="zh-TW" dirty="0"/>
              <a:t> or no </a:t>
            </a:r>
            <a:r>
              <a:rPr lang="en-US" altLang="zh-TW" dirty="0">
                <a:latin typeface="Courier New" panose="02070309020205020404" pitchFamily="49" charset="0"/>
                <a:cs typeface="Courier New" panose="02070309020205020404" pitchFamily="49" charset="0"/>
              </a:rPr>
              <a:t>&amp;</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member function declaration, postfix</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List operator++(</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implementation</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List List::operator++(</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List </a:t>
            </a:r>
            <a:r>
              <a:rPr lang="en-US" altLang="zh-TW" sz="2300" dirty="0" err="1">
                <a:latin typeface="Courier New" panose="02070309020205020404" pitchFamily="49" charset="0"/>
                <a:cs typeface="Courier New" panose="02070309020205020404" pitchFamily="49" charset="0"/>
              </a:rPr>
              <a:t>tmp</a:t>
            </a:r>
            <a:r>
              <a:rPr lang="en-US" altLang="zh-TW" sz="2300" dirty="0">
                <a:latin typeface="Courier New" panose="02070309020205020404" pitchFamily="49" charset="0"/>
                <a:cs typeface="Courier New" panose="02070309020205020404" pitchFamily="49" charset="0"/>
              </a:rPr>
              <a:t>(*this);   // Retain a copy first</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for (</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0;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&lt; _Size;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_Array[</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postfix++</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return </a:t>
            </a:r>
            <a:r>
              <a:rPr lang="en-US" altLang="zh-TW" sz="2300" dirty="0" err="1">
                <a:latin typeface="Courier New" panose="02070309020205020404" pitchFamily="49" charset="0"/>
                <a:cs typeface="Courier New" panose="02070309020205020404" pitchFamily="49" charset="0"/>
              </a:rPr>
              <a:t>tmp</a:t>
            </a:r>
            <a:r>
              <a:rPr lang="en-US" altLang="zh-TW" sz="2300" dirty="0">
                <a:latin typeface="Courier New" panose="02070309020205020404" pitchFamily="49" charset="0"/>
                <a:cs typeface="Courier New" panose="02070309020205020404" pitchFamily="49" charset="0"/>
              </a:rPr>
              <a:t>;</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37</a:t>
            </a:fld>
            <a:endParaRPr lang="en-US" altLang="zh-TW"/>
          </a:p>
        </p:txBody>
      </p:sp>
    </p:spTree>
    <p:extLst>
      <p:ext uri="{BB962C8B-B14F-4D97-AF65-F5344CB8AC3E}">
        <p14:creationId xmlns:p14="http://schemas.microsoft.com/office/powerpoint/2010/main" val="2502243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69FA3-6C54-FF35-8C1C-D40BDC8C2F40}"/>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C2A13F7C-C043-6952-1C32-E7790EB36DFD}"/>
              </a:ext>
            </a:extLst>
          </p:cNvPr>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a:t>
            </a:r>
            <a:r>
              <a:rPr lang="en-US" altLang="zh-TW" dirty="0"/>
              <a:t> Overloading</a:t>
            </a:r>
            <a:endParaRPr lang="zh-TW" altLang="en-US" dirty="0"/>
          </a:p>
        </p:txBody>
      </p:sp>
      <p:sp>
        <p:nvSpPr>
          <p:cNvPr id="2" name="內容版面配置區 1">
            <a:extLst>
              <a:ext uri="{FF2B5EF4-FFF2-40B4-BE49-F238E27FC236}">
                <a16:creationId xmlns:a16="http://schemas.microsoft.com/office/drawing/2014/main" id="{993B37F7-FDE3-794F-EEAE-DE70CD93DF7D}"/>
              </a:ext>
            </a:extLst>
          </p:cNvPr>
          <p:cNvSpPr>
            <a:spLocks noGrp="1"/>
          </p:cNvSpPr>
          <p:nvPr>
            <p:ph idx="1"/>
          </p:nvPr>
        </p:nvSpPr>
        <p:spPr>
          <a:xfrm>
            <a:off x="664635" y="1600201"/>
            <a:ext cx="10075084" cy="4525968"/>
          </a:xfrm>
        </p:spPr>
        <p:txBody>
          <a:bodyPr>
            <a:normAutofit fontScale="92500" lnSpcReduction="10000"/>
          </a:bodyPr>
          <a:lstStyle/>
          <a:p>
            <a:pPr marL="108000">
              <a:spcBef>
                <a:spcPts val="200"/>
              </a:spcBef>
            </a:pPr>
            <a:r>
              <a:rPr lang="en-US" altLang="zh-TW" dirty="0">
                <a:latin typeface="Courier New" panose="02070309020205020404" pitchFamily="49" charset="0"/>
                <a:cs typeface="Courier New" panose="02070309020205020404" pitchFamily="49" charset="0"/>
              </a:rPr>
              <a:t>--</a:t>
            </a:r>
            <a:r>
              <a:rPr lang="en-US" altLang="zh-TW" dirty="0"/>
              <a:t> is a unary operator. However, there are two forms of this operator: prefix and postfix. </a:t>
            </a:r>
            <a:r>
              <a:rPr lang="en-US" altLang="zh-TW" dirty="0">
                <a:latin typeface="Courier New" panose="02070309020205020404" pitchFamily="49" charset="0"/>
                <a:cs typeface="Courier New" panose="02070309020205020404" pitchFamily="49" charset="0"/>
              </a:rPr>
              <a:t>Operator--()</a:t>
            </a:r>
            <a:r>
              <a:rPr lang="en-US" altLang="zh-TW" dirty="0"/>
              <a:t>, or </a:t>
            </a:r>
            <a:r>
              <a:rPr lang="en-US" altLang="zh-TW" dirty="0">
                <a:latin typeface="Courier New" panose="02070309020205020404" pitchFamily="49" charset="0"/>
                <a:cs typeface="Courier New" panose="02070309020205020404" pitchFamily="49" charset="0"/>
              </a:rPr>
              <a:t>operator--(void)</a:t>
            </a:r>
            <a:r>
              <a:rPr lang="en-US" altLang="zh-TW" dirty="0"/>
              <a:t>, are used for prefix, e.g. </a:t>
            </a:r>
            <a:r>
              <a:rPr lang="en-US" altLang="zh-TW" dirty="0">
                <a:latin typeface="Courier New" panose="02070309020205020404" pitchFamily="49" charset="0"/>
                <a:cs typeface="Courier New" panose="02070309020205020404" pitchFamily="49" charset="0"/>
              </a:rPr>
              <a:t>--list</a:t>
            </a:r>
          </a:p>
          <a:p>
            <a:pPr marL="108000">
              <a:spcBef>
                <a:spcPts val="200"/>
              </a:spcBef>
            </a:pPr>
            <a:r>
              <a:rPr lang="en-US" altLang="zh-TW" dirty="0"/>
              <a:t>Its return type can either be referenced or not, i.e. </a:t>
            </a:r>
            <a:r>
              <a:rPr lang="en-US" altLang="zh-TW" dirty="0">
                <a:latin typeface="Courier New" panose="02070309020205020404" pitchFamily="49" charset="0"/>
                <a:cs typeface="Courier New" panose="02070309020205020404" pitchFamily="49" charset="0"/>
              </a:rPr>
              <a:t>&amp;</a:t>
            </a:r>
            <a:r>
              <a:rPr lang="en-US" altLang="zh-TW" dirty="0"/>
              <a:t> or no </a:t>
            </a:r>
            <a:r>
              <a:rPr lang="en-US" altLang="zh-TW" dirty="0">
                <a:latin typeface="Courier New" panose="02070309020205020404" pitchFamily="49" charset="0"/>
                <a:cs typeface="Courier New" panose="02070309020205020404" pitchFamily="49" charset="0"/>
              </a:rPr>
              <a:t>&amp;</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member function declaration, prefix</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List operator--();</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implementation</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List List::operator--() {</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for (</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0;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&lt; _Size;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--_Array[</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prefix --</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return *this;</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a:t>
            </a:r>
          </a:p>
        </p:txBody>
      </p:sp>
      <p:sp>
        <p:nvSpPr>
          <p:cNvPr id="3" name="投影片編號版面配置區 2">
            <a:extLst>
              <a:ext uri="{FF2B5EF4-FFF2-40B4-BE49-F238E27FC236}">
                <a16:creationId xmlns:a16="http://schemas.microsoft.com/office/drawing/2014/main" id="{85A06C65-D816-31F1-DE27-4DDF9FD81BEE}"/>
              </a:ext>
            </a:extLst>
          </p:cNvPr>
          <p:cNvSpPr>
            <a:spLocks noGrp="1"/>
          </p:cNvSpPr>
          <p:nvPr>
            <p:ph type="sldNum" sz="quarter" idx="12"/>
          </p:nvPr>
        </p:nvSpPr>
        <p:spPr/>
        <p:txBody>
          <a:bodyPr/>
          <a:lstStyle/>
          <a:p>
            <a:fld id="{F5A2A8EF-A48F-4F8F-985B-479274EA465E}" type="slidenum">
              <a:rPr lang="zh-TW" altLang="en-US" smtClean="0"/>
              <a:pPr/>
              <a:t>38</a:t>
            </a:fld>
            <a:endParaRPr lang="en-US" altLang="zh-TW"/>
          </a:p>
        </p:txBody>
      </p:sp>
    </p:spTree>
    <p:extLst>
      <p:ext uri="{BB962C8B-B14F-4D97-AF65-F5344CB8AC3E}">
        <p14:creationId xmlns:p14="http://schemas.microsoft.com/office/powerpoint/2010/main" val="4197526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A3439-99BC-E6C9-042A-01CD5AAF4943}"/>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5B598AEC-CB6C-70E1-231C-4F1EF0413B28}"/>
              </a:ext>
            </a:extLst>
          </p:cNvPr>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operator--(int)</a:t>
            </a:r>
            <a:r>
              <a:rPr lang="en-US" altLang="zh-TW" dirty="0"/>
              <a:t> Overloading</a:t>
            </a:r>
            <a:endParaRPr lang="zh-TW" altLang="en-US" dirty="0"/>
          </a:p>
        </p:txBody>
      </p:sp>
      <p:sp>
        <p:nvSpPr>
          <p:cNvPr id="2" name="內容版面配置區 1">
            <a:extLst>
              <a:ext uri="{FF2B5EF4-FFF2-40B4-BE49-F238E27FC236}">
                <a16:creationId xmlns:a16="http://schemas.microsoft.com/office/drawing/2014/main" id="{F3A59ED2-E5A5-712F-F488-E39DDEBD06EA}"/>
              </a:ext>
            </a:extLst>
          </p:cNvPr>
          <p:cNvSpPr>
            <a:spLocks noGrp="1"/>
          </p:cNvSpPr>
          <p:nvPr>
            <p:ph idx="1"/>
          </p:nvPr>
        </p:nvSpPr>
        <p:spPr>
          <a:xfrm>
            <a:off x="664635" y="1600201"/>
            <a:ext cx="10075084" cy="4525968"/>
          </a:xfrm>
        </p:spPr>
        <p:txBody>
          <a:bodyPr>
            <a:normAutofit fontScale="92500" lnSpcReduction="20000"/>
          </a:bodyPr>
          <a:lstStyle/>
          <a:p>
            <a:pPr marL="108000">
              <a:spcBef>
                <a:spcPts val="200"/>
              </a:spcBef>
            </a:pPr>
            <a:r>
              <a:rPr lang="en-US" altLang="zh-TW" dirty="0">
                <a:latin typeface="Courier New" panose="02070309020205020404" pitchFamily="49" charset="0"/>
                <a:cs typeface="Courier New" panose="02070309020205020404" pitchFamily="49" charset="0"/>
              </a:rPr>
              <a:t>Operator--(int)</a:t>
            </a:r>
            <a:r>
              <a:rPr lang="en-US" altLang="zh-TW" dirty="0"/>
              <a:t> is used for postfix, e.g. </a:t>
            </a:r>
            <a:r>
              <a:rPr lang="en-US" altLang="zh-TW" dirty="0">
                <a:latin typeface="Courier New" panose="02070309020205020404" pitchFamily="49" charset="0"/>
                <a:cs typeface="Courier New" panose="02070309020205020404" pitchFamily="49" charset="0"/>
              </a:rPr>
              <a:t>list--</a:t>
            </a:r>
            <a:r>
              <a:rPr lang="en-US" altLang="zh-TW" dirty="0">
                <a:cs typeface="Courier New" panose="02070309020205020404" pitchFamily="49" charset="0"/>
              </a:rPr>
              <a:t>. This </a:t>
            </a:r>
            <a:r>
              <a:rPr lang="en-US" altLang="zh-TW" dirty="0" err="1">
                <a:latin typeface="Courier New" panose="02070309020205020404" pitchFamily="49" charset="0"/>
                <a:cs typeface="Courier New" panose="02070309020205020404" pitchFamily="49" charset="0"/>
              </a:rPr>
              <a:t>int</a:t>
            </a:r>
            <a:r>
              <a:rPr lang="en-US" altLang="zh-TW" dirty="0">
                <a:cs typeface="Courier New" panose="02070309020205020404" pitchFamily="49" charset="0"/>
              </a:rPr>
              <a:t> is not used in the code. Its sole purpose is for the compiler to recognize this is a postfix </a:t>
            </a:r>
            <a:r>
              <a:rPr lang="en-US" altLang="zh-TW" dirty="0">
                <a:latin typeface="Courier New" panose="02070309020205020404" pitchFamily="49" charset="0"/>
                <a:cs typeface="Courier New" panose="02070309020205020404" pitchFamily="49" charset="0"/>
              </a:rPr>
              <a:t>--</a:t>
            </a:r>
          </a:p>
          <a:p>
            <a:pPr marL="108000">
              <a:spcBef>
                <a:spcPts val="200"/>
              </a:spcBef>
            </a:pPr>
            <a:r>
              <a:rPr lang="en-US" altLang="zh-TW" dirty="0"/>
              <a:t>Its return type can either referenced or not, i.e. </a:t>
            </a:r>
            <a:r>
              <a:rPr lang="en-US" altLang="zh-TW" dirty="0">
                <a:latin typeface="Courier New" panose="02070309020205020404" pitchFamily="49" charset="0"/>
                <a:cs typeface="Courier New" panose="02070309020205020404" pitchFamily="49" charset="0"/>
              </a:rPr>
              <a:t>&amp;</a:t>
            </a:r>
            <a:r>
              <a:rPr lang="en-US" altLang="zh-TW" dirty="0"/>
              <a:t> or no </a:t>
            </a:r>
            <a:r>
              <a:rPr lang="en-US" altLang="zh-TW" dirty="0">
                <a:latin typeface="Courier New" panose="02070309020205020404" pitchFamily="49" charset="0"/>
                <a:cs typeface="Courier New" panose="02070309020205020404" pitchFamily="49" charset="0"/>
              </a:rPr>
              <a:t>&amp;</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member function declaration, postfix</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List operator--(int);</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implementation</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List List::operator--(int) {</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List </a:t>
            </a:r>
            <a:r>
              <a:rPr lang="en-US" altLang="zh-TW" sz="2300" dirty="0" err="1">
                <a:latin typeface="Courier New" panose="02070309020205020404" pitchFamily="49" charset="0"/>
                <a:cs typeface="Courier New" panose="02070309020205020404" pitchFamily="49" charset="0"/>
              </a:rPr>
              <a:t>tmp</a:t>
            </a:r>
            <a:r>
              <a:rPr lang="en-US" altLang="zh-TW" sz="2300" dirty="0">
                <a:latin typeface="Courier New" panose="02070309020205020404" pitchFamily="49" charset="0"/>
                <a:cs typeface="Courier New" panose="02070309020205020404" pitchFamily="49" charset="0"/>
              </a:rPr>
              <a:t>(*this);   // Retain a copy first</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for (</a:t>
            </a:r>
            <a:r>
              <a:rPr lang="en-US" altLang="zh-TW" sz="2300" dirty="0" err="1">
                <a:latin typeface="Courier New" panose="02070309020205020404" pitchFamily="49" charset="0"/>
                <a:cs typeface="Courier New" panose="02070309020205020404" pitchFamily="49" charset="0"/>
              </a:rPr>
              <a:t>int</a:t>
            </a:r>
            <a:r>
              <a:rPr lang="en-US" altLang="zh-TW" sz="2300" dirty="0">
                <a:latin typeface="Courier New" panose="02070309020205020404" pitchFamily="49" charset="0"/>
                <a:cs typeface="Courier New" panose="02070309020205020404" pitchFamily="49" charset="0"/>
              </a:rPr>
              <a:t>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0;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&lt; _Size; </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        _Array[</a:t>
            </a:r>
            <a:r>
              <a:rPr lang="en-US" altLang="zh-TW" sz="2300" dirty="0" err="1">
                <a:latin typeface="Courier New" panose="02070309020205020404" pitchFamily="49" charset="0"/>
                <a:cs typeface="Courier New" panose="02070309020205020404" pitchFamily="49" charset="0"/>
              </a:rPr>
              <a:t>i</a:t>
            </a:r>
            <a:r>
              <a:rPr lang="en-US" altLang="zh-TW" sz="2300" dirty="0">
                <a:latin typeface="Courier New" panose="02070309020205020404" pitchFamily="49" charset="0"/>
                <a:cs typeface="Courier New" panose="02070309020205020404" pitchFamily="49" charset="0"/>
              </a:rPr>
              <a:t>]--;   // postfix++</a:t>
            </a:r>
          </a:p>
          <a:p>
            <a:pPr marL="108000" indent="0">
              <a:spcBef>
                <a:spcPts val="200"/>
              </a:spcBef>
              <a:buNone/>
            </a:pPr>
            <a:endParaRPr lang="en-US" altLang="zh-TW" sz="2300" dirty="0">
              <a:latin typeface="Courier New" panose="02070309020205020404" pitchFamily="49" charset="0"/>
              <a:cs typeface="Courier New" panose="02070309020205020404" pitchFamily="49" charset="0"/>
            </a:endParaRPr>
          </a:p>
          <a:p>
            <a:pPr marL="108000" indent="0">
              <a:spcBef>
                <a:spcPts val="200"/>
              </a:spcBef>
              <a:buNone/>
            </a:pPr>
            <a:r>
              <a:rPr lang="en-US" altLang="zh-TW" sz="2300" dirty="0">
                <a:latin typeface="Courier New" panose="02070309020205020404" pitchFamily="49" charset="0"/>
                <a:cs typeface="Courier New" panose="02070309020205020404" pitchFamily="49" charset="0"/>
              </a:rPr>
              <a:t>    return </a:t>
            </a:r>
            <a:r>
              <a:rPr lang="en-US" altLang="zh-TW" sz="2300" dirty="0" err="1">
                <a:latin typeface="Courier New" panose="02070309020205020404" pitchFamily="49" charset="0"/>
                <a:cs typeface="Courier New" panose="02070309020205020404" pitchFamily="49" charset="0"/>
              </a:rPr>
              <a:t>tmp</a:t>
            </a:r>
            <a:r>
              <a:rPr lang="en-US" altLang="zh-TW" sz="2300" dirty="0">
                <a:latin typeface="Courier New" panose="02070309020205020404" pitchFamily="49" charset="0"/>
                <a:cs typeface="Courier New" panose="02070309020205020404" pitchFamily="49" charset="0"/>
              </a:rPr>
              <a:t>;</a:t>
            </a:r>
          </a:p>
          <a:p>
            <a:pPr marL="108000" indent="0">
              <a:spcBef>
                <a:spcPts val="200"/>
              </a:spcBef>
              <a:buNone/>
            </a:pPr>
            <a:r>
              <a:rPr lang="en-US" altLang="zh-TW" sz="2300" dirty="0">
                <a:latin typeface="Courier New" panose="02070309020205020404" pitchFamily="49" charset="0"/>
                <a:cs typeface="Courier New" panose="02070309020205020404" pitchFamily="49" charset="0"/>
              </a:rPr>
              <a:t>}</a:t>
            </a:r>
          </a:p>
        </p:txBody>
      </p:sp>
      <p:sp>
        <p:nvSpPr>
          <p:cNvPr id="3" name="投影片編號版面配置區 2">
            <a:extLst>
              <a:ext uri="{FF2B5EF4-FFF2-40B4-BE49-F238E27FC236}">
                <a16:creationId xmlns:a16="http://schemas.microsoft.com/office/drawing/2014/main" id="{2842A9B5-078E-E9D6-BC14-920A31D5672E}"/>
              </a:ext>
            </a:extLst>
          </p:cNvPr>
          <p:cNvSpPr>
            <a:spLocks noGrp="1"/>
          </p:cNvSpPr>
          <p:nvPr>
            <p:ph type="sldNum" sz="quarter" idx="12"/>
          </p:nvPr>
        </p:nvSpPr>
        <p:spPr/>
        <p:txBody>
          <a:bodyPr/>
          <a:lstStyle/>
          <a:p>
            <a:fld id="{F5A2A8EF-A48F-4F8F-985B-479274EA465E}" type="slidenum">
              <a:rPr lang="zh-TW" altLang="en-US" smtClean="0"/>
              <a:pPr/>
              <a:t>39</a:t>
            </a:fld>
            <a:endParaRPr lang="en-US" altLang="zh-TW"/>
          </a:p>
        </p:txBody>
      </p:sp>
    </p:spTree>
    <p:extLst>
      <p:ext uri="{BB962C8B-B14F-4D97-AF65-F5344CB8AC3E}">
        <p14:creationId xmlns:p14="http://schemas.microsoft.com/office/powerpoint/2010/main" val="2740834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operator&lt;&lt;</a:t>
            </a:r>
            <a:r>
              <a:rPr lang="en-US" altLang="zh-TW" dirty="0"/>
              <a:t> Overloading</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92500" lnSpcReduction="10000"/>
          </a:bodyPr>
          <a:lstStyle/>
          <a:p>
            <a:pPr marL="108000">
              <a:spcBef>
                <a:spcPts val="200"/>
              </a:spcBef>
            </a:pPr>
            <a:r>
              <a:rPr lang="en-US" altLang="zh-TW" dirty="0">
                <a:latin typeface="Courier New" panose="02070309020205020404" pitchFamily="49" charset="0"/>
                <a:cs typeface="Courier New" panose="02070309020205020404" pitchFamily="49" charset="0"/>
              </a:rPr>
              <a:t>&lt;&lt;</a:t>
            </a:r>
            <a:r>
              <a:rPr lang="en-US" altLang="zh-TW" dirty="0"/>
              <a:t>, the output operator, can be overloaded as in the following example. Note that it is a friend class to </a:t>
            </a:r>
            <a:r>
              <a:rPr lang="en-US" altLang="zh-TW" dirty="0" err="1">
                <a:latin typeface="Courier New" panose="02070309020205020404" pitchFamily="49" charset="0"/>
                <a:cs typeface="Courier New" panose="02070309020205020404" pitchFamily="49" charset="0"/>
              </a:rPr>
              <a:t>ostream</a:t>
            </a:r>
            <a:r>
              <a:rPr lang="en-US" altLang="zh-TW" dirty="0"/>
              <a:t> so no class resolution, </a:t>
            </a:r>
            <a:r>
              <a:rPr lang="en-US" altLang="zh-TW" dirty="0">
                <a:latin typeface="Courier New" panose="02070309020205020404" pitchFamily="49" charset="0"/>
                <a:cs typeface="Courier New" panose="02070309020205020404" pitchFamily="49" charset="0"/>
              </a:rPr>
              <a:t>::</a:t>
            </a:r>
            <a:r>
              <a:rPr lang="en-US" altLang="zh-TW" dirty="0"/>
              <a:t>,  needed</a:t>
            </a:r>
          </a:p>
          <a:p>
            <a:pPr marL="108000" indent="0">
              <a:spcBef>
                <a:spcPts val="200"/>
              </a:spcBef>
              <a:buNone/>
            </a:pPr>
            <a:endParaRPr lang="en-US" altLang="zh-TW" dirty="0"/>
          </a:p>
          <a:p>
            <a:pPr marL="108000" indent="0">
              <a:spcBef>
                <a:spcPts val="200"/>
              </a:spcBef>
              <a:buNone/>
            </a:pPr>
            <a:r>
              <a:rPr lang="en-US" altLang="zh-TW" sz="2400" dirty="0">
                <a:latin typeface="Courier New" panose="02070309020205020404" pitchFamily="49" charset="0"/>
                <a:cs typeface="Courier New" panose="02070309020205020404" pitchFamily="49" charset="0"/>
              </a:rPr>
              <a:t>// friend member function declaration</a:t>
            </a:r>
          </a:p>
          <a:p>
            <a:pPr marL="108000" indent="0">
              <a:spcBef>
                <a:spcPts val="200"/>
              </a:spcBef>
              <a:buNone/>
            </a:pPr>
            <a:r>
              <a:rPr lang="en-US" altLang="zh-TW" sz="2400" dirty="0">
                <a:solidFill>
                  <a:srgbClr val="FF0000"/>
                </a:solidFill>
                <a:latin typeface="Courier New" panose="02070309020205020404" pitchFamily="49" charset="0"/>
                <a:cs typeface="Courier New" panose="02070309020205020404" pitchFamily="49" charset="0"/>
              </a:rPr>
              <a:t>friend</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ostream</a:t>
            </a:r>
            <a:r>
              <a:rPr lang="en-US" altLang="zh-TW" sz="2400" dirty="0">
                <a:latin typeface="Courier New" panose="02070309020205020404" pitchFamily="49" charset="0"/>
                <a:cs typeface="Courier New" panose="02070309020205020404" pitchFamily="49" charset="0"/>
              </a:rPr>
              <a:t>&amp; operator&lt;&lt;(</a:t>
            </a:r>
            <a:r>
              <a:rPr lang="en-US" altLang="zh-TW" sz="2400" dirty="0" err="1">
                <a:latin typeface="Courier New" panose="02070309020205020404" pitchFamily="49" charset="0"/>
                <a:cs typeface="Courier New" panose="02070309020205020404" pitchFamily="49" charset="0"/>
              </a:rPr>
              <a:t>ostream</a:t>
            </a:r>
            <a:r>
              <a:rPr lang="en-US" altLang="zh-TW" sz="2400" dirty="0">
                <a:latin typeface="Courier New" panose="02070309020205020404" pitchFamily="49" charset="0"/>
                <a:cs typeface="Courier New" panose="02070309020205020404" pitchFamily="49" charset="0"/>
              </a:rPr>
              <a:t> &amp;, List);</a:t>
            </a:r>
          </a:p>
          <a:p>
            <a:pPr marL="108000" indent="0">
              <a:spcBef>
                <a:spcPts val="200"/>
              </a:spcBef>
              <a:buNone/>
            </a:pPr>
            <a:endParaRPr lang="en-US" altLang="zh-TW" sz="2400" dirty="0">
              <a:latin typeface="Courier New" panose="02070309020205020404" pitchFamily="49" charset="0"/>
              <a:cs typeface="Courier New" panose="02070309020205020404" pitchFamily="49" charset="0"/>
            </a:endParaRPr>
          </a:p>
          <a:p>
            <a:pPr marL="108000" indent="0">
              <a:spcBef>
                <a:spcPts val="200"/>
              </a:spcBef>
              <a:buNone/>
            </a:pPr>
            <a:r>
              <a:rPr lang="en-US" altLang="zh-TW" sz="2400" dirty="0">
                <a:latin typeface="Courier New" panose="02070309020205020404" pitchFamily="49" charset="0"/>
                <a:cs typeface="Courier New" panose="02070309020205020404" pitchFamily="49" charset="0"/>
              </a:rPr>
              <a:t>// implementation</a:t>
            </a:r>
          </a:p>
          <a:p>
            <a:pPr marL="108000" indent="0">
              <a:spcBef>
                <a:spcPts val="200"/>
              </a:spcBef>
              <a:buNone/>
            </a:pPr>
            <a:r>
              <a:rPr lang="en-US" altLang="zh-TW" sz="2400" dirty="0" err="1">
                <a:latin typeface="Courier New" panose="02070309020205020404" pitchFamily="49" charset="0"/>
                <a:cs typeface="Courier New" panose="02070309020205020404" pitchFamily="49" charset="0"/>
              </a:rPr>
              <a:t>ostream</a:t>
            </a:r>
            <a:r>
              <a:rPr lang="en-US" altLang="zh-TW" sz="2400" dirty="0">
                <a:latin typeface="Courier New" panose="02070309020205020404" pitchFamily="49" charset="0"/>
                <a:cs typeface="Courier New" panose="02070309020205020404" pitchFamily="49" charset="0"/>
              </a:rPr>
              <a:t>&amp; operator&lt;&lt;(</a:t>
            </a:r>
            <a:r>
              <a:rPr lang="en-US" altLang="zh-TW" sz="2400" dirty="0" err="1">
                <a:latin typeface="Courier New" panose="02070309020205020404" pitchFamily="49" charset="0"/>
                <a:cs typeface="Courier New" panose="02070309020205020404" pitchFamily="49" charset="0"/>
              </a:rPr>
              <a:t>ostream</a:t>
            </a:r>
            <a:r>
              <a:rPr lang="en-US" altLang="zh-TW" sz="2400" dirty="0">
                <a:latin typeface="Courier New" panose="02070309020205020404" pitchFamily="49" charset="0"/>
                <a:cs typeface="Courier New" panose="02070309020205020404" pitchFamily="49" charset="0"/>
              </a:rPr>
              <a:t> &amp;out, List list) {</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    for (</a:t>
            </a:r>
            <a:r>
              <a:rPr lang="en-US" altLang="zh-TW" sz="2400" dirty="0" err="1">
                <a:latin typeface="Courier New" panose="02070309020205020404" pitchFamily="49" charset="0"/>
                <a:cs typeface="Courier New" panose="02070309020205020404" pitchFamily="49" charset="0"/>
              </a:rPr>
              <a:t>int</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 0;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&lt; </a:t>
            </a:r>
            <a:r>
              <a:rPr lang="en-US" altLang="zh-TW" sz="2400" dirty="0" err="1">
                <a:latin typeface="Courier New" panose="02070309020205020404" pitchFamily="49" charset="0"/>
                <a:cs typeface="Courier New" panose="02070309020205020404" pitchFamily="49" charset="0"/>
              </a:rPr>
              <a:t>list._Size</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        out &lt;&lt; </a:t>
            </a:r>
            <a:r>
              <a:rPr lang="en-US" altLang="zh-TW" sz="2400" dirty="0" err="1">
                <a:latin typeface="Courier New" panose="02070309020205020404" pitchFamily="49" charset="0"/>
                <a:cs typeface="Courier New" panose="02070309020205020404" pitchFamily="49" charset="0"/>
              </a:rPr>
              <a:t>list._Array</a:t>
            </a:r>
            <a:r>
              <a:rPr lang="en-US" altLang="zh-TW" sz="2400" dirty="0">
                <a:latin typeface="Courier New" panose="02070309020205020404" pitchFamily="49" charset="0"/>
                <a:cs typeface="Courier New" panose="02070309020205020404" pitchFamily="49" charset="0"/>
              </a:rPr>
              <a:t>[</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&lt;&lt; “ “;</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    out &lt;&lt; </a:t>
            </a:r>
            <a:r>
              <a:rPr lang="en-US" altLang="zh-TW" sz="2400" dirty="0" err="1">
                <a:latin typeface="Courier New" panose="02070309020205020404" pitchFamily="49" charset="0"/>
                <a:cs typeface="Courier New" panose="02070309020205020404" pitchFamily="49" charset="0"/>
              </a:rPr>
              <a:t>endl</a:t>
            </a:r>
            <a:r>
              <a:rPr lang="en-US" altLang="zh-TW" sz="2400" dirty="0">
                <a:latin typeface="Courier New" panose="02070309020205020404" pitchFamily="49" charset="0"/>
                <a:cs typeface="Courier New" panose="02070309020205020404" pitchFamily="49" charset="0"/>
              </a:rPr>
              <a:t>;</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    return out;</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a:t>
            </a: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40</a:t>
            </a:fld>
            <a:endParaRPr lang="en-US" altLang="zh-TW"/>
          </a:p>
        </p:txBody>
      </p:sp>
    </p:spTree>
    <p:extLst>
      <p:ext uri="{BB962C8B-B14F-4D97-AF65-F5344CB8AC3E}">
        <p14:creationId xmlns:p14="http://schemas.microsoft.com/office/powerpoint/2010/main" val="20713948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Courier New" panose="02070309020205020404" pitchFamily="49" charset="0"/>
                <a:cs typeface="Courier New" panose="02070309020205020404" pitchFamily="49" charset="0"/>
              </a:rPr>
              <a:t>operator&gt;&gt;</a:t>
            </a:r>
            <a:r>
              <a:rPr lang="en-US" altLang="zh-TW" dirty="0"/>
              <a:t> Overloading</a:t>
            </a:r>
            <a:endParaRPr lang="zh-TW" altLang="en-US" dirty="0"/>
          </a:p>
        </p:txBody>
      </p:sp>
      <p:sp>
        <p:nvSpPr>
          <p:cNvPr id="2" name="內容版面配置區 1"/>
          <p:cNvSpPr>
            <a:spLocks noGrp="1"/>
          </p:cNvSpPr>
          <p:nvPr>
            <p:ph idx="1"/>
          </p:nvPr>
        </p:nvSpPr>
        <p:spPr>
          <a:xfrm>
            <a:off x="664635" y="1600201"/>
            <a:ext cx="10075084" cy="4525968"/>
          </a:xfrm>
        </p:spPr>
        <p:txBody>
          <a:bodyPr>
            <a:normAutofit lnSpcReduction="10000"/>
          </a:bodyPr>
          <a:lstStyle/>
          <a:p>
            <a:pPr marL="108000">
              <a:spcBef>
                <a:spcPts val="200"/>
              </a:spcBef>
            </a:pPr>
            <a:r>
              <a:rPr lang="en-US" altLang="zh-TW" dirty="0">
                <a:latin typeface="Courier New" panose="02070309020205020404" pitchFamily="49" charset="0"/>
                <a:cs typeface="Courier New" panose="02070309020205020404" pitchFamily="49" charset="0"/>
              </a:rPr>
              <a:t>&gt;&gt;</a:t>
            </a:r>
            <a:r>
              <a:rPr lang="en-US" altLang="zh-TW" dirty="0"/>
              <a:t>, the input operator, can be overloaded as in the following example. Note that it is a friend class to </a:t>
            </a:r>
            <a:r>
              <a:rPr lang="en-US" altLang="zh-TW" dirty="0" err="1">
                <a:latin typeface="Courier New" panose="02070309020205020404" pitchFamily="49" charset="0"/>
                <a:cs typeface="Courier New" panose="02070309020205020404" pitchFamily="49" charset="0"/>
              </a:rPr>
              <a:t>istream</a:t>
            </a:r>
            <a:r>
              <a:rPr lang="en-US" altLang="zh-TW" dirty="0"/>
              <a:t> so no class resolution, </a:t>
            </a:r>
            <a:r>
              <a:rPr lang="en-US" altLang="zh-TW" dirty="0">
                <a:latin typeface="Courier New" panose="02070309020205020404" pitchFamily="49" charset="0"/>
                <a:cs typeface="Courier New" panose="02070309020205020404" pitchFamily="49" charset="0"/>
              </a:rPr>
              <a:t>::</a:t>
            </a:r>
            <a:r>
              <a:rPr lang="en-US" altLang="zh-TW" dirty="0"/>
              <a:t>,  needed</a:t>
            </a:r>
          </a:p>
          <a:p>
            <a:pPr marL="108000" indent="0">
              <a:spcBef>
                <a:spcPts val="200"/>
              </a:spcBef>
              <a:buNone/>
            </a:pPr>
            <a:endParaRPr lang="en-US" altLang="zh-TW" dirty="0"/>
          </a:p>
          <a:p>
            <a:pPr marL="108000" indent="0">
              <a:spcBef>
                <a:spcPts val="200"/>
              </a:spcBef>
              <a:buNone/>
            </a:pPr>
            <a:r>
              <a:rPr lang="en-US" altLang="zh-TW" sz="2400" dirty="0">
                <a:latin typeface="Courier New" panose="02070309020205020404" pitchFamily="49" charset="0"/>
                <a:cs typeface="Courier New" panose="02070309020205020404" pitchFamily="49" charset="0"/>
              </a:rPr>
              <a:t>// friend member function declaration</a:t>
            </a:r>
          </a:p>
          <a:p>
            <a:pPr marL="108000" indent="0">
              <a:spcBef>
                <a:spcPts val="200"/>
              </a:spcBef>
              <a:buNone/>
            </a:pPr>
            <a:r>
              <a:rPr lang="en-US" altLang="zh-TW" sz="2400" dirty="0">
                <a:solidFill>
                  <a:srgbClr val="FF0000"/>
                </a:solidFill>
                <a:latin typeface="Courier New" panose="02070309020205020404" pitchFamily="49" charset="0"/>
                <a:cs typeface="Courier New" panose="02070309020205020404" pitchFamily="49" charset="0"/>
              </a:rPr>
              <a:t>friend</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istream</a:t>
            </a:r>
            <a:r>
              <a:rPr lang="en-US" altLang="zh-TW" sz="2400" dirty="0">
                <a:latin typeface="Courier New" panose="02070309020205020404" pitchFamily="49" charset="0"/>
                <a:cs typeface="Courier New" panose="02070309020205020404" pitchFamily="49" charset="0"/>
              </a:rPr>
              <a:t>&amp; operator&gt;&gt;(</a:t>
            </a:r>
            <a:r>
              <a:rPr lang="en-US" altLang="zh-TW" sz="2400" dirty="0" err="1">
                <a:latin typeface="Courier New" panose="02070309020205020404" pitchFamily="49" charset="0"/>
                <a:cs typeface="Courier New" panose="02070309020205020404" pitchFamily="49" charset="0"/>
              </a:rPr>
              <a:t>istream</a:t>
            </a:r>
            <a:r>
              <a:rPr lang="en-US" altLang="zh-TW" sz="2400" dirty="0">
                <a:latin typeface="Courier New" panose="02070309020205020404" pitchFamily="49" charset="0"/>
                <a:cs typeface="Courier New" panose="02070309020205020404" pitchFamily="49" charset="0"/>
              </a:rPr>
              <a:t> &amp;, List&amp;);</a:t>
            </a:r>
          </a:p>
          <a:p>
            <a:pPr marL="108000" indent="0">
              <a:spcBef>
                <a:spcPts val="200"/>
              </a:spcBef>
              <a:buNone/>
            </a:pPr>
            <a:endParaRPr lang="en-US" altLang="zh-TW" sz="2400" dirty="0">
              <a:latin typeface="Courier New" panose="02070309020205020404" pitchFamily="49" charset="0"/>
              <a:cs typeface="Courier New" panose="02070309020205020404" pitchFamily="49" charset="0"/>
            </a:endParaRPr>
          </a:p>
          <a:p>
            <a:pPr marL="108000" indent="0">
              <a:spcBef>
                <a:spcPts val="200"/>
              </a:spcBef>
              <a:buNone/>
            </a:pPr>
            <a:r>
              <a:rPr lang="en-US" altLang="zh-TW" sz="2400" dirty="0">
                <a:latin typeface="Courier New" panose="02070309020205020404" pitchFamily="49" charset="0"/>
                <a:cs typeface="Courier New" panose="02070309020205020404" pitchFamily="49" charset="0"/>
              </a:rPr>
              <a:t>// implementation</a:t>
            </a:r>
          </a:p>
          <a:p>
            <a:pPr marL="108000" indent="0">
              <a:spcBef>
                <a:spcPts val="200"/>
              </a:spcBef>
              <a:buNone/>
            </a:pPr>
            <a:r>
              <a:rPr lang="en-US" altLang="zh-TW" sz="2400" dirty="0" err="1">
                <a:latin typeface="Courier New" panose="02070309020205020404" pitchFamily="49" charset="0"/>
                <a:cs typeface="Courier New" panose="02070309020205020404" pitchFamily="49" charset="0"/>
              </a:rPr>
              <a:t>istream</a:t>
            </a:r>
            <a:r>
              <a:rPr lang="en-US" altLang="zh-TW" sz="2400" dirty="0">
                <a:latin typeface="Courier New" panose="02070309020205020404" pitchFamily="49" charset="0"/>
                <a:cs typeface="Courier New" panose="02070309020205020404" pitchFamily="49" charset="0"/>
              </a:rPr>
              <a:t>&amp; operator&gt;&gt;(</a:t>
            </a:r>
            <a:r>
              <a:rPr lang="en-US" altLang="zh-TW" sz="2400" dirty="0" err="1">
                <a:latin typeface="Courier New" panose="02070309020205020404" pitchFamily="49" charset="0"/>
                <a:cs typeface="Courier New" panose="02070309020205020404" pitchFamily="49" charset="0"/>
              </a:rPr>
              <a:t>istream</a:t>
            </a:r>
            <a:r>
              <a:rPr lang="en-US" altLang="zh-TW" sz="2400" dirty="0">
                <a:latin typeface="Courier New" panose="02070309020205020404" pitchFamily="49" charset="0"/>
                <a:cs typeface="Courier New" panose="02070309020205020404" pitchFamily="49" charset="0"/>
              </a:rPr>
              <a:t> &amp;in, List &amp;list) {</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    for (</a:t>
            </a:r>
            <a:r>
              <a:rPr lang="en-US" altLang="zh-TW" sz="2400" dirty="0" err="1">
                <a:latin typeface="Courier New" panose="02070309020205020404" pitchFamily="49" charset="0"/>
                <a:cs typeface="Courier New" panose="02070309020205020404" pitchFamily="49" charset="0"/>
              </a:rPr>
              <a:t>int</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 0;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 &lt; </a:t>
            </a:r>
            <a:r>
              <a:rPr lang="en-US" altLang="zh-TW" sz="2400" dirty="0" err="1">
                <a:latin typeface="Courier New" panose="02070309020205020404" pitchFamily="49" charset="0"/>
                <a:cs typeface="Courier New" panose="02070309020205020404" pitchFamily="49" charset="0"/>
              </a:rPr>
              <a:t>list._Size</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        in &gt;&gt; </a:t>
            </a:r>
            <a:r>
              <a:rPr lang="en-US" altLang="zh-TW" sz="2400" dirty="0" err="1">
                <a:latin typeface="Courier New" panose="02070309020205020404" pitchFamily="49" charset="0"/>
                <a:cs typeface="Courier New" panose="02070309020205020404" pitchFamily="49" charset="0"/>
              </a:rPr>
              <a:t>list._Array</a:t>
            </a:r>
            <a:r>
              <a:rPr lang="en-US" altLang="zh-TW" sz="2400" dirty="0">
                <a:latin typeface="Courier New" panose="02070309020205020404" pitchFamily="49" charset="0"/>
                <a:cs typeface="Courier New" panose="02070309020205020404" pitchFamily="49" charset="0"/>
              </a:rPr>
              <a:t>[</a:t>
            </a:r>
            <a:r>
              <a:rPr lang="en-US" altLang="zh-TW" sz="2400" dirty="0" err="1">
                <a:latin typeface="Courier New" panose="02070309020205020404" pitchFamily="49" charset="0"/>
                <a:cs typeface="Courier New" panose="02070309020205020404" pitchFamily="49" charset="0"/>
              </a:rPr>
              <a:t>i</a:t>
            </a:r>
            <a:r>
              <a:rPr lang="en-US" altLang="zh-TW" sz="2400" dirty="0">
                <a:latin typeface="Courier New" panose="02070309020205020404" pitchFamily="49" charset="0"/>
                <a:cs typeface="Courier New" panose="02070309020205020404" pitchFamily="49" charset="0"/>
              </a:rPr>
              <a:t>];</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    return in;</a:t>
            </a:r>
          </a:p>
          <a:p>
            <a:pPr marL="108000" indent="0">
              <a:spcBef>
                <a:spcPts val="200"/>
              </a:spcBef>
              <a:buNone/>
            </a:pPr>
            <a:r>
              <a:rPr lang="en-US" altLang="zh-TW" sz="2400" dirty="0">
                <a:latin typeface="Courier New" panose="02070309020205020404" pitchFamily="49" charset="0"/>
                <a:cs typeface="Courier New" panose="02070309020205020404" pitchFamily="49" charset="0"/>
              </a:rPr>
              <a:t>}</a:t>
            </a: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41</a:t>
            </a:fld>
            <a:endParaRPr lang="en-US" altLang="zh-TW"/>
          </a:p>
        </p:txBody>
      </p:sp>
    </p:spTree>
    <p:extLst>
      <p:ext uri="{BB962C8B-B14F-4D97-AF65-F5344CB8AC3E}">
        <p14:creationId xmlns:p14="http://schemas.microsoft.com/office/powerpoint/2010/main" val="2677430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5</a:t>
            </a:r>
            <a:br>
              <a:rPr lang="en-US" altLang="zh-TW" sz="3600" dirty="0"/>
            </a:br>
            <a:r>
              <a:rPr lang="en-US" altLang="zh-TW" sz="3600" dirty="0"/>
              <a:t>Inheritance</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42</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8969875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What is Inheritance?</a:t>
            </a:r>
            <a:endParaRPr lang="zh-TW" altLang="en-US" dirty="0"/>
          </a:p>
        </p:txBody>
      </p:sp>
      <p:sp>
        <p:nvSpPr>
          <p:cNvPr id="2" name="內容版面配置區 1"/>
          <p:cNvSpPr>
            <a:spLocks noGrp="1"/>
          </p:cNvSpPr>
          <p:nvPr>
            <p:ph idx="1"/>
          </p:nvPr>
        </p:nvSpPr>
        <p:spPr>
          <a:xfrm>
            <a:off x="664635" y="1589759"/>
            <a:ext cx="10075084" cy="4536410"/>
          </a:xfrm>
        </p:spPr>
        <p:txBody>
          <a:bodyPr>
            <a:normAutofit/>
          </a:bodyPr>
          <a:lstStyle/>
          <a:p>
            <a:r>
              <a:rPr lang="en-US" altLang="zh-TW" dirty="0"/>
              <a:t>Take the chair, for example. There are many different types of chairs: armchair, wheelchair, bench, stool, etc.</a:t>
            </a:r>
          </a:p>
          <a:p>
            <a:r>
              <a:rPr lang="en-US" altLang="zh-TW" dirty="0"/>
              <a:t>But they all have two elements: seat and leg(s), and one function: sit</a:t>
            </a:r>
          </a:p>
          <a:p>
            <a:r>
              <a:rPr lang="en-US" altLang="zh-TW" dirty="0"/>
              <a:t>So we can have a base chair/class with the above data member and member function, then derive all different types of chairs/classes. This derivation is thus the property of inheritance</a:t>
            </a:r>
            <a:endParaRPr lang="zh-TW" altLang="en-US"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43</a:t>
            </a:fld>
            <a:endParaRPr lang="en-US" altLang="zh-TW"/>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092" y="4380396"/>
            <a:ext cx="936104" cy="93610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5487975"/>
            <a:ext cx="927720" cy="92772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9084" y="5397103"/>
            <a:ext cx="1088504" cy="108850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3892" y="4188122"/>
            <a:ext cx="1080120" cy="108012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8088" y="3991668"/>
            <a:ext cx="1267830" cy="127657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0230" y="4188122"/>
            <a:ext cx="1011059" cy="118509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39441" y="5237123"/>
            <a:ext cx="1584175" cy="119422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57"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83129" y="5157193"/>
            <a:ext cx="1504950" cy="14573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58"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41880" y="4029891"/>
            <a:ext cx="1200150" cy="1295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8737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Encapsulation</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92500" lnSpcReduction="20000"/>
          </a:bodyPr>
          <a:lstStyle/>
          <a:p>
            <a:r>
              <a:rPr lang="en-US" altLang="zh-TW" dirty="0">
                <a:cs typeface="Courier New" panose="02070309020205020404" pitchFamily="49" charset="0"/>
              </a:rPr>
              <a:t>The purpose is to control who can do what with the following three keywords:</a:t>
            </a:r>
          </a:p>
          <a:p>
            <a:r>
              <a:rPr lang="en-US" altLang="zh-TW" dirty="0">
                <a:latin typeface="Courier New" panose="02070309020205020404" pitchFamily="49" charset="0"/>
                <a:cs typeface="Courier New" panose="02070309020205020404" pitchFamily="49" charset="0"/>
              </a:rPr>
              <a:t>public</a:t>
            </a:r>
          </a:p>
          <a:p>
            <a:pPr lvl="1"/>
            <a:r>
              <a:rPr lang="en-US" altLang="zh-TW" dirty="0">
                <a:cs typeface="Courier New" panose="02070309020205020404" pitchFamily="49" charset="0"/>
              </a:rPr>
              <a:t>Accessible inside and outside of this class</a:t>
            </a:r>
          </a:p>
          <a:p>
            <a:pPr lvl="1"/>
            <a:r>
              <a:rPr lang="en-US" altLang="zh-TW" dirty="0">
                <a:cs typeface="Courier New" panose="02070309020205020404" pitchFamily="49" charset="0"/>
              </a:rPr>
              <a:t>Usually, we make member functions </a:t>
            </a:r>
            <a:r>
              <a:rPr lang="en-US" altLang="zh-TW" dirty="0">
                <a:latin typeface="Courier New" panose="02070309020205020404" pitchFamily="49" charset="0"/>
                <a:cs typeface="Courier New" panose="02070309020205020404" pitchFamily="49" charset="0"/>
              </a:rPr>
              <a:t>public</a:t>
            </a:r>
          </a:p>
          <a:p>
            <a:pPr lvl="1"/>
            <a:r>
              <a:rPr lang="en-US" altLang="zh-TW" dirty="0">
                <a:cs typeface="Courier New" panose="02070309020205020404" pitchFamily="49" charset="0"/>
              </a:rPr>
              <a:t>But you can make private functions as well</a:t>
            </a:r>
          </a:p>
          <a:p>
            <a:r>
              <a:rPr lang="en-US" altLang="zh-TW" dirty="0">
                <a:latin typeface="Courier New" panose="02070309020205020404" pitchFamily="49" charset="0"/>
                <a:cs typeface="Courier New" panose="02070309020205020404" pitchFamily="49" charset="0"/>
              </a:rPr>
              <a:t>private</a:t>
            </a:r>
          </a:p>
          <a:p>
            <a:pPr lvl="1"/>
            <a:r>
              <a:rPr lang="en-US" altLang="zh-TW" dirty="0">
                <a:cs typeface="Courier New" panose="02070309020205020404" pitchFamily="49" charset="0"/>
              </a:rPr>
              <a:t>Accessible inside of this class, and </a:t>
            </a:r>
            <a:r>
              <a:rPr lang="en-US" altLang="zh-TW" dirty="0">
                <a:latin typeface="Courier New" panose="02070309020205020404" pitchFamily="49" charset="0"/>
                <a:cs typeface="Courier New" panose="02070309020205020404" pitchFamily="49" charset="0"/>
              </a:rPr>
              <a:t>friend</a:t>
            </a:r>
            <a:r>
              <a:rPr lang="en-US" altLang="zh-TW" dirty="0">
                <a:cs typeface="Courier New" panose="02070309020205020404" pitchFamily="49" charset="0"/>
              </a:rPr>
              <a:t> classes only. Derived classes </a:t>
            </a:r>
            <a:r>
              <a:rPr lang="en-US" altLang="zh-TW">
                <a:cs typeface="Courier New" panose="02070309020205020404" pitchFamily="49" charset="0"/>
              </a:rPr>
              <a:t>are restricted.</a:t>
            </a:r>
            <a:endParaRPr lang="en-US" altLang="zh-TW" dirty="0">
              <a:cs typeface="Courier New" panose="02070309020205020404" pitchFamily="49" charset="0"/>
            </a:endParaRPr>
          </a:p>
          <a:p>
            <a:pPr lvl="1"/>
            <a:r>
              <a:rPr lang="en-US" altLang="zh-TW" dirty="0">
                <a:cs typeface="Courier New" panose="02070309020205020404" pitchFamily="49" charset="0"/>
              </a:rPr>
              <a:t>Usually, we make data members </a:t>
            </a:r>
            <a:r>
              <a:rPr lang="en-US" altLang="zh-TW" dirty="0">
                <a:latin typeface="Courier New" panose="02070309020205020404" pitchFamily="49" charset="0"/>
                <a:cs typeface="Courier New" panose="02070309020205020404" pitchFamily="49" charset="0"/>
              </a:rPr>
              <a:t>private</a:t>
            </a:r>
          </a:p>
          <a:p>
            <a:r>
              <a:rPr lang="en-US" altLang="zh-TW" dirty="0">
                <a:latin typeface="Courier New" panose="02070309020205020404" pitchFamily="49" charset="0"/>
                <a:cs typeface="Courier New" panose="02070309020205020404" pitchFamily="49" charset="0"/>
              </a:rPr>
              <a:t>protected</a:t>
            </a:r>
          </a:p>
          <a:p>
            <a:pPr lvl="1"/>
            <a:r>
              <a:rPr lang="en-US" altLang="zh-TW" dirty="0">
                <a:cs typeface="Courier New" panose="02070309020205020404" pitchFamily="49" charset="0"/>
              </a:rPr>
              <a:t>Accessible by this class, its </a:t>
            </a:r>
            <a:r>
              <a:rPr lang="en-US" altLang="zh-TW" dirty="0">
                <a:latin typeface="Courier New" panose="02070309020205020404" pitchFamily="49" charset="0"/>
                <a:cs typeface="Courier New" panose="02070309020205020404" pitchFamily="49" charset="0"/>
              </a:rPr>
              <a:t>friend</a:t>
            </a:r>
            <a:r>
              <a:rPr lang="en-US" altLang="zh-TW" dirty="0">
                <a:cs typeface="Courier New" panose="02070309020205020404" pitchFamily="49" charset="0"/>
              </a:rPr>
              <a:t> classes, and derived classes</a:t>
            </a:r>
          </a:p>
          <a:p>
            <a:r>
              <a:rPr lang="en-US" altLang="zh-TW" dirty="0">
                <a:cs typeface="Courier New" panose="02070309020205020404" pitchFamily="49" charset="0"/>
              </a:rPr>
              <a:t>Using </a:t>
            </a:r>
            <a:r>
              <a:rPr lang="en-US" altLang="zh-TW" dirty="0">
                <a:latin typeface="Courier New" panose="02070309020205020404" pitchFamily="49" charset="0"/>
                <a:cs typeface="Courier New" panose="02070309020205020404" pitchFamily="49" charset="0"/>
              </a:rPr>
              <a:t>private/protected</a:t>
            </a:r>
            <a:r>
              <a:rPr lang="en-US" altLang="zh-TW" dirty="0">
                <a:cs typeface="Courier New" panose="02070309020205020404" pitchFamily="49" charset="0"/>
              </a:rPr>
              <a:t> restricts other programmers from using these variables and/or functions. The purpose is more for engineering reasons than security reasons</a:t>
            </a:r>
            <a:endParaRPr lang="zh-TW" altLang="en-US" dirty="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44</a:t>
            </a:fld>
            <a:endParaRPr lang="en-US" altLang="zh-TW"/>
          </a:p>
        </p:txBody>
      </p:sp>
    </p:spTree>
    <p:extLst>
      <p:ext uri="{BB962C8B-B14F-4D97-AF65-F5344CB8AC3E}">
        <p14:creationId xmlns:p14="http://schemas.microsoft.com/office/powerpoint/2010/main" val="4716248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Base Class</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85000" lnSpcReduction="20000"/>
          </a:bodyPr>
          <a:lstStyle/>
          <a:p>
            <a:pPr marL="108000">
              <a:spcBef>
                <a:spcPts val="200"/>
              </a:spcBef>
            </a:pPr>
            <a:r>
              <a:rPr lang="en-US" altLang="zh-TW" dirty="0"/>
              <a:t>A base class holds the common properties (data member and member functions)</a:t>
            </a:r>
          </a:p>
          <a:p>
            <a:pPr marL="108000" indent="0">
              <a:spcBef>
                <a:spcPts val="200"/>
              </a:spcBef>
              <a:buNone/>
            </a:pPr>
            <a:endParaRPr lang="en-US" altLang="zh-TW"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class Employee {</a:t>
            </a:r>
          </a:p>
          <a:p>
            <a:pPr marL="108000" indent="0">
              <a:spcBef>
                <a:spcPts val="200"/>
              </a:spcBef>
              <a:buNone/>
            </a:pPr>
            <a:r>
              <a:rPr lang="en-US" altLang="zh-TW" dirty="0">
                <a:latin typeface="Courier New" panose="02070309020205020404" pitchFamily="49" charset="0"/>
                <a:cs typeface="Courier New" panose="02070309020205020404" pitchFamily="49" charset="0"/>
              </a:rPr>
              <a:t>private:</a:t>
            </a:r>
          </a:p>
          <a:p>
            <a:pPr marL="108000" indent="0">
              <a:spcBef>
                <a:spcPts val="200"/>
              </a:spcBef>
              <a:buNone/>
            </a:pPr>
            <a:r>
              <a:rPr lang="en-US" altLang="zh-TW" dirty="0">
                <a:latin typeface="Courier New" panose="02070309020205020404" pitchFamily="49" charset="0"/>
                <a:cs typeface="Courier New" panose="02070309020205020404" pitchFamily="49" charset="0"/>
              </a:rPr>
              <a:t>    string name;</a:t>
            </a:r>
          </a:p>
          <a:p>
            <a:pPr marL="108000" indent="0">
              <a:spcBef>
                <a:spcPts val="200"/>
              </a:spcBef>
              <a:buNone/>
            </a:pPr>
            <a:r>
              <a:rPr lang="en-US" altLang="zh-TW" dirty="0">
                <a:latin typeface="Courier New" panose="02070309020205020404" pitchFamily="49" charset="0"/>
                <a:cs typeface="Courier New" panose="02070309020205020404" pitchFamily="49" charset="0"/>
              </a:rPr>
              <a:t>    string id;</a:t>
            </a:r>
          </a:p>
          <a:p>
            <a:pPr marL="108000" indent="0">
              <a:spcBef>
                <a:spcPts val="200"/>
              </a:spcBef>
              <a:buNone/>
            </a:pPr>
            <a:r>
              <a:rPr lang="en-US" altLang="zh-TW" dirty="0">
                <a:latin typeface="Courier New" panose="02070309020205020404" pitchFamily="49" charset="0"/>
                <a:cs typeface="Courier New" panose="02070309020205020404" pitchFamily="49" charset="0"/>
              </a:rPr>
              <a:t>    double </a:t>
            </a:r>
            <a:r>
              <a:rPr lang="en-US" altLang="zh-TW" dirty="0" err="1">
                <a:latin typeface="Courier New" panose="02070309020205020404" pitchFamily="49" charset="0"/>
                <a:cs typeface="Courier New" panose="02070309020205020404" pitchFamily="49" charset="0"/>
              </a:rPr>
              <a:t>net_pay</a:t>
            </a:r>
            <a:r>
              <a:rPr lang="en-US" altLang="zh-TW" dirty="0">
                <a:latin typeface="Courier New" panose="02070309020205020404" pitchFamily="49" charset="0"/>
                <a:cs typeface="Courier New" panose="02070309020205020404" pitchFamily="49" charset="0"/>
              </a:rPr>
              <a:t>;</a:t>
            </a:r>
          </a:p>
          <a:p>
            <a:pPr marL="108000" indent="0">
              <a:spcBef>
                <a:spcPts val="200"/>
              </a:spcBef>
              <a:buNone/>
            </a:pPr>
            <a:r>
              <a:rPr lang="en-US" altLang="zh-TW" dirty="0">
                <a:latin typeface="Courier New" panose="02070309020205020404" pitchFamily="49" charset="0"/>
                <a:cs typeface="Courier New" panose="02070309020205020404" pitchFamily="49" charset="0"/>
              </a:rPr>
              <a:t>public:</a:t>
            </a:r>
          </a:p>
          <a:p>
            <a:pPr marL="108000" indent="0">
              <a:spcBef>
                <a:spcPts val="200"/>
              </a:spcBef>
              <a:buNone/>
            </a:pPr>
            <a:r>
              <a:rPr lang="en-US" altLang="zh-TW" dirty="0">
                <a:latin typeface="Courier New" panose="02070309020205020404" pitchFamily="49" charset="0"/>
                <a:cs typeface="Courier New" panose="02070309020205020404" pitchFamily="49" charset="0"/>
              </a:rPr>
              <a:t>    Employee();</a:t>
            </a:r>
          </a:p>
          <a:p>
            <a:pPr marL="108000" indent="0">
              <a:spcBef>
                <a:spcPts val="200"/>
              </a:spcBef>
              <a:buNone/>
            </a:pPr>
            <a:r>
              <a:rPr lang="en-US" altLang="zh-TW" dirty="0">
                <a:latin typeface="Courier New" panose="02070309020205020404" pitchFamily="49" charset="0"/>
                <a:cs typeface="Courier New" panose="02070309020205020404" pitchFamily="49" charset="0"/>
              </a:rPr>
              <a:t>    Employee(string _name, string _id);</a:t>
            </a:r>
          </a:p>
          <a:p>
            <a:pPr marL="108000" indent="0">
              <a:spcBef>
                <a:spcPts val="200"/>
              </a:spcBef>
              <a:buNone/>
            </a:pPr>
            <a:r>
              <a:rPr lang="en-US" altLang="zh-TW" dirty="0">
                <a:latin typeface="Courier New" panose="02070309020205020404" pitchFamily="49" charset="0"/>
                <a:cs typeface="Courier New" panose="02070309020205020404" pitchFamily="49" charset="0"/>
              </a:rPr>
              <a:t>    string </a:t>
            </a:r>
            <a:r>
              <a:rPr lang="en-US" altLang="zh-TW" dirty="0" err="1">
                <a:latin typeface="Courier New" panose="02070309020205020404" pitchFamily="49" charset="0"/>
                <a:cs typeface="Courier New" panose="02070309020205020404" pitchFamily="49" charset="0"/>
              </a:rPr>
              <a:t>get_name</a:t>
            </a:r>
            <a:r>
              <a:rPr lang="en-US" altLang="zh-TW" dirty="0">
                <a:latin typeface="Courier New" panose="02070309020205020404" pitchFamily="49" charset="0"/>
                <a:cs typeface="Courier New" panose="02070309020205020404" pitchFamily="49" charset="0"/>
              </a:rPr>
              <a:t>();</a:t>
            </a:r>
          </a:p>
          <a:p>
            <a:pPr marL="108000" indent="0">
              <a:spcBef>
                <a:spcPts val="200"/>
              </a:spcBef>
              <a:buNone/>
            </a:pPr>
            <a:r>
              <a:rPr lang="en-US" altLang="zh-TW" dirty="0">
                <a:latin typeface="Courier New" panose="02070309020205020404" pitchFamily="49" charset="0"/>
                <a:cs typeface="Courier New" panose="02070309020205020404" pitchFamily="49" charset="0"/>
              </a:rPr>
              <a:t>    string </a:t>
            </a:r>
            <a:r>
              <a:rPr lang="en-US" altLang="zh-TW" dirty="0" err="1">
                <a:latin typeface="Courier New" panose="02070309020205020404" pitchFamily="49" charset="0"/>
                <a:cs typeface="Courier New" panose="02070309020205020404" pitchFamily="49" charset="0"/>
              </a:rPr>
              <a:t>get_id</a:t>
            </a:r>
            <a:r>
              <a:rPr lang="en-US" altLang="zh-TW" dirty="0">
                <a:latin typeface="Courier New" panose="02070309020205020404" pitchFamily="49" charset="0"/>
                <a:cs typeface="Courier New" panose="02070309020205020404" pitchFamily="49" charset="0"/>
              </a:rPr>
              <a:t>();</a:t>
            </a:r>
          </a:p>
          <a:p>
            <a:pPr marL="108000" indent="0">
              <a:spcBef>
                <a:spcPts val="200"/>
              </a:spcBef>
              <a:buNone/>
            </a:pPr>
            <a:r>
              <a:rPr lang="en-US" altLang="zh-TW" dirty="0">
                <a:latin typeface="Courier New" panose="02070309020205020404" pitchFamily="49" charset="0"/>
                <a:cs typeface="Courier New" panose="02070309020205020404" pitchFamily="49" charset="0"/>
              </a:rPr>
              <a:t>    double </a:t>
            </a:r>
            <a:r>
              <a:rPr lang="en-US" altLang="zh-TW" dirty="0" err="1">
                <a:latin typeface="Courier New" panose="02070309020205020404" pitchFamily="49" charset="0"/>
                <a:cs typeface="Courier New" panose="02070309020205020404" pitchFamily="49" charset="0"/>
              </a:rPr>
              <a:t>get_net_pay</a:t>
            </a:r>
            <a:r>
              <a:rPr lang="en-US" altLang="zh-TW" dirty="0">
                <a:latin typeface="Courier New" panose="02070309020205020404" pitchFamily="49" charset="0"/>
                <a:cs typeface="Courier New" panose="02070309020205020404" pitchFamily="49" charset="0"/>
              </a:rPr>
              <a:t>();</a:t>
            </a:r>
          </a:p>
          <a:p>
            <a:pPr marL="108000" indent="0">
              <a:spcBef>
                <a:spcPts val="200"/>
              </a:spcBef>
              <a:buNone/>
            </a:pPr>
            <a:r>
              <a:rPr lang="en-US" altLang="zh-TW" dirty="0">
                <a:latin typeface="Courier New" panose="02070309020205020404" pitchFamily="49" charset="0"/>
                <a:cs typeface="Courier New" panose="02070309020205020404" pitchFamily="49" charset="0"/>
              </a:rPr>
              <a:t>    void </a:t>
            </a:r>
            <a:r>
              <a:rPr lang="en-US" altLang="zh-TW" dirty="0" err="1">
                <a:latin typeface="Courier New" panose="02070309020205020404" pitchFamily="49" charset="0"/>
                <a:cs typeface="Courier New" panose="02070309020205020404" pitchFamily="49" charset="0"/>
              </a:rPr>
              <a:t>set_name</a:t>
            </a:r>
            <a:r>
              <a:rPr lang="en-US" altLang="zh-TW" dirty="0">
                <a:latin typeface="Courier New" panose="02070309020205020404" pitchFamily="49" charset="0"/>
                <a:cs typeface="Courier New" panose="02070309020205020404" pitchFamily="49" charset="0"/>
              </a:rPr>
              <a:t>(string _name);</a:t>
            </a:r>
          </a:p>
          <a:p>
            <a:pPr marL="108000" indent="0">
              <a:spcBef>
                <a:spcPts val="200"/>
              </a:spcBef>
              <a:buNone/>
            </a:pPr>
            <a:r>
              <a:rPr lang="en-US" altLang="zh-TW" dirty="0">
                <a:latin typeface="Courier New" panose="02070309020205020404" pitchFamily="49" charset="0"/>
                <a:cs typeface="Courier New" panose="02070309020205020404" pitchFamily="49" charset="0"/>
              </a:rPr>
              <a:t>    void </a:t>
            </a:r>
            <a:r>
              <a:rPr lang="en-US" altLang="zh-TW" dirty="0" err="1">
                <a:latin typeface="Courier New" panose="02070309020205020404" pitchFamily="49" charset="0"/>
                <a:cs typeface="Courier New" panose="02070309020205020404" pitchFamily="49" charset="0"/>
              </a:rPr>
              <a:t>set_id</a:t>
            </a:r>
            <a:r>
              <a:rPr lang="en-US" altLang="zh-TW" dirty="0">
                <a:latin typeface="Courier New" panose="02070309020205020404" pitchFamily="49" charset="0"/>
                <a:cs typeface="Courier New" panose="02070309020205020404" pitchFamily="49" charset="0"/>
              </a:rPr>
              <a:t>(string _id);</a:t>
            </a:r>
          </a:p>
          <a:p>
            <a:pPr marL="108000" indent="0">
              <a:spcBef>
                <a:spcPts val="200"/>
              </a:spcBef>
              <a:buNone/>
            </a:pPr>
            <a:r>
              <a:rPr lang="en-US" altLang="zh-TW" dirty="0">
                <a:latin typeface="Courier New" panose="02070309020205020404" pitchFamily="49" charset="0"/>
                <a:cs typeface="Courier New" panose="02070309020205020404" pitchFamily="49" charset="0"/>
              </a:rPr>
              <a:t>    void </a:t>
            </a:r>
            <a:r>
              <a:rPr lang="en-US" altLang="zh-TW" dirty="0" err="1">
                <a:latin typeface="Courier New" panose="02070309020205020404" pitchFamily="49" charset="0"/>
                <a:cs typeface="Courier New" panose="02070309020205020404" pitchFamily="49" charset="0"/>
              </a:rPr>
              <a:t>set_net_pay</a:t>
            </a:r>
            <a:r>
              <a:rPr lang="en-US" altLang="zh-TW" dirty="0">
                <a:latin typeface="Courier New" panose="02070309020205020404" pitchFamily="49" charset="0"/>
                <a:cs typeface="Courier New" panose="02070309020205020404" pitchFamily="49" charset="0"/>
              </a:rPr>
              <a:t>(double _</a:t>
            </a:r>
            <a:r>
              <a:rPr lang="en-US" altLang="zh-TW" dirty="0" err="1">
                <a:latin typeface="Courier New" panose="02070309020205020404" pitchFamily="49" charset="0"/>
                <a:cs typeface="Courier New" panose="02070309020205020404" pitchFamily="49" charset="0"/>
              </a:rPr>
              <a:t>net_pay</a:t>
            </a:r>
            <a:r>
              <a:rPr lang="en-US" altLang="zh-TW" dirty="0">
                <a:latin typeface="Courier New" panose="02070309020205020404" pitchFamily="49" charset="0"/>
                <a:cs typeface="Courier New" panose="02070309020205020404" pitchFamily="49" charset="0"/>
              </a:rPr>
              <a:t>);</a:t>
            </a:r>
          </a:p>
          <a:p>
            <a:pPr marL="108000" indent="0">
              <a:spcBef>
                <a:spcPts val="200"/>
              </a:spcBef>
              <a:buNone/>
            </a:pPr>
            <a:r>
              <a:rPr lang="en-US" altLang="zh-TW" dirty="0">
                <a:latin typeface="Courier New" panose="02070309020205020404" pitchFamily="49" charset="0"/>
                <a:cs typeface="Courier New" panose="02070309020205020404" pitchFamily="49" charset="0"/>
              </a:rPr>
              <a:t>    void </a:t>
            </a:r>
            <a:r>
              <a:rPr lang="en-US" altLang="zh-TW" dirty="0" err="1">
                <a:latin typeface="Courier New" panose="02070309020205020404" pitchFamily="49" charset="0"/>
                <a:cs typeface="Courier New" panose="02070309020205020404" pitchFamily="49" charset="0"/>
              </a:rPr>
              <a:t>print_check</a:t>
            </a:r>
            <a:r>
              <a:rPr lang="en-US" altLang="zh-TW" dirty="0">
                <a:latin typeface="Courier New" panose="02070309020205020404" pitchFamily="49" charset="0"/>
                <a:cs typeface="Courier New" panose="02070309020205020404" pitchFamily="49" charset="0"/>
              </a:rPr>
              <a:t>();</a:t>
            </a: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45</a:t>
            </a:fld>
            <a:endParaRPr lang="en-US" altLang="zh-TW"/>
          </a:p>
        </p:txBody>
      </p:sp>
    </p:spTree>
    <p:extLst>
      <p:ext uri="{BB962C8B-B14F-4D97-AF65-F5344CB8AC3E}">
        <p14:creationId xmlns:p14="http://schemas.microsoft.com/office/powerpoint/2010/main" val="10502917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Base Class Implementation - I</a:t>
            </a:r>
            <a:endParaRPr lang="zh-TW" altLang="en-US" dirty="0"/>
          </a:p>
        </p:txBody>
      </p:sp>
      <p:sp>
        <p:nvSpPr>
          <p:cNvPr id="2" name="內容版面配置區 1"/>
          <p:cNvSpPr>
            <a:spLocks noGrp="1"/>
          </p:cNvSpPr>
          <p:nvPr>
            <p:ph idx="1"/>
          </p:nvPr>
        </p:nvSpPr>
        <p:spPr>
          <a:xfrm>
            <a:off x="664635" y="1433689"/>
            <a:ext cx="10075084" cy="5091289"/>
          </a:xfrm>
        </p:spPr>
        <p:txBody>
          <a:bodyPr>
            <a:normAutofit fontScale="62500" lnSpcReduction="20000"/>
          </a:bodyPr>
          <a:lstStyle/>
          <a:p>
            <a:pPr marL="108000" indent="0">
              <a:spcBef>
                <a:spcPts val="200"/>
              </a:spcBef>
              <a:buNone/>
            </a:pPr>
            <a:r>
              <a:rPr lang="en-US" altLang="zh-TW" dirty="0">
                <a:latin typeface="Courier New" panose="02070309020205020404" pitchFamily="49" charset="0"/>
                <a:cs typeface="Courier New" panose="02070309020205020404" pitchFamily="49" charset="0"/>
              </a:rPr>
              <a:t>#include &lt;string&gt;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cstdlib</a:t>
            </a:r>
            <a:r>
              <a:rPr lang="en-US" altLang="zh-TW" dirty="0">
                <a:latin typeface="Courier New" panose="02070309020205020404" pitchFamily="49" charset="0"/>
                <a:cs typeface="Courier New" panose="02070309020205020404" pitchFamily="49" charset="0"/>
              </a:rPr>
              <a:t>&gt;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#include "</a:t>
            </a:r>
            <a:r>
              <a:rPr lang="en-US" altLang="zh-TW" dirty="0" err="1">
                <a:latin typeface="Courier New" panose="02070309020205020404" pitchFamily="49" charset="0"/>
                <a:cs typeface="Courier New" panose="02070309020205020404" pitchFamily="49" charset="0"/>
              </a:rPr>
              <a:t>Employee.h</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a:spcBef>
                <a:spcPts val="200"/>
              </a:spcBef>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Employee::Employee() : name(""), id(""), </a:t>
            </a:r>
            <a:r>
              <a:rPr lang="en-US" altLang="zh-TW" dirty="0" err="1">
                <a:latin typeface="Courier New" panose="02070309020205020404" pitchFamily="49" charset="0"/>
                <a:cs typeface="Courier New" panose="02070309020205020404" pitchFamily="49" charset="0"/>
              </a:rPr>
              <a:t>netPay</a:t>
            </a:r>
            <a:r>
              <a:rPr lang="en-US" altLang="zh-TW" dirty="0">
                <a:latin typeface="Courier New" panose="02070309020205020404" pitchFamily="49" charset="0"/>
                <a:cs typeface="Courier New" panose="02070309020205020404" pitchFamily="49" charset="0"/>
              </a:rPr>
              <a:t>(0)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 deliberately empty</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Employee::Employee(string _name, string _id)</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 name(_name), id(_id), </a:t>
            </a:r>
            <a:r>
              <a:rPr lang="en-US" altLang="zh-TW" dirty="0" err="1">
                <a:latin typeface="Courier New" panose="02070309020205020404" pitchFamily="49" charset="0"/>
                <a:cs typeface="Courier New" panose="02070309020205020404" pitchFamily="49" charset="0"/>
              </a:rPr>
              <a:t>netPay</a:t>
            </a:r>
            <a:r>
              <a:rPr lang="en-US" altLang="zh-TW" dirty="0">
                <a:latin typeface="Courier New" panose="02070309020205020404" pitchFamily="49" charset="0"/>
                <a:cs typeface="Courier New" panose="02070309020205020404" pitchFamily="49" charset="0"/>
              </a:rPr>
              <a:t>(0)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 deliberately empty</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string Employee::</a:t>
            </a:r>
            <a:r>
              <a:rPr lang="en-US" altLang="zh-TW" dirty="0" err="1">
                <a:latin typeface="Courier New" panose="02070309020205020404" pitchFamily="49" charset="0"/>
                <a:cs typeface="Courier New" panose="02070309020205020404" pitchFamily="49" charset="0"/>
              </a:rPr>
              <a:t>get_name</a:t>
            </a:r>
            <a:r>
              <a:rPr lang="en-US" altLang="zh-TW" dirty="0">
                <a:latin typeface="Courier New" panose="02070309020205020404" pitchFamily="49" charset="0"/>
                <a:cs typeface="Courier New" panose="02070309020205020404" pitchFamily="49" charset="0"/>
              </a:rPr>
              <a:t>()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return name;</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string Employee::</a:t>
            </a:r>
            <a:r>
              <a:rPr lang="en-US" altLang="zh-TW" dirty="0" err="1">
                <a:latin typeface="Courier New" panose="02070309020205020404" pitchFamily="49" charset="0"/>
                <a:cs typeface="Courier New" panose="02070309020205020404" pitchFamily="49" charset="0"/>
              </a:rPr>
              <a:t>get_id</a:t>
            </a:r>
            <a:r>
              <a:rPr lang="en-US" altLang="zh-TW" dirty="0">
                <a:latin typeface="Courier New" panose="02070309020205020404" pitchFamily="49" charset="0"/>
                <a:cs typeface="Courier New" panose="02070309020205020404" pitchFamily="49" charset="0"/>
              </a:rPr>
              <a:t>()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return id;</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double Employee::</a:t>
            </a:r>
            <a:r>
              <a:rPr lang="en-US" altLang="zh-TW" dirty="0" err="1">
                <a:latin typeface="Courier New" panose="02070309020205020404" pitchFamily="49" charset="0"/>
                <a:cs typeface="Courier New" panose="02070309020205020404" pitchFamily="49" charset="0"/>
              </a:rPr>
              <a:t>get_netPay</a:t>
            </a:r>
            <a:r>
              <a:rPr lang="en-US" altLang="zh-TW" dirty="0">
                <a:latin typeface="Courier New" panose="02070309020205020404" pitchFamily="49" charset="0"/>
                <a:cs typeface="Courier New" panose="02070309020205020404" pitchFamily="49" charset="0"/>
              </a:rPr>
              <a:t>()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return </a:t>
            </a:r>
            <a:r>
              <a:rPr lang="en-US" altLang="zh-TW" dirty="0" err="1">
                <a:latin typeface="Courier New" panose="02070309020205020404" pitchFamily="49" charset="0"/>
                <a:cs typeface="Courier New" panose="02070309020205020404" pitchFamily="49" charset="0"/>
              </a:rPr>
              <a:t>netPay</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46</a:t>
            </a:fld>
            <a:endParaRPr lang="en-US" altLang="zh-TW"/>
          </a:p>
        </p:txBody>
      </p:sp>
    </p:spTree>
    <p:extLst>
      <p:ext uri="{BB962C8B-B14F-4D97-AF65-F5344CB8AC3E}">
        <p14:creationId xmlns:p14="http://schemas.microsoft.com/office/powerpoint/2010/main" val="888386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Base Class Implementation - II</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85000" lnSpcReduction="20000"/>
          </a:bodyPr>
          <a:lstStyle/>
          <a:p>
            <a:pPr marL="109728" indent="0">
              <a:spcBef>
                <a:spcPts val="200"/>
              </a:spcBef>
              <a:buNone/>
            </a:pPr>
            <a:r>
              <a:rPr lang="en-US" altLang="zh-TW" dirty="0">
                <a:latin typeface="Courier New" panose="02070309020205020404" pitchFamily="49" charset="0"/>
                <a:cs typeface="Courier New" panose="02070309020205020404" pitchFamily="49" charset="0"/>
              </a:rPr>
              <a:t>void Employee::</a:t>
            </a:r>
            <a:r>
              <a:rPr lang="en-US" altLang="zh-TW" dirty="0" err="1">
                <a:latin typeface="Courier New" panose="02070309020205020404" pitchFamily="49" charset="0"/>
                <a:cs typeface="Courier New" panose="02070309020205020404" pitchFamily="49" charset="0"/>
              </a:rPr>
              <a:t>set_name</a:t>
            </a:r>
            <a:r>
              <a:rPr lang="en-US" altLang="zh-TW" dirty="0">
                <a:latin typeface="Courier New" panose="02070309020205020404" pitchFamily="49" charset="0"/>
                <a:cs typeface="Courier New" panose="02070309020205020404" pitchFamily="49" charset="0"/>
              </a:rPr>
              <a:t>(string _name)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name = _name;</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void Employee::</a:t>
            </a:r>
            <a:r>
              <a:rPr lang="en-US" altLang="zh-TW" dirty="0" err="1">
                <a:latin typeface="Courier New" panose="02070309020205020404" pitchFamily="49" charset="0"/>
                <a:cs typeface="Courier New" panose="02070309020205020404" pitchFamily="49" charset="0"/>
              </a:rPr>
              <a:t>set_id</a:t>
            </a:r>
            <a:r>
              <a:rPr lang="en-US" altLang="zh-TW" dirty="0">
                <a:latin typeface="Courier New" panose="02070309020205020404" pitchFamily="49" charset="0"/>
                <a:cs typeface="Courier New" panose="02070309020205020404" pitchFamily="49" charset="0"/>
              </a:rPr>
              <a:t>(string _id)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id = _id;</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void Employee::</a:t>
            </a:r>
            <a:r>
              <a:rPr lang="en-US" altLang="zh-TW" dirty="0" err="1">
                <a:latin typeface="Courier New" panose="02070309020205020404" pitchFamily="49" charset="0"/>
                <a:cs typeface="Courier New" panose="02070309020205020404" pitchFamily="49" charset="0"/>
              </a:rPr>
              <a:t>set_netPay</a:t>
            </a:r>
            <a:r>
              <a:rPr lang="en-US" altLang="zh-TW" dirty="0">
                <a:latin typeface="Courier New" panose="02070309020205020404" pitchFamily="49" charset="0"/>
                <a:cs typeface="Courier New" panose="02070309020205020404" pitchFamily="49" charset="0"/>
              </a:rPr>
              <a:t>(double _</a:t>
            </a:r>
            <a:r>
              <a:rPr lang="en-US" altLang="zh-TW" dirty="0" err="1">
                <a:latin typeface="Courier New" panose="02070309020205020404" pitchFamily="49" charset="0"/>
                <a:cs typeface="Courier New" panose="02070309020205020404" pitchFamily="49" charset="0"/>
              </a:rPr>
              <a:t>netPay</a:t>
            </a:r>
            <a:r>
              <a:rPr lang="en-US" altLang="zh-TW" dirty="0">
                <a:latin typeface="Courier New" panose="02070309020205020404" pitchFamily="49" charset="0"/>
                <a:cs typeface="Courier New" panose="02070309020205020404" pitchFamily="49" charset="0"/>
              </a:rPr>
              <a:t>)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netPay</a:t>
            </a:r>
            <a:r>
              <a:rPr lang="en-US" altLang="zh-TW" dirty="0">
                <a:latin typeface="Courier New" panose="02070309020205020404" pitchFamily="49" charset="0"/>
                <a:cs typeface="Courier New" panose="02070309020205020404" pitchFamily="49" charset="0"/>
              </a:rPr>
              <a:t> = _</a:t>
            </a:r>
            <a:r>
              <a:rPr lang="en-US" altLang="zh-TW" dirty="0" err="1">
                <a:latin typeface="Courier New" panose="02070309020205020404" pitchFamily="49" charset="0"/>
                <a:cs typeface="Courier New" panose="02070309020205020404" pitchFamily="49" charset="0"/>
              </a:rPr>
              <a:t>netPay</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void Employee::</a:t>
            </a:r>
            <a:r>
              <a:rPr lang="en-US" altLang="zh-TW" dirty="0" err="1">
                <a:latin typeface="Courier New" panose="02070309020205020404" pitchFamily="49" charset="0"/>
                <a:cs typeface="Courier New" panose="02070309020205020404" pitchFamily="49" charset="0"/>
              </a:rPr>
              <a:t>print_check</a:t>
            </a:r>
            <a:r>
              <a:rPr lang="en-US" altLang="zh-TW" dirty="0">
                <a:latin typeface="Courier New" panose="02070309020205020404" pitchFamily="49" charset="0"/>
                <a:cs typeface="Courier New" panose="02070309020205020404" pitchFamily="49" charset="0"/>
              </a:rPr>
              <a:t>()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nError</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print_check</a:t>
            </a:r>
            <a:r>
              <a:rPr lang="en-US" altLang="zh-TW" dirty="0">
                <a:latin typeface="Courier New" panose="02070309020205020404" pitchFamily="49" charset="0"/>
                <a:cs typeface="Courier New" panose="02070309020205020404" pitchFamily="49" charset="0"/>
              </a:rPr>
              <a:t> function called for"</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&lt;&lt; " a </a:t>
            </a:r>
            <a:r>
              <a:rPr lang="en-US" altLang="zh-TW" dirty="0" err="1">
                <a:latin typeface="Courier New" panose="02070309020205020404" pitchFamily="49" charset="0"/>
                <a:cs typeface="Courier New" panose="02070309020205020404" pitchFamily="49" charset="0"/>
              </a:rPr>
              <a:t>undefferentiated</a:t>
            </a:r>
            <a:r>
              <a:rPr lang="en-US" altLang="zh-TW" dirty="0">
                <a:latin typeface="Courier New" panose="02070309020205020404" pitchFamily="49" charset="0"/>
                <a:cs typeface="Courier New" panose="02070309020205020404" pitchFamily="49" charset="0"/>
              </a:rPr>
              <a:t> employee.\n"</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&lt;&lt; " Program aborted\n";</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exit(1);</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47</a:t>
            </a:fld>
            <a:endParaRPr lang="en-US" altLang="zh-TW"/>
          </a:p>
        </p:txBody>
      </p:sp>
    </p:spTree>
    <p:extLst>
      <p:ext uri="{BB962C8B-B14F-4D97-AF65-F5344CB8AC3E}">
        <p14:creationId xmlns:p14="http://schemas.microsoft.com/office/powerpoint/2010/main" val="8869490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Derived Class I</a:t>
            </a:r>
            <a:endParaRPr lang="zh-TW" altLang="en-US" dirty="0"/>
          </a:p>
        </p:txBody>
      </p:sp>
      <p:sp>
        <p:nvSpPr>
          <p:cNvPr id="2" name="內容版面配置區 1"/>
          <p:cNvSpPr>
            <a:spLocks noGrp="1"/>
          </p:cNvSpPr>
          <p:nvPr>
            <p:ph idx="1"/>
          </p:nvPr>
        </p:nvSpPr>
        <p:spPr>
          <a:xfrm>
            <a:off x="664635" y="1600200"/>
            <a:ext cx="10075084" cy="4773705"/>
          </a:xfrm>
        </p:spPr>
        <p:txBody>
          <a:bodyPr>
            <a:normAutofit fontScale="62500" lnSpcReduction="20000"/>
          </a:bodyPr>
          <a:lstStyle/>
          <a:p>
            <a:pPr marL="109728" indent="0">
              <a:spcBef>
                <a:spcPts val="200"/>
              </a:spcBef>
              <a:buNone/>
            </a:pPr>
            <a:r>
              <a:rPr lang="en-US" altLang="zh-TW" sz="3300" dirty="0">
                <a:cs typeface="Courier New" panose="02070309020205020404" pitchFamily="49" charset="0"/>
              </a:rPr>
              <a:t>And a derived class extends properties of the base class</a:t>
            </a:r>
          </a:p>
          <a:p>
            <a:pPr marL="109728" indent="0">
              <a:spcBef>
                <a:spcPts val="200"/>
              </a:spcBef>
              <a:buNone/>
            </a:pPr>
            <a:endParaRPr lang="en-US" altLang="zh-TW" dirty="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ifndef</a:t>
            </a:r>
            <a:r>
              <a:rPr lang="en-US" altLang="zh-TW" dirty="0">
                <a:latin typeface="Courier New" panose="02070309020205020404" pitchFamily="49" charset="0"/>
                <a:cs typeface="Courier New" panose="02070309020205020404" pitchFamily="49" charset="0"/>
              </a:rPr>
              <a:t> HOURLYEMPLOYEE</a:t>
            </a:r>
          </a:p>
          <a:p>
            <a:pPr marL="109728" indent="0">
              <a:spcBef>
                <a:spcPts val="200"/>
              </a:spcBef>
              <a:buNone/>
            </a:pPr>
            <a:r>
              <a:rPr lang="en-US" altLang="zh-TW" dirty="0">
                <a:latin typeface="Courier New" panose="02070309020205020404" pitchFamily="49" charset="0"/>
                <a:cs typeface="Courier New" panose="02070309020205020404" pitchFamily="49" charset="0"/>
              </a:rPr>
              <a:t>#define HOURLYEMPLOYEE</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#include &lt;string&gt;</a:t>
            </a:r>
          </a:p>
          <a:p>
            <a:pPr marL="109728" indent="0">
              <a:spcBef>
                <a:spcPts val="200"/>
              </a:spcBef>
              <a:buNone/>
            </a:pPr>
            <a:r>
              <a:rPr lang="en-US" altLang="zh-TW" dirty="0">
                <a:latin typeface="Courier New" panose="02070309020205020404" pitchFamily="49" charset="0"/>
                <a:cs typeface="Courier New" panose="02070309020205020404" pitchFamily="49" charset="0"/>
              </a:rPr>
              <a:t>#include "</a:t>
            </a:r>
            <a:r>
              <a:rPr lang="en-US" altLang="zh-TW" dirty="0" err="1">
                <a:latin typeface="Courier New" panose="02070309020205020404" pitchFamily="49" charset="0"/>
                <a:cs typeface="Courier New" panose="02070309020205020404" pitchFamily="49" charset="0"/>
              </a:rPr>
              <a:t>Employee.h</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class </a:t>
            </a:r>
            <a:r>
              <a:rPr lang="en-US" altLang="zh-TW" dirty="0" err="1">
                <a:latin typeface="Courier New" panose="02070309020205020404" pitchFamily="49" charset="0"/>
                <a:cs typeface="Courier New" panose="02070309020205020404" pitchFamily="49" charset="0"/>
              </a:rPr>
              <a:t>HourlyEmployee</a:t>
            </a:r>
            <a:r>
              <a:rPr lang="en-US" altLang="zh-TW" dirty="0">
                <a:latin typeface="Courier New" panose="02070309020205020404" pitchFamily="49" charset="0"/>
                <a:cs typeface="Courier New" panose="02070309020205020404" pitchFamily="49" charset="0"/>
              </a:rPr>
              <a:t> : public Employee {</a:t>
            </a:r>
          </a:p>
          <a:p>
            <a:pPr marL="109728" indent="0">
              <a:spcBef>
                <a:spcPts val="200"/>
              </a:spcBef>
              <a:buNone/>
            </a:pPr>
            <a:r>
              <a:rPr lang="en-US" altLang="zh-TW" dirty="0">
                <a:latin typeface="Courier New" panose="02070309020205020404" pitchFamily="49" charset="0"/>
                <a:cs typeface="Courier New" panose="02070309020205020404" pitchFamily="49" charset="0"/>
              </a:rPr>
              <a:t>private:</a:t>
            </a:r>
          </a:p>
          <a:p>
            <a:pPr marL="109728" indent="0">
              <a:spcBef>
                <a:spcPts val="200"/>
              </a:spcBef>
              <a:buNone/>
            </a:pPr>
            <a:r>
              <a:rPr lang="en-US" altLang="zh-TW" dirty="0">
                <a:latin typeface="Courier New" panose="02070309020205020404" pitchFamily="49" charset="0"/>
                <a:cs typeface="Courier New" panose="02070309020205020404" pitchFamily="49" charset="0"/>
              </a:rPr>
              <a:t>    double </a:t>
            </a:r>
            <a:r>
              <a:rPr lang="en-US" altLang="zh-TW" dirty="0" err="1">
                <a:latin typeface="Courier New" panose="02070309020205020404" pitchFamily="49" charset="0"/>
                <a:cs typeface="Courier New" panose="02070309020205020404" pitchFamily="49" charset="0"/>
              </a:rPr>
              <a:t>wageRate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double hours;</a:t>
            </a:r>
          </a:p>
          <a:p>
            <a:pPr marL="109728" indent="0">
              <a:spcBef>
                <a:spcPts val="200"/>
              </a:spcBef>
              <a:buNone/>
            </a:pPr>
            <a:r>
              <a:rPr lang="en-US" altLang="zh-TW" dirty="0">
                <a:latin typeface="Courier New" panose="02070309020205020404" pitchFamily="49" charset="0"/>
                <a:cs typeface="Courier New" panose="02070309020205020404" pitchFamily="49" charset="0"/>
              </a:rPr>
              <a:t>public:</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HourlyEmployee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HourlyEmployee</a:t>
            </a:r>
            <a:r>
              <a:rPr lang="en-US" altLang="zh-TW" dirty="0">
                <a:latin typeface="Courier New" panose="02070309020205020404" pitchFamily="49" charset="0"/>
                <a:cs typeface="Courier New" panose="02070309020205020404" pitchFamily="49" charset="0"/>
              </a:rPr>
              <a:t>(string _name, string _id,</a:t>
            </a:r>
          </a:p>
          <a:p>
            <a:pPr marL="109728" indent="0">
              <a:spcBef>
                <a:spcPts val="200"/>
              </a:spcBef>
              <a:buNone/>
            </a:pPr>
            <a:r>
              <a:rPr lang="en-US" altLang="zh-TW" dirty="0">
                <a:latin typeface="Courier New" panose="02070309020205020404" pitchFamily="49" charset="0"/>
                <a:cs typeface="Courier New" panose="02070309020205020404" pitchFamily="49" charset="0"/>
              </a:rPr>
              <a:t>                   double _</a:t>
            </a:r>
            <a:r>
              <a:rPr lang="en-US" altLang="zh-TW" dirty="0" err="1">
                <a:latin typeface="Courier New" panose="02070309020205020404" pitchFamily="49" charset="0"/>
                <a:cs typeface="Courier New" panose="02070309020205020404" pitchFamily="49" charset="0"/>
              </a:rPr>
              <a:t>wageRate</a:t>
            </a:r>
            <a:r>
              <a:rPr lang="en-US" altLang="zh-TW" dirty="0">
                <a:latin typeface="Courier New" panose="02070309020205020404" pitchFamily="49" charset="0"/>
                <a:cs typeface="Courier New" panose="02070309020205020404" pitchFamily="49" charset="0"/>
              </a:rPr>
              <a:t>, double _hours);</a:t>
            </a:r>
          </a:p>
          <a:p>
            <a:pPr marL="109728" indent="0">
              <a:spcBef>
                <a:spcPts val="200"/>
              </a:spcBef>
              <a:buNone/>
            </a:pPr>
            <a:r>
              <a:rPr lang="en-US" altLang="zh-TW" dirty="0">
                <a:latin typeface="Courier New" panose="02070309020205020404" pitchFamily="49" charset="0"/>
                <a:cs typeface="Courier New" panose="02070309020205020404" pitchFamily="49" charset="0"/>
              </a:rPr>
              <a:t>    void </a:t>
            </a:r>
            <a:r>
              <a:rPr lang="en-US" altLang="zh-TW" dirty="0" err="1">
                <a:latin typeface="Courier New" panose="02070309020205020404" pitchFamily="49" charset="0"/>
                <a:cs typeface="Courier New" panose="02070309020205020404" pitchFamily="49" charset="0"/>
              </a:rPr>
              <a:t>set_wageRate</a:t>
            </a:r>
            <a:r>
              <a:rPr lang="en-US" altLang="zh-TW" dirty="0">
                <a:latin typeface="Courier New" panose="02070309020205020404" pitchFamily="49" charset="0"/>
                <a:cs typeface="Courier New" panose="02070309020205020404" pitchFamily="49" charset="0"/>
              </a:rPr>
              <a:t>(double _</a:t>
            </a:r>
            <a:r>
              <a:rPr lang="en-US" altLang="zh-TW" dirty="0" err="1">
                <a:latin typeface="Courier New" panose="02070309020205020404" pitchFamily="49" charset="0"/>
                <a:cs typeface="Courier New" panose="02070309020205020404" pitchFamily="49" charset="0"/>
              </a:rPr>
              <a:t>wageRate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void </a:t>
            </a:r>
            <a:r>
              <a:rPr lang="en-US" altLang="zh-TW" dirty="0" err="1">
                <a:latin typeface="Courier New" panose="02070309020205020404" pitchFamily="49" charset="0"/>
                <a:cs typeface="Courier New" panose="02070309020205020404" pitchFamily="49" charset="0"/>
              </a:rPr>
              <a:t>set_hours</a:t>
            </a:r>
            <a:r>
              <a:rPr lang="en-US" altLang="zh-TW" dirty="0">
                <a:latin typeface="Courier New" panose="02070309020205020404" pitchFamily="49" charset="0"/>
                <a:cs typeface="Courier New" panose="02070309020205020404" pitchFamily="49" charset="0"/>
              </a:rPr>
              <a:t>(double _hours);</a:t>
            </a:r>
          </a:p>
          <a:p>
            <a:pPr marL="109728" indent="0">
              <a:spcBef>
                <a:spcPts val="200"/>
              </a:spcBef>
              <a:buNone/>
            </a:pPr>
            <a:r>
              <a:rPr lang="en-US" altLang="zh-TW" dirty="0">
                <a:latin typeface="Courier New" panose="02070309020205020404" pitchFamily="49" charset="0"/>
                <a:cs typeface="Courier New" panose="02070309020205020404" pitchFamily="49" charset="0"/>
              </a:rPr>
              <a:t>    double </a:t>
            </a:r>
            <a:r>
              <a:rPr lang="en-US" altLang="zh-TW" dirty="0" err="1">
                <a:latin typeface="Courier New" panose="02070309020205020404" pitchFamily="49" charset="0"/>
                <a:cs typeface="Courier New" panose="02070309020205020404" pitchFamily="49" charset="0"/>
              </a:rPr>
              <a:t>get_wageRate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double </a:t>
            </a:r>
            <a:r>
              <a:rPr lang="en-US" altLang="zh-TW" dirty="0" err="1">
                <a:latin typeface="Courier New" panose="02070309020205020404" pitchFamily="49" charset="0"/>
                <a:cs typeface="Courier New" panose="02070309020205020404" pitchFamily="49" charset="0"/>
              </a:rPr>
              <a:t>get_hours</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void </a:t>
            </a:r>
            <a:r>
              <a:rPr lang="en-US" altLang="zh-TW" dirty="0" err="1">
                <a:latin typeface="Courier New" panose="02070309020205020404" pitchFamily="49" charset="0"/>
                <a:cs typeface="Courier New" panose="02070309020205020404" pitchFamily="49" charset="0"/>
              </a:rPr>
              <a:t>print_check</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endif</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48</a:t>
            </a:fld>
            <a:endParaRPr lang="en-US" altLang="zh-TW"/>
          </a:p>
        </p:txBody>
      </p:sp>
    </p:spTree>
    <p:extLst>
      <p:ext uri="{BB962C8B-B14F-4D97-AF65-F5344CB8AC3E}">
        <p14:creationId xmlns:p14="http://schemas.microsoft.com/office/powerpoint/2010/main" val="1639179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dirty="0"/>
              <a:t>Derived Class I Implementation I</a:t>
            </a:r>
            <a:endParaRPr lang="zh-TW" altLang="en-US" dirty="0"/>
          </a:p>
        </p:txBody>
      </p:sp>
      <p:sp>
        <p:nvSpPr>
          <p:cNvPr id="2" name="內容版面配置區 1"/>
          <p:cNvSpPr>
            <a:spLocks noGrp="1"/>
          </p:cNvSpPr>
          <p:nvPr>
            <p:ph idx="1"/>
          </p:nvPr>
        </p:nvSpPr>
        <p:spPr>
          <a:xfrm>
            <a:off x="664635" y="1467556"/>
            <a:ext cx="10075084" cy="5091288"/>
          </a:xfrm>
        </p:spPr>
        <p:txBody>
          <a:bodyPr vert="horz" lIns="91440" tIns="45720" rIns="91440" bIns="45720" rtlCol="0">
            <a:normAutofit lnSpcReduction="10000"/>
          </a:bodyPr>
          <a:lstStyle/>
          <a:p>
            <a:pPr marL="109728" indent="0">
              <a:spcBef>
                <a:spcPts val="200"/>
              </a:spcBef>
              <a:buNone/>
            </a:pPr>
            <a:r>
              <a:rPr lang="en-US" altLang="zh-TW" sz="1400" dirty="0">
                <a:latin typeface="Courier New"/>
                <a:cs typeface="Courier New"/>
              </a:rPr>
              <a:t>#include &lt;string&gt;</a:t>
            </a:r>
          </a:p>
          <a:p>
            <a:pPr marL="109728" indent="0">
              <a:spcBef>
                <a:spcPts val="200"/>
              </a:spcBef>
              <a:buNone/>
            </a:pPr>
            <a:r>
              <a:rPr lang="en-US" altLang="zh-TW" sz="1400" dirty="0">
                <a:latin typeface="Courier New"/>
                <a:cs typeface="Courier New"/>
              </a:rPr>
              <a:t>#include &lt;</a:t>
            </a:r>
            <a:r>
              <a:rPr lang="en-US" altLang="zh-TW" sz="1400" dirty="0" err="1">
                <a:latin typeface="Courier New"/>
                <a:cs typeface="Courier New"/>
              </a:rPr>
              <a:t>iostream</a:t>
            </a:r>
            <a:r>
              <a:rPr lang="en-US" altLang="zh-TW" sz="1400" dirty="0">
                <a:latin typeface="Courier New"/>
                <a:cs typeface="Courier New"/>
              </a:rPr>
              <a:t>&gt;</a:t>
            </a:r>
          </a:p>
          <a:p>
            <a:pPr marL="109728" indent="0">
              <a:spcBef>
                <a:spcPts val="200"/>
              </a:spcBef>
              <a:buNone/>
            </a:pPr>
            <a:r>
              <a:rPr lang="en-US" altLang="zh-TW" sz="1400" dirty="0">
                <a:latin typeface="Courier New"/>
                <a:cs typeface="Courier New"/>
              </a:rPr>
              <a:t>#include "</a:t>
            </a:r>
            <a:r>
              <a:rPr lang="en-US" altLang="zh-TW" sz="1400" dirty="0" err="1">
                <a:latin typeface="Courier New"/>
                <a:cs typeface="Courier New"/>
              </a:rPr>
              <a:t>HourlyEmployee.h</a:t>
            </a:r>
            <a:r>
              <a:rPr lang="en-US" altLang="zh-TW" sz="1400" dirty="0">
                <a:latin typeface="Courier New"/>
                <a:cs typeface="Courier New"/>
              </a:rPr>
              <a:t>"</a:t>
            </a:r>
          </a:p>
          <a:p>
            <a:pPr marL="109728" indent="0">
              <a:spcBef>
                <a:spcPts val="200"/>
              </a:spcBef>
              <a:buNone/>
            </a:pPr>
            <a:r>
              <a:rPr lang="en-US" altLang="zh-TW" sz="1400" dirty="0">
                <a:latin typeface="Courier New"/>
                <a:cs typeface="Courier New"/>
              </a:rPr>
              <a:t>using namespace </a:t>
            </a:r>
            <a:r>
              <a:rPr lang="en-US" altLang="zh-TW" sz="1400" dirty="0" err="1">
                <a:latin typeface="Courier New"/>
                <a:cs typeface="Courier New"/>
              </a:rPr>
              <a:t>std</a:t>
            </a:r>
            <a:r>
              <a:rPr lang="en-US" altLang="zh-TW" sz="1400" dirty="0">
                <a:latin typeface="Courier New"/>
                <a:cs typeface="Courier New"/>
              </a:rPr>
              <a:t>;</a:t>
            </a:r>
          </a:p>
          <a:p>
            <a:pPr marL="109728" indent="0">
              <a:spcBef>
                <a:spcPts val="200"/>
              </a:spcBef>
              <a:buNone/>
            </a:pPr>
            <a:endParaRPr lang="en-US" altLang="zh-TW" sz="1400" dirty="0">
              <a:latin typeface="Courier New"/>
              <a:cs typeface="Courier New"/>
            </a:endParaRPr>
          </a:p>
          <a:p>
            <a:pPr marL="109728" indent="0">
              <a:spcBef>
                <a:spcPts val="200"/>
              </a:spcBef>
              <a:buNone/>
            </a:pPr>
            <a:r>
              <a:rPr lang="en-US" altLang="zh-TW" sz="1400" dirty="0" err="1">
                <a:latin typeface="Courier New"/>
                <a:cs typeface="Courier New"/>
              </a:rPr>
              <a:t>HourlyEmployee</a:t>
            </a:r>
            <a:r>
              <a:rPr lang="en-US" altLang="zh-TW" sz="1400" dirty="0">
                <a:latin typeface="Courier New"/>
                <a:cs typeface="Courier New"/>
              </a:rPr>
              <a:t>::</a:t>
            </a:r>
            <a:r>
              <a:rPr lang="en-US" altLang="zh-TW" sz="1400" dirty="0" err="1">
                <a:latin typeface="Courier New"/>
                <a:cs typeface="Courier New"/>
              </a:rPr>
              <a:t>HourlyEmployee</a:t>
            </a:r>
            <a:r>
              <a:rPr lang="en-US" altLang="zh-TW" sz="1400" dirty="0">
                <a:latin typeface="Courier New"/>
                <a:cs typeface="Courier New"/>
              </a:rPr>
              <a:t>() : Employee(), </a:t>
            </a:r>
            <a:r>
              <a:rPr lang="en-US" altLang="zh-TW" sz="1400" dirty="0" err="1">
                <a:latin typeface="Courier New"/>
                <a:cs typeface="Courier New"/>
              </a:rPr>
              <a:t>wageRate</a:t>
            </a:r>
            <a:r>
              <a:rPr lang="en-US" altLang="zh-TW" sz="1400" dirty="0">
                <a:latin typeface="Courier New"/>
                <a:cs typeface="Courier New"/>
              </a:rPr>
              <a:t>(0), hours(0) {</a:t>
            </a:r>
          </a:p>
          <a:p>
            <a:pPr marL="109728" indent="0">
              <a:spcBef>
                <a:spcPts val="200"/>
              </a:spcBef>
              <a:buNone/>
            </a:pPr>
            <a:r>
              <a:rPr lang="en-US" altLang="zh-TW" sz="1400" dirty="0">
                <a:latin typeface="Courier New"/>
                <a:cs typeface="Courier New"/>
              </a:rPr>
              <a:t>    // deliberately empty</a:t>
            </a:r>
          </a:p>
          <a:p>
            <a:pPr marL="109728" indent="0">
              <a:spcBef>
                <a:spcPts val="200"/>
              </a:spcBef>
              <a:buNone/>
            </a:pPr>
            <a:r>
              <a:rPr lang="en-US" altLang="zh-TW" sz="1400" dirty="0">
                <a:latin typeface="Courier New"/>
                <a:cs typeface="Courier New"/>
              </a:rPr>
              <a:t>}</a:t>
            </a:r>
          </a:p>
          <a:p>
            <a:pPr marL="109728" indent="0">
              <a:spcBef>
                <a:spcPts val="200"/>
              </a:spcBef>
              <a:buNone/>
            </a:pPr>
            <a:endParaRPr lang="en-US" altLang="zh-TW" sz="1400" dirty="0">
              <a:latin typeface="Courier New"/>
              <a:cs typeface="Courier New"/>
            </a:endParaRPr>
          </a:p>
          <a:p>
            <a:pPr marL="109728" indent="0">
              <a:spcBef>
                <a:spcPts val="200"/>
              </a:spcBef>
              <a:buNone/>
            </a:pPr>
            <a:r>
              <a:rPr lang="en-US" altLang="zh-TW" sz="1400" dirty="0" err="1">
                <a:latin typeface="Courier New"/>
                <a:cs typeface="Courier New"/>
              </a:rPr>
              <a:t>HourlyEmployee</a:t>
            </a:r>
            <a:r>
              <a:rPr lang="en-US" altLang="zh-TW" sz="1400" dirty="0">
                <a:latin typeface="Courier New"/>
                <a:cs typeface="Courier New"/>
              </a:rPr>
              <a:t>::</a:t>
            </a:r>
            <a:r>
              <a:rPr lang="en-US" altLang="zh-TW" sz="1400" dirty="0" err="1">
                <a:latin typeface="Courier New"/>
                <a:cs typeface="Courier New"/>
              </a:rPr>
              <a:t>HourlyEmployee</a:t>
            </a:r>
            <a:r>
              <a:rPr lang="en-US" altLang="zh-TW" sz="1400" dirty="0">
                <a:latin typeface="Courier New"/>
                <a:cs typeface="Courier New"/>
              </a:rPr>
              <a:t>(string _name, string _id,</a:t>
            </a:r>
          </a:p>
          <a:p>
            <a:pPr marL="109728" indent="0">
              <a:spcBef>
                <a:spcPts val="200"/>
              </a:spcBef>
              <a:buNone/>
            </a:pPr>
            <a:r>
              <a:rPr lang="en-US" altLang="zh-TW" sz="1400" dirty="0">
                <a:latin typeface="Courier New"/>
                <a:cs typeface="Courier New"/>
              </a:rPr>
              <a:t>                               double _</a:t>
            </a:r>
            <a:r>
              <a:rPr lang="en-US" altLang="zh-TW" sz="1400" dirty="0" err="1">
                <a:latin typeface="Courier New"/>
                <a:cs typeface="Courier New"/>
              </a:rPr>
              <a:t>wageRate</a:t>
            </a:r>
            <a:r>
              <a:rPr lang="en-US" altLang="zh-TW" sz="1400" dirty="0">
                <a:latin typeface="Courier New"/>
                <a:cs typeface="Courier New"/>
              </a:rPr>
              <a:t>, double _hours)</a:t>
            </a:r>
          </a:p>
          <a:p>
            <a:pPr marL="109728" indent="0">
              <a:spcBef>
                <a:spcPts val="200"/>
              </a:spcBef>
              <a:buNone/>
            </a:pPr>
            <a:r>
              <a:rPr lang="en-US" altLang="zh-TW" sz="1400" dirty="0">
                <a:latin typeface="Courier New"/>
                <a:cs typeface="Courier New"/>
              </a:rPr>
              <a:t>    : Employee(_name, _id), </a:t>
            </a:r>
            <a:r>
              <a:rPr lang="en-US" altLang="zh-TW" sz="1400" dirty="0" err="1">
                <a:latin typeface="Courier New"/>
                <a:cs typeface="Courier New"/>
              </a:rPr>
              <a:t>wageRate</a:t>
            </a:r>
            <a:r>
              <a:rPr lang="en-US" altLang="zh-TW" sz="1400" dirty="0">
                <a:latin typeface="Courier New"/>
                <a:cs typeface="Courier New"/>
              </a:rPr>
              <a:t>(_</a:t>
            </a:r>
            <a:r>
              <a:rPr lang="en-US" altLang="zh-TW" sz="1400" dirty="0" err="1">
                <a:latin typeface="Courier New"/>
                <a:cs typeface="Courier New"/>
              </a:rPr>
              <a:t>wageRate</a:t>
            </a:r>
            <a:r>
              <a:rPr lang="en-US" altLang="zh-TW" sz="1400" dirty="0">
                <a:latin typeface="Courier New"/>
                <a:cs typeface="Courier New"/>
              </a:rPr>
              <a:t>), hours(_hours) {</a:t>
            </a:r>
          </a:p>
          <a:p>
            <a:pPr marL="109728" indent="0">
              <a:spcBef>
                <a:spcPts val="200"/>
              </a:spcBef>
              <a:buNone/>
            </a:pPr>
            <a:r>
              <a:rPr lang="en-US" altLang="zh-TW" sz="1400" dirty="0">
                <a:latin typeface="Courier New"/>
                <a:cs typeface="Courier New"/>
              </a:rPr>
              <a:t>    // deliberately empty</a:t>
            </a:r>
          </a:p>
          <a:p>
            <a:pPr marL="109728" indent="0">
              <a:spcBef>
                <a:spcPts val="200"/>
              </a:spcBef>
              <a:buNone/>
            </a:pPr>
            <a:r>
              <a:rPr lang="en-US" altLang="zh-TW" sz="1400" dirty="0">
                <a:latin typeface="Courier New"/>
                <a:cs typeface="Courier New"/>
              </a:rPr>
              <a:t>}</a:t>
            </a:r>
          </a:p>
          <a:p>
            <a:pPr marL="109728" indent="0">
              <a:spcBef>
                <a:spcPts val="200"/>
              </a:spcBef>
              <a:buNone/>
            </a:pPr>
            <a:endParaRPr lang="en-US" altLang="zh-TW" sz="1400" dirty="0">
              <a:latin typeface="Courier New"/>
              <a:cs typeface="Courier New"/>
            </a:endParaRPr>
          </a:p>
          <a:p>
            <a:pPr marL="109728" indent="0">
              <a:spcBef>
                <a:spcPts val="200"/>
              </a:spcBef>
              <a:buNone/>
            </a:pPr>
            <a:r>
              <a:rPr lang="en-US" altLang="zh-TW" sz="1400" dirty="0">
                <a:latin typeface="Courier New"/>
                <a:cs typeface="Courier New"/>
              </a:rPr>
              <a:t>void </a:t>
            </a:r>
            <a:r>
              <a:rPr lang="en-US" altLang="zh-TW" sz="1400" dirty="0" err="1">
                <a:latin typeface="Courier New"/>
                <a:cs typeface="Courier New"/>
              </a:rPr>
              <a:t>HourlyEmployee</a:t>
            </a:r>
            <a:r>
              <a:rPr lang="en-US" altLang="zh-TW" sz="1400" dirty="0">
                <a:latin typeface="Courier New"/>
                <a:cs typeface="Courier New"/>
              </a:rPr>
              <a:t>::</a:t>
            </a:r>
            <a:r>
              <a:rPr lang="en-US" altLang="zh-TW" sz="1400" dirty="0" err="1">
                <a:latin typeface="Courier New"/>
                <a:cs typeface="Courier New"/>
              </a:rPr>
              <a:t>set_wageRate</a:t>
            </a:r>
            <a:r>
              <a:rPr lang="en-US" altLang="zh-TW" sz="1400" dirty="0">
                <a:latin typeface="Courier New"/>
                <a:cs typeface="Courier New"/>
              </a:rPr>
              <a:t>(double _</a:t>
            </a:r>
            <a:r>
              <a:rPr lang="en-US" altLang="zh-TW" sz="1400" dirty="0" err="1">
                <a:latin typeface="Courier New"/>
                <a:cs typeface="Courier New"/>
              </a:rPr>
              <a:t>wageRate</a:t>
            </a:r>
            <a:r>
              <a:rPr lang="en-US" altLang="zh-TW" sz="1400" dirty="0">
                <a:latin typeface="Courier New"/>
                <a:cs typeface="Courier New"/>
              </a:rPr>
              <a:t>) {</a:t>
            </a:r>
          </a:p>
          <a:p>
            <a:pPr marL="109728" indent="0">
              <a:spcBef>
                <a:spcPts val="200"/>
              </a:spcBef>
              <a:buNone/>
            </a:pPr>
            <a:r>
              <a:rPr lang="en-US" altLang="zh-TW" sz="1400" dirty="0">
                <a:latin typeface="Courier New"/>
                <a:cs typeface="Courier New"/>
              </a:rPr>
              <a:t>    </a:t>
            </a:r>
            <a:r>
              <a:rPr lang="en-US" altLang="zh-TW" sz="1400" dirty="0" err="1">
                <a:latin typeface="Courier New"/>
                <a:cs typeface="Courier New"/>
              </a:rPr>
              <a:t>wageRate</a:t>
            </a:r>
            <a:r>
              <a:rPr lang="en-US" altLang="zh-TW" sz="1400" dirty="0">
                <a:latin typeface="Courier New"/>
                <a:cs typeface="Courier New"/>
              </a:rPr>
              <a:t> = _</a:t>
            </a:r>
            <a:r>
              <a:rPr lang="en-US" altLang="zh-TW" sz="1400" dirty="0" err="1">
                <a:latin typeface="Courier New"/>
                <a:cs typeface="Courier New"/>
              </a:rPr>
              <a:t>wageRate</a:t>
            </a:r>
            <a:r>
              <a:rPr lang="en-US" altLang="zh-TW" sz="1400" dirty="0">
                <a:latin typeface="Courier New"/>
                <a:cs typeface="Courier New"/>
              </a:rPr>
              <a:t>;</a:t>
            </a:r>
          </a:p>
          <a:p>
            <a:pPr marL="109728" indent="0">
              <a:spcBef>
                <a:spcPts val="200"/>
              </a:spcBef>
              <a:buNone/>
            </a:pPr>
            <a:r>
              <a:rPr lang="en-US" altLang="zh-TW" sz="1400" dirty="0">
                <a:latin typeface="Courier New"/>
                <a:cs typeface="Courier New"/>
              </a:rPr>
              <a:t>}</a:t>
            </a:r>
          </a:p>
          <a:p>
            <a:pPr marL="109728" indent="0">
              <a:spcBef>
                <a:spcPts val="200"/>
              </a:spcBef>
              <a:buNone/>
            </a:pPr>
            <a:endParaRPr lang="en-US" altLang="zh-TW" sz="1400" dirty="0">
              <a:latin typeface="Courier New"/>
              <a:cs typeface="Courier New"/>
            </a:endParaRPr>
          </a:p>
          <a:p>
            <a:pPr marL="109728" indent="0">
              <a:spcBef>
                <a:spcPts val="200"/>
              </a:spcBef>
              <a:buNone/>
            </a:pPr>
            <a:r>
              <a:rPr lang="en-US" altLang="zh-TW" sz="1400" dirty="0">
                <a:latin typeface="Courier New"/>
                <a:cs typeface="Courier New"/>
              </a:rPr>
              <a:t>void </a:t>
            </a:r>
            <a:r>
              <a:rPr lang="en-US" altLang="zh-TW" sz="1400" dirty="0" err="1">
                <a:latin typeface="Courier New"/>
                <a:cs typeface="Courier New"/>
              </a:rPr>
              <a:t>HourlyEmployee</a:t>
            </a:r>
            <a:r>
              <a:rPr lang="en-US" altLang="zh-TW" sz="1400" dirty="0">
                <a:latin typeface="Courier New"/>
                <a:cs typeface="Courier New"/>
              </a:rPr>
              <a:t>::</a:t>
            </a:r>
            <a:r>
              <a:rPr lang="en-US" altLang="zh-TW" sz="1400" dirty="0" err="1">
                <a:latin typeface="Courier New"/>
                <a:cs typeface="Courier New"/>
              </a:rPr>
              <a:t>set_hours</a:t>
            </a:r>
            <a:r>
              <a:rPr lang="en-US" altLang="zh-TW" sz="1400" dirty="0">
                <a:latin typeface="Courier New"/>
                <a:cs typeface="Courier New"/>
              </a:rPr>
              <a:t>(double _hours) {</a:t>
            </a:r>
          </a:p>
          <a:p>
            <a:pPr marL="109728" indent="0">
              <a:spcBef>
                <a:spcPts val="200"/>
              </a:spcBef>
              <a:buNone/>
            </a:pPr>
            <a:r>
              <a:rPr lang="en-US" altLang="zh-TW" sz="1400" dirty="0">
                <a:latin typeface="Courier New"/>
                <a:cs typeface="Courier New"/>
              </a:rPr>
              <a:t>    hours = _hours;</a:t>
            </a:r>
          </a:p>
          <a:p>
            <a:pPr marL="109728" indent="0">
              <a:spcBef>
                <a:spcPts val="200"/>
              </a:spcBef>
              <a:buNone/>
            </a:pPr>
            <a:r>
              <a:rPr lang="en-US" altLang="zh-TW" sz="1400" dirty="0">
                <a:latin typeface="Courier New"/>
                <a:cs typeface="Courier New"/>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49</a:t>
            </a:fld>
            <a:endParaRPr lang="en-US" altLang="zh-TW"/>
          </a:p>
        </p:txBody>
      </p:sp>
    </p:spTree>
    <p:extLst>
      <p:ext uri="{BB962C8B-B14F-4D97-AF65-F5344CB8AC3E}">
        <p14:creationId xmlns:p14="http://schemas.microsoft.com/office/powerpoint/2010/main" val="27032218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dirty="0"/>
              <a:t>Derived Class I Implementation II</a:t>
            </a:r>
            <a:endParaRPr lang="zh-TW" altLang="en-US" dirty="0"/>
          </a:p>
        </p:txBody>
      </p:sp>
      <p:sp>
        <p:nvSpPr>
          <p:cNvPr id="2" name="內容版面配置區 1"/>
          <p:cNvSpPr>
            <a:spLocks noGrp="1"/>
          </p:cNvSpPr>
          <p:nvPr>
            <p:ph idx="1"/>
          </p:nvPr>
        </p:nvSpPr>
        <p:spPr>
          <a:xfrm>
            <a:off x="664635" y="1600200"/>
            <a:ext cx="10075084" cy="4773705"/>
          </a:xfrm>
        </p:spPr>
        <p:txBody>
          <a:bodyPr>
            <a:normAutofit fontScale="85000" lnSpcReduction="20000"/>
          </a:bodyPr>
          <a:lstStyle/>
          <a:p>
            <a:pPr marL="109728" indent="0">
              <a:spcBef>
                <a:spcPts val="200"/>
              </a:spcBef>
              <a:buNone/>
            </a:pPr>
            <a:r>
              <a:rPr lang="en-US" altLang="zh-TW" dirty="0">
                <a:latin typeface="Courier New" panose="02070309020205020404" pitchFamily="49" charset="0"/>
                <a:cs typeface="Courier New" panose="02070309020205020404" pitchFamily="49" charset="0"/>
              </a:rPr>
              <a:t>double </a:t>
            </a:r>
            <a:r>
              <a:rPr lang="en-US" altLang="zh-TW" dirty="0" err="1">
                <a:latin typeface="Courier New" panose="02070309020205020404" pitchFamily="49" charset="0"/>
                <a:cs typeface="Courier New" panose="02070309020205020404" pitchFamily="49" charset="0"/>
              </a:rPr>
              <a:t>HourlyEmployee</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get_wageRate</a:t>
            </a:r>
            <a:r>
              <a:rPr lang="en-US" altLang="zh-TW" dirty="0">
                <a:latin typeface="Courier New" panose="02070309020205020404" pitchFamily="49" charset="0"/>
                <a:cs typeface="Courier New" panose="02070309020205020404" pitchFamily="49" charset="0"/>
              </a:rPr>
              <a:t>() {</a:t>
            </a:r>
          </a:p>
          <a:p>
            <a:pPr marL="109728" indent="0">
              <a:spcBef>
                <a:spcPts val="200"/>
              </a:spcBef>
              <a:buNone/>
            </a:pPr>
            <a:r>
              <a:rPr lang="en-US" altLang="zh-TW" dirty="0">
                <a:latin typeface="Courier New" panose="02070309020205020404" pitchFamily="49" charset="0"/>
                <a:cs typeface="Courier New" panose="02070309020205020404" pitchFamily="49" charset="0"/>
              </a:rPr>
              <a:t>    return </a:t>
            </a:r>
            <a:r>
              <a:rPr lang="en-US" altLang="zh-TW" dirty="0" err="1">
                <a:latin typeface="Courier New" panose="02070309020205020404" pitchFamily="49" charset="0"/>
                <a:cs typeface="Courier New" panose="02070309020205020404" pitchFamily="49" charset="0"/>
              </a:rPr>
              <a:t>wageRate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double </a:t>
            </a:r>
            <a:r>
              <a:rPr lang="en-US" altLang="zh-TW" dirty="0" err="1">
                <a:latin typeface="Courier New" panose="02070309020205020404" pitchFamily="49" charset="0"/>
                <a:cs typeface="Courier New" panose="02070309020205020404" pitchFamily="49" charset="0"/>
              </a:rPr>
              <a:t>HourlyEmployee</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get_hours</a:t>
            </a:r>
            <a:r>
              <a:rPr lang="en-US" altLang="zh-TW" dirty="0">
                <a:latin typeface="Courier New" panose="02070309020205020404" pitchFamily="49" charset="0"/>
                <a:cs typeface="Courier New" panose="02070309020205020404" pitchFamily="49" charset="0"/>
              </a:rPr>
              <a:t>() {</a:t>
            </a:r>
          </a:p>
          <a:p>
            <a:pPr marL="109728" indent="0">
              <a:spcBef>
                <a:spcPts val="200"/>
              </a:spcBef>
              <a:buNone/>
            </a:pPr>
            <a:r>
              <a:rPr lang="en-US" altLang="zh-TW" dirty="0">
                <a:latin typeface="Courier New" panose="02070309020205020404" pitchFamily="49" charset="0"/>
                <a:cs typeface="Courier New" panose="02070309020205020404" pitchFamily="49" charset="0"/>
              </a:rPr>
              <a:t>    return hours;</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void </a:t>
            </a:r>
            <a:r>
              <a:rPr lang="en-US" altLang="zh-TW" dirty="0" err="1">
                <a:latin typeface="Courier New" panose="02070309020205020404" pitchFamily="49" charset="0"/>
                <a:cs typeface="Courier New" panose="02070309020205020404" pitchFamily="49" charset="0"/>
              </a:rPr>
              <a:t>HourlyEmployee</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print_check</a:t>
            </a:r>
            <a:r>
              <a:rPr lang="en-US" altLang="zh-TW" dirty="0">
                <a:latin typeface="Courier New" panose="02070309020205020404" pitchFamily="49" charset="0"/>
                <a:cs typeface="Courier New" panose="02070309020205020404" pitchFamily="49" charset="0"/>
              </a:rPr>
              <a:t>() {</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set_netPay</a:t>
            </a:r>
            <a:r>
              <a:rPr lang="en-US" altLang="zh-TW" dirty="0">
                <a:latin typeface="Courier New" panose="02070309020205020404" pitchFamily="49" charset="0"/>
                <a:cs typeface="Courier New" panose="02070309020205020404" pitchFamily="49" charset="0"/>
              </a:rPr>
              <a:t>(hours * </a:t>
            </a:r>
            <a:r>
              <a:rPr lang="en-US" altLang="zh-TW" dirty="0" err="1">
                <a:latin typeface="Courier New" panose="02070309020205020404" pitchFamily="49" charset="0"/>
                <a:cs typeface="Courier New" panose="02070309020205020404" pitchFamily="49" charset="0"/>
              </a:rPr>
              <a:t>wageRate</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"\n_________________________________________\n";</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"Pay to the order of " &lt;&lt; </a:t>
            </a:r>
            <a:r>
              <a:rPr lang="en-US" altLang="zh-TW" dirty="0" err="1">
                <a:latin typeface="Courier New" panose="02070309020205020404" pitchFamily="49" charset="0"/>
                <a:cs typeface="Courier New" panose="02070309020205020404" pitchFamily="49" charset="0"/>
              </a:rPr>
              <a:t>get_name</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"The sum of " &lt;&lt; </a:t>
            </a:r>
            <a:r>
              <a:rPr lang="en-US" altLang="zh-TW" dirty="0" err="1">
                <a:latin typeface="Courier New" panose="02070309020205020404" pitchFamily="49" charset="0"/>
                <a:cs typeface="Courier New" panose="02070309020205020404" pitchFamily="49" charset="0"/>
              </a:rPr>
              <a:t>get_netPay</a:t>
            </a:r>
            <a:r>
              <a:rPr lang="en-US" altLang="zh-TW" dirty="0">
                <a:latin typeface="Courier New" panose="02070309020205020404" pitchFamily="49" charset="0"/>
                <a:cs typeface="Courier New" panose="02070309020205020404" pitchFamily="49" charset="0"/>
              </a:rPr>
              <a:t>() &lt;&lt; " Dollars\n";</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"\n_________________________________________\n";</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"Check Stub: NOT NEGOTIATABLE\n";</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"Employee Number: " &lt;&lt; </a:t>
            </a:r>
            <a:r>
              <a:rPr lang="en-US" altLang="zh-TW" dirty="0" err="1">
                <a:latin typeface="Courier New" panose="02070309020205020404" pitchFamily="49" charset="0"/>
                <a:cs typeface="Courier New" panose="02070309020205020404" pitchFamily="49" charset="0"/>
              </a:rPr>
              <a:t>get_id</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"Hourly Employee. \</a:t>
            </a:r>
            <a:r>
              <a:rPr lang="en-US" altLang="zh-TW" dirty="0" err="1">
                <a:latin typeface="Courier New" panose="02070309020205020404" pitchFamily="49" charset="0"/>
                <a:cs typeface="Courier New" panose="02070309020205020404" pitchFamily="49" charset="0"/>
              </a:rPr>
              <a:t>nHours</a:t>
            </a:r>
            <a:r>
              <a:rPr lang="en-US" altLang="zh-TW" dirty="0">
                <a:latin typeface="Courier New" panose="02070309020205020404" pitchFamily="49" charset="0"/>
                <a:cs typeface="Courier New" panose="02070309020205020404" pitchFamily="49" charset="0"/>
              </a:rPr>
              <a:t> worked: " &lt;&lt; hours</a:t>
            </a:r>
          </a:p>
          <a:p>
            <a:pPr marL="109728" indent="0">
              <a:spcBef>
                <a:spcPts val="200"/>
              </a:spcBef>
              <a:buNone/>
            </a:pPr>
            <a:r>
              <a:rPr lang="en-US" altLang="zh-TW" dirty="0">
                <a:latin typeface="Courier New" panose="02070309020205020404" pitchFamily="49" charset="0"/>
                <a:cs typeface="Courier New" panose="02070309020205020404" pitchFamily="49" charset="0"/>
              </a:rPr>
              <a:t>         &lt;&lt; " Rate: " &lt;&lt; </a:t>
            </a:r>
            <a:r>
              <a:rPr lang="en-US" altLang="zh-TW" dirty="0" err="1">
                <a:latin typeface="Courier New" panose="02070309020205020404" pitchFamily="49" charset="0"/>
                <a:cs typeface="Courier New" panose="02070309020205020404" pitchFamily="49" charset="0"/>
              </a:rPr>
              <a:t>wageRate</a:t>
            </a:r>
            <a:r>
              <a:rPr lang="en-US" altLang="zh-TW" dirty="0">
                <a:latin typeface="Courier New" panose="02070309020205020404" pitchFamily="49" charset="0"/>
                <a:cs typeface="Courier New" panose="02070309020205020404" pitchFamily="49" charset="0"/>
              </a:rPr>
              <a:t> &lt;&lt; " Pay: " &lt;&lt; </a:t>
            </a:r>
            <a:r>
              <a:rPr lang="en-US" altLang="zh-TW" dirty="0" err="1">
                <a:latin typeface="Courier New" panose="02070309020205020404" pitchFamily="49" charset="0"/>
                <a:cs typeface="Courier New" panose="02070309020205020404" pitchFamily="49" charset="0"/>
              </a:rPr>
              <a:t>get_netPay</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r>
              <a:rPr lang="en-US" altLang="zh-TW" dirty="0">
                <a:latin typeface="Courier New" panose="02070309020205020404" pitchFamily="49" charset="0"/>
                <a:cs typeface="Courier New" panose="02070309020205020404" pitchFamily="49" charset="0"/>
              </a:rPr>
              <a: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50</a:t>
            </a:fld>
            <a:endParaRPr lang="en-US" altLang="zh-TW"/>
          </a:p>
        </p:txBody>
      </p:sp>
    </p:spTree>
    <p:extLst>
      <p:ext uri="{BB962C8B-B14F-4D97-AF65-F5344CB8AC3E}">
        <p14:creationId xmlns:p14="http://schemas.microsoft.com/office/powerpoint/2010/main" val="2571429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Derived Class II</a:t>
            </a:r>
            <a:endParaRPr lang="zh-TW" altLang="en-US" dirty="0"/>
          </a:p>
        </p:txBody>
      </p:sp>
      <p:sp>
        <p:nvSpPr>
          <p:cNvPr id="2" name="內容版面配置區 1"/>
          <p:cNvSpPr>
            <a:spLocks noGrp="1"/>
          </p:cNvSpPr>
          <p:nvPr>
            <p:ph idx="1"/>
          </p:nvPr>
        </p:nvSpPr>
        <p:spPr>
          <a:xfrm>
            <a:off x="664635" y="1501422"/>
            <a:ext cx="10075084" cy="5046134"/>
          </a:xfrm>
        </p:spPr>
        <p:txBody>
          <a:bodyPr>
            <a:normAutofit fontScale="77500" lnSpcReduction="20000"/>
          </a:bodyPr>
          <a:lstStyle/>
          <a:p>
            <a:pPr marL="109728" indent="0">
              <a:spcBef>
                <a:spcPts val="200"/>
              </a:spcBef>
              <a:buNone/>
            </a:pP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ifndef</a:t>
            </a:r>
            <a:r>
              <a:rPr lang="en-US" altLang="zh-TW" dirty="0">
                <a:latin typeface="Courier New" panose="02070309020205020404" pitchFamily="49" charset="0"/>
                <a:cs typeface="Courier New" panose="02070309020205020404" pitchFamily="49" charset="0"/>
              </a:rPr>
              <a:t> SALARIEDEMPLOYEE</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#define SALARIEDEMPLOYEE</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#include &lt;string&gt;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#include "</a:t>
            </a:r>
            <a:r>
              <a:rPr lang="en-US" altLang="zh-TW" dirty="0" err="1">
                <a:latin typeface="Courier New" panose="02070309020205020404" pitchFamily="49" charset="0"/>
                <a:cs typeface="Courier New" panose="02070309020205020404" pitchFamily="49" charset="0"/>
              </a:rPr>
              <a:t>Employee.h</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class </a:t>
            </a:r>
            <a:r>
              <a:rPr lang="en-US" altLang="zh-TW" dirty="0" err="1">
                <a:latin typeface="Courier New" panose="02070309020205020404" pitchFamily="49" charset="0"/>
                <a:cs typeface="Courier New" panose="02070309020205020404" pitchFamily="49" charset="0"/>
              </a:rPr>
              <a:t>SalariedEmployee</a:t>
            </a:r>
            <a:r>
              <a:rPr lang="en-US" altLang="zh-TW" dirty="0">
                <a:latin typeface="Courier New" panose="02070309020205020404" pitchFamily="49" charset="0"/>
                <a:cs typeface="Courier New" panose="02070309020205020404" pitchFamily="49" charset="0"/>
              </a:rPr>
              <a:t> : public Employee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private:</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double salary;</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public:</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SalariedEmployee</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SalariedEmployee</a:t>
            </a:r>
            <a:r>
              <a:rPr lang="en-US" altLang="zh-TW" dirty="0">
                <a:latin typeface="Courier New" panose="02070309020205020404" pitchFamily="49" charset="0"/>
                <a:cs typeface="Courier New" panose="02070309020205020404" pitchFamily="49" charset="0"/>
              </a:rPr>
              <a:t>(string _name, string _id,</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double _salary);</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void </a:t>
            </a:r>
            <a:r>
              <a:rPr lang="en-US" altLang="zh-TW" dirty="0" err="1">
                <a:latin typeface="Courier New" panose="02070309020205020404" pitchFamily="49" charset="0"/>
                <a:cs typeface="Courier New" panose="02070309020205020404" pitchFamily="49" charset="0"/>
              </a:rPr>
              <a:t>set_salary</a:t>
            </a:r>
            <a:r>
              <a:rPr lang="en-US" altLang="zh-TW" dirty="0">
                <a:latin typeface="Courier New" panose="02070309020205020404" pitchFamily="49" charset="0"/>
                <a:cs typeface="Courier New" panose="02070309020205020404" pitchFamily="49" charset="0"/>
              </a:rPr>
              <a:t>(double _salary);</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double </a:t>
            </a:r>
            <a:r>
              <a:rPr lang="en-US" altLang="zh-TW" dirty="0" err="1">
                <a:latin typeface="Courier New" panose="02070309020205020404" pitchFamily="49" charset="0"/>
                <a:cs typeface="Courier New" panose="02070309020205020404" pitchFamily="49" charset="0"/>
              </a:rPr>
              <a:t>get_salary</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void </a:t>
            </a:r>
            <a:r>
              <a:rPr lang="en-US" altLang="zh-TW" dirty="0" err="1">
                <a:latin typeface="Courier New" panose="02070309020205020404" pitchFamily="49" charset="0"/>
                <a:cs typeface="Courier New" panose="02070309020205020404" pitchFamily="49" charset="0"/>
              </a:rPr>
              <a:t>print_check</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endif</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51</a:t>
            </a:fld>
            <a:endParaRPr lang="en-US" altLang="zh-TW"/>
          </a:p>
        </p:txBody>
      </p:sp>
    </p:spTree>
    <p:extLst>
      <p:ext uri="{BB962C8B-B14F-4D97-AF65-F5344CB8AC3E}">
        <p14:creationId xmlns:p14="http://schemas.microsoft.com/office/powerpoint/2010/main" val="24955847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1981200" y="1241377"/>
            <a:ext cx="8229600" cy="5132763"/>
          </a:xfrm>
        </p:spPr>
        <p:txBody>
          <a:bodyPr>
            <a:noAutofit/>
          </a:bodyPr>
          <a:lstStyle/>
          <a:p>
            <a:pPr marL="109728" indent="0">
              <a:spcBef>
                <a:spcPts val="200"/>
              </a:spcBef>
              <a:buNone/>
            </a:pPr>
            <a:r>
              <a:rPr lang="en-US" altLang="zh-TW" sz="1600" dirty="0">
                <a:latin typeface="Courier New" panose="02070309020205020404" pitchFamily="49" charset="0"/>
                <a:cs typeface="Courier New" panose="02070309020205020404" pitchFamily="49" charset="0"/>
              </a:rPr>
              <a:t>#include &lt;string&gt;</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#include &lt;</a:t>
            </a:r>
            <a:r>
              <a:rPr lang="en-US" altLang="zh-TW" sz="1600" dirty="0" err="1">
                <a:latin typeface="Courier New" panose="02070309020205020404" pitchFamily="49" charset="0"/>
                <a:cs typeface="Courier New" panose="02070309020205020404" pitchFamily="49" charset="0"/>
              </a:rPr>
              <a:t>iostream</a:t>
            </a:r>
            <a:r>
              <a:rPr lang="en-US" altLang="zh-TW" sz="1600" dirty="0">
                <a:latin typeface="Courier New" panose="02070309020205020404" pitchFamily="49" charset="0"/>
                <a:cs typeface="Courier New" panose="02070309020205020404" pitchFamily="49" charset="0"/>
              </a:rPr>
              <a:t>&gt;</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#include "</a:t>
            </a:r>
            <a:r>
              <a:rPr lang="en-US" altLang="zh-TW" sz="1600" dirty="0" err="1">
                <a:latin typeface="Courier New" panose="02070309020205020404" pitchFamily="49" charset="0"/>
                <a:cs typeface="Courier New" panose="02070309020205020404" pitchFamily="49" charset="0"/>
              </a:rPr>
              <a:t>SalariedEmployee.h</a:t>
            </a:r>
            <a:r>
              <a:rPr lang="en-US" altLang="zh-TW" sz="1600" dirty="0">
                <a:latin typeface="Courier New" panose="02070309020205020404" pitchFamily="49" charset="0"/>
                <a:cs typeface="Courier New" panose="02070309020205020404" pitchFamily="49" charset="0"/>
              </a:rPr>
              <a:t>"</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using namespace </a:t>
            </a:r>
            <a:r>
              <a:rPr lang="en-US" altLang="zh-TW" sz="1600" dirty="0" err="1">
                <a:latin typeface="Courier New" panose="02070309020205020404" pitchFamily="49" charset="0"/>
                <a:cs typeface="Courier New" panose="02070309020205020404" pitchFamily="49" charset="0"/>
              </a:rPr>
              <a:t>std</a:t>
            </a:r>
            <a:r>
              <a:rPr lang="en-US" altLang="zh-TW" sz="1600" dirty="0">
                <a:latin typeface="Courier New" panose="02070309020205020404" pitchFamily="49" charset="0"/>
                <a:cs typeface="Courier New" panose="02070309020205020404" pitchFamily="49" charset="0"/>
              </a:rPr>
              <a:t>;</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err="1">
                <a:latin typeface="Courier New" panose="02070309020205020404" pitchFamily="49" charset="0"/>
                <a:cs typeface="Courier New" panose="02070309020205020404" pitchFamily="49" charset="0"/>
              </a:rPr>
              <a:t>SalariedEmployee</a:t>
            </a:r>
            <a:r>
              <a:rPr lang="en-US" altLang="zh-TW" sz="1600" dirty="0">
                <a:latin typeface="Courier New" panose="02070309020205020404" pitchFamily="49" charset="0"/>
                <a:cs typeface="Courier New" panose="02070309020205020404" pitchFamily="49" charset="0"/>
              </a:rPr>
              <a:t>::</a:t>
            </a:r>
            <a:r>
              <a:rPr lang="en-US" altLang="zh-TW" sz="1600" dirty="0" err="1">
                <a:latin typeface="Courier New" panose="02070309020205020404" pitchFamily="49" charset="0"/>
                <a:cs typeface="Courier New" panose="02070309020205020404" pitchFamily="49" charset="0"/>
              </a:rPr>
              <a:t>SalariedEmployee</a:t>
            </a:r>
            <a:r>
              <a:rPr lang="en-US" altLang="zh-TW" sz="1600" dirty="0">
                <a:latin typeface="Courier New" panose="02070309020205020404" pitchFamily="49" charset="0"/>
                <a:cs typeface="Courier New" panose="02070309020205020404" pitchFamily="49" charset="0"/>
              </a:rPr>
              <a:t>() : Employee(), salary(0) {</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 deliberately empty</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err="1">
                <a:latin typeface="Courier New" panose="02070309020205020404" pitchFamily="49" charset="0"/>
                <a:cs typeface="Courier New" panose="02070309020205020404" pitchFamily="49" charset="0"/>
              </a:rPr>
              <a:t>SalariedEmployee</a:t>
            </a:r>
            <a:r>
              <a:rPr lang="en-US" altLang="zh-TW" sz="1600" dirty="0">
                <a:latin typeface="Courier New" panose="02070309020205020404" pitchFamily="49" charset="0"/>
                <a:cs typeface="Courier New" panose="02070309020205020404" pitchFamily="49" charset="0"/>
              </a:rPr>
              <a:t>::</a:t>
            </a:r>
            <a:r>
              <a:rPr lang="en-US" altLang="zh-TW" sz="1600" dirty="0" err="1">
                <a:latin typeface="Courier New" panose="02070309020205020404" pitchFamily="49" charset="0"/>
                <a:cs typeface="Courier New" panose="02070309020205020404" pitchFamily="49" charset="0"/>
              </a:rPr>
              <a:t>SalariedEmployee</a:t>
            </a:r>
            <a:r>
              <a:rPr lang="en-US" altLang="zh-TW" sz="1600" dirty="0">
                <a:latin typeface="Courier New" panose="02070309020205020404" pitchFamily="49" charset="0"/>
                <a:cs typeface="Courier New" panose="02070309020205020404" pitchFamily="49" charset="0"/>
              </a:rPr>
              <a:t>(string _name, string _id,</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double _salary)</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 Employee(_name, _id), salary(_salary) {</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 deliberately empty</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void </a:t>
            </a:r>
            <a:r>
              <a:rPr lang="en-US" altLang="zh-TW" sz="1600" dirty="0" err="1">
                <a:latin typeface="Courier New" panose="02070309020205020404" pitchFamily="49" charset="0"/>
                <a:cs typeface="Courier New" panose="02070309020205020404" pitchFamily="49" charset="0"/>
              </a:rPr>
              <a:t>SalariedEmployee</a:t>
            </a:r>
            <a:r>
              <a:rPr lang="en-US" altLang="zh-TW" sz="1600" dirty="0">
                <a:latin typeface="Courier New" panose="02070309020205020404" pitchFamily="49" charset="0"/>
                <a:cs typeface="Courier New" panose="02070309020205020404" pitchFamily="49" charset="0"/>
              </a:rPr>
              <a:t>::</a:t>
            </a:r>
            <a:r>
              <a:rPr lang="en-US" altLang="zh-TW" sz="1600" dirty="0" err="1">
                <a:latin typeface="Courier New" panose="02070309020205020404" pitchFamily="49" charset="0"/>
                <a:cs typeface="Courier New" panose="02070309020205020404" pitchFamily="49" charset="0"/>
              </a:rPr>
              <a:t>set_salary</a:t>
            </a:r>
            <a:r>
              <a:rPr lang="en-US" altLang="zh-TW" sz="1600" dirty="0">
                <a:latin typeface="Courier New" panose="02070309020205020404" pitchFamily="49" charset="0"/>
                <a:cs typeface="Courier New" panose="02070309020205020404" pitchFamily="49" charset="0"/>
              </a:rPr>
              <a:t>(double _salary) {</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salary = _salary;</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a:t>
            </a:r>
            <a:endParaRPr lang="zh-TW" altLang="en-US" sz="1600"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52</a:t>
            </a:fld>
            <a:endParaRPr lang="en-US" altLang="zh-TW"/>
          </a:p>
        </p:txBody>
      </p:sp>
      <p:sp>
        <p:nvSpPr>
          <p:cNvPr id="4" name="標題 3"/>
          <p:cNvSpPr>
            <a:spLocks noGrp="1"/>
          </p:cNvSpPr>
          <p:nvPr>
            <p:ph type="title"/>
          </p:nvPr>
        </p:nvSpPr>
        <p:spPr/>
        <p:txBody>
          <a:bodyPr>
            <a:normAutofit/>
          </a:bodyPr>
          <a:lstStyle/>
          <a:p>
            <a:r>
              <a:rPr lang="en-US" altLang="zh-TW" dirty="0"/>
              <a:t>Derived Class II Implementation I</a:t>
            </a:r>
            <a:endParaRPr lang="zh-TW" altLang="en-US" dirty="0"/>
          </a:p>
        </p:txBody>
      </p:sp>
    </p:spTree>
    <p:extLst>
      <p:ext uri="{BB962C8B-B14F-4D97-AF65-F5344CB8AC3E}">
        <p14:creationId xmlns:p14="http://schemas.microsoft.com/office/powerpoint/2010/main" val="20721660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dirty="0"/>
              <a:t>Derived Class II Implementation I</a:t>
            </a:r>
            <a:endParaRPr lang="zh-TW" altLang="en-US" dirty="0"/>
          </a:p>
        </p:txBody>
      </p:sp>
      <p:sp>
        <p:nvSpPr>
          <p:cNvPr id="2" name="內容版面配置區 1"/>
          <p:cNvSpPr>
            <a:spLocks noGrp="1"/>
          </p:cNvSpPr>
          <p:nvPr>
            <p:ph idx="1"/>
          </p:nvPr>
        </p:nvSpPr>
        <p:spPr>
          <a:xfrm>
            <a:off x="664635" y="1456267"/>
            <a:ext cx="10075084" cy="5046133"/>
          </a:xfrm>
        </p:spPr>
        <p:txBody>
          <a:bodyPr>
            <a:noAutofit/>
          </a:bodyPr>
          <a:lstStyle/>
          <a:p>
            <a:pPr marL="109728" indent="0">
              <a:spcBef>
                <a:spcPts val="200"/>
              </a:spcBef>
              <a:buNone/>
            </a:pPr>
            <a:r>
              <a:rPr lang="en-US" altLang="zh-TW" sz="1800" dirty="0">
                <a:latin typeface="Courier New" panose="02070309020205020404" pitchFamily="49" charset="0"/>
                <a:cs typeface="Courier New" panose="02070309020205020404" pitchFamily="49" charset="0"/>
              </a:rPr>
              <a:t>double </a:t>
            </a:r>
            <a:r>
              <a:rPr lang="en-US" altLang="zh-TW" sz="1800" dirty="0" err="1">
                <a:latin typeface="Courier New" panose="02070309020205020404" pitchFamily="49" charset="0"/>
                <a:cs typeface="Courier New" panose="02070309020205020404" pitchFamily="49" charset="0"/>
              </a:rPr>
              <a:t>SalariedEmployee</a:t>
            </a:r>
            <a:r>
              <a:rPr lang="en-US" altLang="zh-TW" sz="1800" dirty="0">
                <a:latin typeface="Courier New" panose="02070309020205020404" pitchFamily="49" charset="0"/>
                <a:cs typeface="Courier New" panose="02070309020205020404" pitchFamily="49" charset="0"/>
              </a:rPr>
              <a:t>::</a:t>
            </a:r>
            <a:r>
              <a:rPr lang="en-US" altLang="zh-TW" sz="1800" dirty="0" err="1">
                <a:latin typeface="Courier New" panose="02070309020205020404" pitchFamily="49" charset="0"/>
                <a:cs typeface="Courier New" panose="02070309020205020404" pitchFamily="49" charset="0"/>
              </a:rPr>
              <a:t>get_salary</a:t>
            </a:r>
            <a:r>
              <a:rPr lang="en-US" altLang="zh-TW" sz="1800" dirty="0">
                <a:latin typeface="Courier New" panose="02070309020205020404" pitchFamily="49" charset="0"/>
                <a:cs typeface="Courier New" panose="02070309020205020404" pitchFamily="49" charset="0"/>
              </a:rPr>
              <a:t>() {</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a:latin typeface="Courier New" panose="02070309020205020404" pitchFamily="49" charset="0"/>
                <a:cs typeface="Courier New" panose="02070309020205020404" pitchFamily="49" charset="0"/>
              </a:rPr>
              <a:t>return salary;</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en-US" altLang="zh-TW" sz="1800" dirty="0">
                <a:latin typeface="Courier New" panose="02070309020205020404" pitchFamily="49" charset="0"/>
                <a:cs typeface="Courier New" panose="02070309020205020404" pitchFamily="49" charset="0"/>
              </a:rPr>
              <a:t>}</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en-US" altLang="zh-TW" sz="1800" dirty="0">
                <a:latin typeface="Courier New" panose="02070309020205020404" pitchFamily="49" charset="0"/>
                <a:cs typeface="Courier New" panose="02070309020205020404" pitchFamily="49" charset="0"/>
              </a:rPr>
              <a:t>void </a:t>
            </a:r>
            <a:r>
              <a:rPr lang="en-US" altLang="zh-TW" sz="1800" dirty="0" err="1">
                <a:latin typeface="Courier New" panose="02070309020205020404" pitchFamily="49" charset="0"/>
                <a:cs typeface="Courier New" panose="02070309020205020404" pitchFamily="49" charset="0"/>
              </a:rPr>
              <a:t>SalariedEmployee</a:t>
            </a:r>
            <a:r>
              <a:rPr lang="en-US" altLang="zh-TW" sz="1800" dirty="0">
                <a:latin typeface="Courier New" panose="02070309020205020404" pitchFamily="49" charset="0"/>
                <a:cs typeface="Courier New" panose="02070309020205020404" pitchFamily="49" charset="0"/>
              </a:rPr>
              <a:t>::</a:t>
            </a:r>
            <a:r>
              <a:rPr lang="en-US" altLang="zh-TW" sz="1800" dirty="0" err="1">
                <a:latin typeface="Courier New" panose="02070309020205020404" pitchFamily="49" charset="0"/>
                <a:cs typeface="Courier New" panose="02070309020205020404" pitchFamily="49" charset="0"/>
              </a:rPr>
              <a:t>print_check</a:t>
            </a:r>
            <a:r>
              <a:rPr lang="en-US" altLang="zh-TW" sz="1800" dirty="0">
                <a:latin typeface="Courier New" panose="02070309020205020404" pitchFamily="49" charset="0"/>
                <a:cs typeface="Courier New" panose="02070309020205020404" pitchFamily="49" charset="0"/>
              </a:rPr>
              <a:t>() {</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set_netPay</a:t>
            </a:r>
            <a:r>
              <a:rPr lang="en-US" altLang="zh-TW" sz="1800" dirty="0">
                <a:latin typeface="Courier New" panose="02070309020205020404" pitchFamily="49" charset="0"/>
                <a:cs typeface="Courier New" panose="02070309020205020404" pitchFamily="49" charset="0"/>
              </a:rPr>
              <a:t>(salary);</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cout</a:t>
            </a:r>
            <a:r>
              <a:rPr lang="en-US" altLang="zh-TW" sz="1800" dirty="0">
                <a:latin typeface="Courier New" panose="02070309020205020404" pitchFamily="49" charset="0"/>
                <a:cs typeface="Courier New" panose="02070309020205020404" pitchFamily="49" charset="0"/>
              </a:rPr>
              <a:t> &lt;&lt; "\n_________________________________________\n";</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cout</a:t>
            </a:r>
            <a:r>
              <a:rPr lang="en-US" altLang="zh-TW" sz="1800" dirty="0">
                <a:latin typeface="Courier New" panose="02070309020205020404" pitchFamily="49" charset="0"/>
                <a:cs typeface="Courier New" panose="02070309020205020404" pitchFamily="49" charset="0"/>
              </a:rPr>
              <a:t> &lt;&lt; "Pay to the order of " &lt;&lt; </a:t>
            </a:r>
            <a:r>
              <a:rPr lang="en-US" altLang="zh-TW" sz="1800" dirty="0" err="1">
                <a:latin typeface="Courier New" panose="02070309020205020404" pitchFamily="49" charset="0"/>
                <a:cs typeface="Courier New" panose="02070309020205020404" pitchFamily="49" charset="0"/>
              </a:rPr>
              <a:t>get_name</a:t>
            </a:r>
            <a:r>
              <a:rPr lang="en-US" altLang="zh-TW" sz="1800" dirty="0">
                <a:latin typeface="Courier New" panose="02070309020205020404" pitchFamily="49" charset="0"/>
                <a:cs typeface="Courier New" panose="02070309020205020404" pitchFamily="49" charset="0"/>
              </a:rPr>
              <a:t>() &lt;&lt; </a:t>
            </a:r>
            <a:r>
              <a:rPr lang="en-US" altLang="zh-TW" sz="1800" dirty="0" err="1">
                <a:latin typeface="Courier New" panose="02070309020205020404" pitchFamily="49" charset="0"/>
                <a:cs typeface="Courier New" panose="02070309020205020404" pitchFamily="49" charset="0"/>
              </a:rPr>
              <a:t>endl</a:t>
            </a:r>
            <a:r>
              <a:rPr lang="en-US" altLang="zh-TW" sz="1800" dirty="0">
                <a:latin typeface="Courier New" panose="02070309020205020404" pitchFamily="49" charset="0"/>
                <a:cs typeface="Courier New" panose="02070309020205020404" pitchFamily="49" charset="0"/>
              </a:rPr>
              <a:t>;</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cout</a:t>
            </a:r>
            <a:r>
              <a:rPr lang="en-US" altLang="zh-TW" sz="1800" dirty="0">
                <a:latin typeface="Courier New" panose="02070309020205020404" pitchFamily="49" charset="0"/>
                <a:cs typeface="Courier New" panose="02070309020205020404" pitchFamily="49" charset="0"/>
              </a:rPr>
              <a:t> &lt;&lt; "The sum of " &lt;&lt; </a:t>
            </a:r>
            <a:r>
              <a:rPr lang="en-US" altLang="zh-TW" sz="1800" dirty="0" err="1">
                <a:latin typeface="Courier New" panose="02070309020205020404" pitchFamily="49" charset="0"/>
                <a:cs typeface="Courier New" panose="02070309020205020404" pitchFamily="49" charset="0"/>
              </a:rPr>
              <a:t>get_netPay</a:t>
            </a:r>
            <a:r>
              <a:rPr lang="en-US" altLang="zh-TW" sz="1800" dirty="0">
                <a:latin typeface="Courier New" panose="02070309020205020404" pitchFamily="49" charset="0"/>
                <a:cs typeface="Courier New" panose="02070309020205020404" pitchFamily="49" charset="0"/>
              </a:rPr>
              <a:t>() &lt;&lt; " Dollars\n";</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cout</a:t>
            </a:r>
            <a:r>
              <a:rPr lang="en-US" altLang="zh-TW" sz="1800" dirty="0">
                <a:latin typeface="Courier New" panose="02070309020205020404" pitchFamily="49" charset="0"/>
                <a:cs typeface="Courier New" panose="02070309020205020404" pitchFamily="49" charset="0"/>
              </a:rPr>
              <a:t> &lt;&lt; "\n_________________________________________\n";</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cout</a:t>
            </a:r>
            <a:r>
              <a:rPr lang="en-US" altLang="zh-TW" sz="1800" dirty="0">
                <a:latin typeface="Courier New" panose="02070309020205020404" pitchFamily="49" charset="0"/>
                <a:cs typeface="Courier New" panose="02070309020205020404" pitchFamily="49" charset="0"/>
              </a:rPr>
              <a:t> &lt;&lt; "Check Stub: NOT NEGOTIATABLE\n";</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cout</a:t>
            </a:r>
            <a:r>
              <a:rPr lang="en-US" altLang="zh-TW" sz="1800" dirty="0">
                <a:latin typeface="Courier New" panose="02070309020205020404" pitchFamily="49" charset="0"/>
                <a:cs typeface="Courier New" panose="02070309020205020404" pitchFamily="49" charset="0"/>
              </a:rPr>
              <a:t> &lt;&lt; "Employee Number: " &lt;&lt; </a:t>
            </a:r>
            <a:r>
              <a:rPr lang="en-US" altLang="zh-TW" sz="1800" dirty="0" err="1">
                <a:latin typeface="Courier New" panose="02070309020205020404" pitchFamily="49" charset="0"/>
                <a:cs typeface="Courier New" panose="02070309020205020404" pitchFamily="49" charset="0"/>
              </a:rPr>
              <a:t>get_id</a:t>
            </a:r>
            <a:r>
              <a:rPr lang="en-US" altLang="zh-TW" sz="1800" dirty="0">
                <a:latin typeface="Courier New" panose="02070309020205020404" pitchFamily="49" charset="0"/>
                <a:cs typeface="Courier New" panose="02070309020205020404" pitchFamily="49" charset="0"/>
              </a:rPr>
              <a:t>() &lt;&lt; </a:t>
            </a:r>
            <a:r>
              <a:rPr lang="en-US" altLang="zh-TW" sz="1800" dirty="0" err="1">
                <a:latin typeface="Courier New" panose="02070309020205020404" pitchFamily="49" charset="0"/>
                <a:cs typeface="Courier New" panose="02070309020205020404" pitchFamily="49" charset="0"/>
              </a:rPr>
              <a:t>endl</a:t>
            </a:r>
            <a:r>
              <a:rPr lang="en-US" altLang="zh-TW" sz="1800" dirty="0">
                <a:latin typeface="Courier New" panose="02070309020205020404" pitchFamily="49" charset="0"/>
                <a:cs typeface="Courier New" panose="02070309020205020404" pitchFamily="49" charset="0"/>
              </a:rPr>
              <a:t>;</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zh-TW" altLang="en-US" sz="1800" dirty="0">
                <a:latin typeface="Courier New" panose="02070309020205020404" pitchFamily="49" charset="0"/>
                <a:cs typeface="Courier New" panose="02070309020205020404" pitchFamily="49" charset="0"/>
              </a:rPr>
              <a:t>    </a:t>
            </a:r>
            <a:r>
              <a:rPr lang="en-US" altLang="zh-TW" sz="1800" dirty="0" err="1">
                <a:latin typeface="Courier New" panose="02070309020205020404" pitchFamily="49" charset="0"/>
                <a:cs typeface="Courier New" panose="02070309020205020404" pitchFamily="49" charset="0"/>
              </a:rPr>
              <a:t>cout</a:t>
            </a:r>
            <a:r>
              <a:rPr lang="en-US" altLang="zh-TW" sz="1800" dirty="0">
                <a:latin typeface="Courier New" panose="02070309020205020404" pitchFamily="49" charset="0"/>
                <a:cs typeface="Courier New" panose="02070309020205020404" pitchFamily="49" charset="0"/>
              </a:rPr>
              <a:t> &lt;&lt; "Salaried Employee. Pay: " &lt;&lt; </a:t>
            </a:r>
            <a:r>
              <a:rPr lang="en-US" altLang="zh-TW" sz="1800" dirty="0" err="1">
                <a:latin typeface="Courier New" panose="02070309020205020404" pitchFamily="49" charset="0"/>
                <a:cs typeface="Courier New" panose="02070309020205020404" pitchFamily="49" charset="0"/>
              </a:rPr>
              <a:t>get_netPay</a:t>
            </a:r>
            <a:r>
              <a:rPr lang="en-US" altLang="zh-TW" sz="1800" dirty="0">
                <a:latin typeface="Courier New" panose="02070309020205020404" pitchFamily="49" charset="0"/>
                <a:cs typeface="Courier New" panose="02070309020205020404" pitchFamily="49" charset="0"/>
              </a:rPr>
              <a:t>() &lt;&lt; </a:t>
            </a:r>
            <a:r>
              <a:rPr lang="en-US" altLang="zh-TW" sz="1800" dirty="0" err="1">
                <a:latin typeface="Courier New" panose="02070309020205020404" pitchFamily="49" charset="0"/>
                <a:cs typeface="Courier New" panose="02070309020205020404" pitchFamily="49" charset="0"/>
              </a:rPr>
              <a:t>endl</a:t>
            </a:r>
            <a:r>
              <a:rPr lang="en-US" altLang="zh-TW" sz="1800" dirty="0">
                <a:latin typeface="Courier New" panose="02070309020205020404" pitchFamily="49" charset="0"/>
                <a:cs typeface="Courier New" panose="02070309020205020404" pitchFamily="49" charset="0"/>
              </a:rPr>
              <a:t>;</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r>
              <a:rPr lang="en-US" altLang="zh-TW" sz="1800" dirty="0">
                <a:latin typeface="Courier New" panose="02070309020205020404" pitchFamily="49" charset="0"/>
                <a:cs typeface="Courier New" panose="02070309020205020404" pitchFamily="49" charset="0"/>
              </a:rPr>
              <a:t>}</a:t>
            </a:r>
            <a:endParaRPr lang="zh-TW" altLang="en-US" sz="1800" dirty="0">
              <a:latin typeface="Courier New" panose="02070309020205020404" pitchFamily="49" charset="0"/>
              <a:cs typeface="Courier New" panose="02070309020205020404" pitchFamily="49" charset="0"/>
            </a:endParaRPr>
          </a:p>
          <a:p>
            <a:pPr marL="109728" indent="0">
              <a:spcBef>
                <a:spcPts val="200"/>
              </a:spcBef>
              <a:buNone/>
            </a:pPr>
            <a:endParaRPr lang="en-US" altLang="zh-TW" sz="1800"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53</a:t>
            </a:fld>
            <a:endParaRPr lang="en-US" altLang="zh-TW"/>
          </a:p>
        </p:txBody>
      </p:sp>
    </p:spTree>
    <p:extLst>
      <p:ext uri="{BB962C8B-B14F-4D97-AF65-F5344CB8AC3E}">
        <p14:creationId xmlns:p14="http://schemas.microsoft.com/office/powerpoint/2010/main" val="10349496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6</a:t>
            </a:r>
            <a:br>
              <a:rPr lang="en-US" altLang="zh-TW" sz="3600" dirty="0"/>
            </a:br>
            <a:r>
              <a:rPr lang="en-US" altLang="zh-TW" sz="3600" dirty="0"/>
              <a:t>Template</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54</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29976229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Why Template?</a:t>
            </a:r>
            <a:endParaRPr lang="zh-TW" altLang="en-US" dirty="0"/>
          </a:p>
        </p:txBody>
      </p:sp>
      <p:sp>
        <p:nvSpPr>
          <p:cNvPr id="2" name="內容版面配置區 1"/>
          <p:cNvSpPr>
            <a:spLocks noGrp="1"/>
          </p:cNvSpPr>
          <p:nvPr>
            <p:ph idx="1"/>
          </p:nvPr>
        </p:nvSpPr>
        <p:spPr>
          <a:xfrm>
            <a:off x="664635" y="1600201"/>
            <a:ext cx="10075084" cy="4525968"/>
          </a:xfrm>
        </p:spPr>
        <p:txBody>
          <a:bodyPr>
            <a:normAutofit/>
          </a:bodyPr>
          <a:lstStyle/>
          <a:p>
            <a:r>
              <a:rPr lang="en-US" altLang="zh-TW" sz="2400" dirty="0"/>
              <a:t>Take array or link list, for example:</a:t>
            </a:r>
          </a:p>
          <a:p>
            <a:pPr lvl="1"/>
            <a:r>
              <a:rPr lang="en-US" altLang="zh-TW" sz="2000" dirty="0"/>
              <a:t>The way array and link lists are used is the same for all sorts of data types, e.g., </a:t>
            </a:r>
            <a:r>
              <a:rPr lang="en-US" altLang="zh-TW" sz="2000" dirty="0">
                <a:latin typeface="Courier New" panose="02070309020205020404" pitchFamily="49" charset="0"/>
                <a:cs typeface="Courier New" panose="02070309020205020404" pitchFamily="49" charset="0"/>
              </a:rPr>
              <a:t>int</a:t>
            </a:r>
            <a:r>
              <a:rPr lang="en-US" altLang="zh-TW" sz="2000" dirty="0"/>
              <a:t>, </a:t>
            </a:r>
            <a:r>
              <a:rPr lang="en-US" altLang="zh-TW" sz="2000" dirty="0">
                <a:latin typeface="Courier New" panose="02070309020205020404" pitchFamily="49" charset="0"/>
                <a:cs typeface="Courier New" panose="02070309020205020404" pitchFamily="49" charset="0"/>
              </a:rPr>
              <a:t>char</a:t>
            </a:r>
            <a:r>
              <a:rPr lang="en-US" altLang="zh-TW" sz="2000" dirty="0"/>
              <a:t>, </a:t>
            </a:r>
            <a:r>
              <a:rPr lang="en-US" altLang="zh-TW" sz="2000" dirty="0">
                <a:latin typeface="Courier New" panose="02070309020205020404" pitchFamily="49" charset="0"/>
                <a:cs typeface="Courier New" panose="02070309020205020404" pitchFamily="49" charset="0"/>
              </a:rPr>
              <a:t>string</a:t>
            </a:r>
            <a:r>
              <a:rPr lang="en-US" altLang="zh-TW" sz="2000" dirty="0"/>
              <a:t>, </a:t>
            </a:r>
            <a:r>
              <a:rPr lang="en-US" altLang="zh-TW" sz="2000" dirty="0">
                <a:latin typeface="Courier New" panose="02070309020205020404" pitchFamily="49" charset="0"/>
                <a:cs typeface="Courier New" panose="02070309020205020404" pitchFamily="49" charset="0"/>
              </a:rPr>
              <a:t>double</a:t>
            </a:r>
            <a:r>
              <a:rPr lang="en-US" altLang="zh-TW" sz="2000" dirty="0"/>
              <a:t>, </a:t>
            </a:r>
            <a:r>
              <a:rPr lang="en-US" altLang="zh-TW" sz="2000" dirty="0">
                <a:latin typeface="Courier New" panose="02070309020205020404" pitchFamily="49" charset="0"/>
                <a:cs typeface="Courier New" panose="02070309020205020404" pitchFamily="49" charset="0"/>
              </a:rPr>
              <a:t>float</a:t>
            </a:r>
            <a:r>
              <a:rPr lang="en-US" altLang="zh-TW" sz="2000" dirty="0"/>
              <a:t>, class objects, etc.</a:t>
            </a:r>
          </a:p>
          <a:p>
            <a:pPr lvl="1"/>
            <a:r>
              <a:rPr lang="en-US" altLang="zh-TW" sz="2000" dirty="0"/>
              <a:t>Before the template is available, we need to implement exactly the same access methods for each data type. The code size is huge and error-prone.</a:t>
            </a:r>
          </a:p>
          <a:p>
            <a:pPr lvl="1"/>
            <a:r>
              <a:rPr lang="en-US" altLang="zh-TW" sz="2000" dirty="0"/>
              <a:t>Using a generic data type to implement all the access methods in a header file, then in the instantiation, we give the target data type so the compiler can mask to different data types with the same template.</a:t>
            </a:r>
          </a:p>
          <a:p>
            <a:pPr lvl="1"/>
            <a:r>
              <a:rPr lang="en-US" altLang="zh-TW" sz="2000" dirty="0"/>
              <a:t>Note: the template class definition and implementation must be in one </a:t>
            </a:r>
            <a:r>
              <a:rPr lang="en-US" altLang="zh-TW" sz="2000" dirty="0">
                <a:latin typeface="Courier New" panose="02070309020205020404" pitchFamily="49" charset="0"/>
                <a:cs typeface="Courier New" panose="02070309020205020404" pitchFamily="49" charset="0"/>
              </a:rPr>
              <a:t>.h</a:t>
            </a:r>
            <a:r>
              <a:rPr lang="en-US" altLang="zh-TW" sz="2000" dirty="0"/>
              <a:t> file. They have to be included in full to work.</a:t>
            </a:r>
            <a:endParaRPr lang="zh-TW" altLang="en-US" sz="2000"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55</a:t>
            </a:fld>
            <a:endParaRPr lang="en-US" altLang="zh-TW"/>
          </a:p>
        </p:txBody>
      </p:sp>
    </p:spTree>
    <p:extLst>
      <p:ext uri="{BB962C8B-B14F-4D97-AF65-F5344CB8AC3E}">
        <p14:creationId xmlns:p14="http://schemas.microsoft.com/office/powerpoint/2010/main" val="22987409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dirty="0"/>
              <a:t>Why Template? – An Example 1/2</a:t>
            </a:r>
            <a:endParaRPr lang="zh-TW" altLang="en-US" dirty="0"/>
          </a:p>
        </p:txBody>
      </p:sp>
      <p:sp>
        <p:nvSpPr>
          <p:cNvPr id="2" name="內容版面配置區 1"/>
          <p:cNvSpPr>
            <a:spLocks noGrp="1"/>
          </p:cNvSpPr>
          <p:nvPr>
            <p:ph idx="1"/>
          </p:nvPr>
        </p:nvSpPr>
        <p:spPr/>
        <p:txBody>
          <a:bodyPr>
            <a:normAutofit/>
          </a:bodyPr>
          <a:lstStyle/>
          <a:p>
            <a:pPr marL="108000">
              <a:spcBef>
                <a:spcPts val="200"/>
              </a:spcBef>
            </a:pPr>
            <a:r>
              <a:rPr lang="en-US" altLang="zh-TW" dirty="0"/>
              <a:t>A </a:t>
            </a:r>
            <a:r>
              <a:rPr lang="en-US" altLang="zh-TW" dirty="0" err="1">
                <a:latin typeface="Courier New" panose="02070309020205020404" pitchFamily="49" charset="0"/>
                <a:cs typeface="Courier New" panose="02070309020205020404" pitchFamily="49" charset="0"/>
              </a:rPr>
              <a:t>swapVal</a:t>
            </a:r>
            <a:r>
              <a:rPr lang="en-US" altLang="zh-TW" dirty="0"/>
              <a:t> function for integer type</a:t>
            </a:r>
          </a:p>
          <a:p>
            <a:pPr marL="108000" indent="0">
              <a:spcBef>
                <a:spcPts val="200"/>
              </a:spcBef>
              <a:buNone/>
            </a:pPr>
            <a:endParaRPr lang="en-US" altLang="zh-TW"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void </a:t>
            </a:r>
            <a:r>
              <a:rPr lang="en-US" altLang="zh-TW" dirty="0" err="1">
                <a:latin typeface="Courier New" panose="02070309020205020404" pitchFamily="49" charset="0"/>
                <a:cs typeface="Courier New" panose="02070309020205020404" pitchFamily="49" charset="0"/>
              </a:rPr>
              <a:t>swapVal</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&amp;var1,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&amp;var2)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 = var1;</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var1 = var2;</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var2 =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56</a:t>
            </a:fld>
            <a:endParaRPr lang="en-US" altLang="zh-TW"/>
          </a:p>
        </p:txBody>
      </p:sp>
    </p:spTree>
    <p:extLst>
      <p:ext uri="{BB962C8B-B14F-4D97-AF65-F5344CB8AC3E}">
        <p14:creationId xmlns:p14="http://schemas.microsoft.com/office/powerpoint/2010/main" val="4550310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dirty="0"/>
              <a:t>Why Template? – An Example 2/2</a:t>
            </a:r>
            <a:endParaRPr lang="zh-TW" altLang="en-US" dirty="0"/>
          </a:p>
        </p:txBody>
      </p:sp>
      <p:sp>
        <p:nvSpPr>
          <p:cNvPr id="2" name="內容版面配置區 1"/>
          <p:cNvSpPr>
            <a:spLocks noGrp="1"/>
          </p:cNvSpPr>
          <p:nvPr>
            <p:ph idx="1"/>
          </p:nvPr>
        </p:nvSpPr>
        <p:spPr/>
        <p:txBody>
          <a:bodyPr>
            <a:normAutofit/>
          </a:bodyPr>
          <a:lstStyle/>
          <a:p>
            <a:pPr marL="108000">
              <a:spcBef>
                <a:spcPts val="200"/>
              </a:spcBef>
            </a:pPr>
            <a:r>
              <a:rPr lang="en-US" altLang="zh-TW" dirty="0"/>
              <a:t>A </a:t>
            </a:r>
            <a:r>
              <a:rPr lang="en-US" altLang="zh-TW" dirty="0" err="1">
                <a:latin typeface="Courier New" panose="02070309020205020404" pitchFamily="49" charset="0"/>
                <a:cs typeface="Courier New" panose="02070309020205020404" pitchFamily="49" charset="0"/>
              </a:rPr>
              <a:t>swapVal</a:t>
            </a:r>
            <a:r>
              <a:rPr lang="en-US" altLang="zh-TW" dirty="0"/>
              <a:t> function for char type</a:t>
            </a:r>
          </a:p>
          <a:p>
            <a:pPr marL="108000" indent="0">
              <a:spcBef>
                <a:spcPts val="200"/>
              </a:spcBef>
              <a:buNone/>
            </a:pPr>
            <a:endParaRPr lang="en-US" altLang="zh-TW"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void </a:t>
            </a:r>
            <a:r>
              <a:rPr lang="en-US" altLang="zh-TW" dirty="0" err="1">
                <a:latin typeface="Courier New" panose="02070309020205020404" pitchFamily="49" charset="0"/>
                <a:cs typeface="Courier New" panose="02070309020205020404" pitchFamily="49" charset="0"/>
              </a:rPr>
              <a:t>swapVal</a:t>
            </a:r>
            <a:r>
              <a:rPr lang="en-US" altLang="zh-TW" dirty="0">
                <a:latin typeface="Courier New" panose="02070309020205020404" pitchFamily="49" charset="0"/>
                <a:cs typeface="Courier New" panose="02070309020205020404" pitchFamily="49" charset="0"/>
              </a:rPr>
              <a:t>(char &amp;var1, char &amp;var2)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char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 = var1;</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var1 = var2;</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var2 =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57</a:t>
            </a:fld>
            <a:endParaRPr lang="en-US" altLang="zh-TW"/>
          </a:p>
        </p:txBody>
      </p:sp>
    </p:spTree>
    <p:extLst>
      <p:ext uri="{BB962C8B-B14F-4D97-AF65-F5344CB8AC3E}">
        <p14:creationId xmlns:p14="http://schemas.microsoft.com/office/powerpoint/2010/main" val="18628344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dirty="0"/>
              <a:t>Simple Function Template</a:t>
            </a:r>
            <a:endParaRPr lang="zh-TW" altLang="en-US" dirty="0"/>
          </a:p>
        </p:txBody>
      </p:sp>
      <p:sp>
        <p:nvSpPr>
          <p:cNvPr id="2" name="內容版面配置區 1"/>
          <p:cNvSpPr>
            <a:spLocks noGrp="1"/>
          </p:cNvSpPr>
          <p:nvPr>
            <p:ph idx="1"/>
          </p:nvPr>
        </p:nvSpPr>
        <p:spPr/>
        <p:txBody>
          <a:bodyPr>
            <a:normAutofit/>
          </a:bodyPr>
          <a:lstStyle/>
          <a:p>
            <a:pPr marL="108000">
              <a:spcBef>
                <a:spcPts val="200"/>
              </a:spcBef>
            </a:pPr>
            <a:r>
              <a:rPr lang="en-US" altLang="zh-TW" dirty="0"/>
              <a:t>Use </a:t>
            </a:r>
            <a:r>
              <a:rPr lang="en-US" altLang="zh-TW" dirty="0">
                <a:latin typeface="Courier New" panose="02070309020205020404" pitchFamily="49" charset="0"/>
                <a:cs typeface="Courier New" panose="02070309020205020404" pitchFamily="49" charset="0"/>
              </a:rPr>
              <a:t>template&lt;class T&gt;</a:t>
            </a:r>
            <a:r>
              <a:rPr lang="en-US" altLang="zh-TW" dirty="0"/>
              <a:t> as the keyword to specify the following function/class is a template. Notice that </a:t>
            </a:r>
            <a:r>
              <a:rPr lang="en-US" altLang="zh-TW" dirty="0">
                <a:latin typeface="Courier New" panose="02070309020205020404" pitchFamily="49" charset="0"/>
                <a:cs typeface="Courier New" panose="02070309020205020404" pitchFamily="49" charset="0"/>
              </a:rPr>
              <a:t>T</a:t>
            </a:r>
            <a:r>
              <a:rPr lang="en-US" altLang="zh-TW" dirty="0"/>
              <a:t> can be other names</a:t>
            </a:r>
          </a:p>
          <a:p>
            <a:pPr marL="108000">
              <a:spcBef>
                <a:spcPts val="200"/>
              </a:spcBef>
            </a:pPr>
            <a:endParaRPr lang="en-US" altLang="zh-TW" dirty="0"/>
          </a:p>
          <a:p>
            <a:pPr marL="108000" indent="0">
              <a:spcBef>
                <a:spcPts val="200"/>
              </a:spcBef>
              <a:buNone/>
            </a:pPr>
            <a:r>
              <a:rPr lang="en-US" altLang="zh-TW" dirty="0">
                <a:latin typeface="Courier New" panose="02070309020205020404" pitchFamily="49" charset="0"/>
                <a:cs typeface="Courier New" panose="02070309020205020404" pitchFamily="49" charset="0"/>
              </a:rPr>
              <a:t>template&lt;class </a:t>
            </a:r>
            <a:r>
              <a:rPr lang="en-US" altLang="zh-TW" dirty="0">
                <a:solidFill>
                  <a:srgbClr val="FF0000"/>
                </a:solidFill>
                <a:latin typeface="Courier New" panose="02070309020205020404" pitchFamily="49" charset="0"/>
                <a:cs typeface="Courier New" panose="02070309020205020404" pitchFamily="49" charset="0"/>
              </a:rPr>
              <a:t>T</a:t>
            </a:r>
            <a:r>
              <a:rPr lang="en-US" altLang="zh-TW" dirty="0">
                <a:latin typeface="Courier New" panose="02070309020205020404" pitchFamily="49" charset="0"/>
                <a:cs typeface="Courier New" panose="02070309020205020404" pitchFamily="49" charset="0"/>
              </a:rPr>
              <a:t>&gt;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void </a:t>
            </a:r>
            <a:r>
              <a:rPr lang="en-US" altLang="zh-TW" dirty="0" err="1">
                <a:latin typeface="Courier New" panose="02070309020205020404" pitchFamily="49" charset="0"/>
                <a:cs typeface="Courier New" panose="02070309020205020404" pitchFamily="49" charset="0"/>
              </a:rPr>
              <a:t>swapVal</a:t>
            </a:r>
            <a:r>
              <a:rPr lang="en-US" altLang="zh-TW" dirty="0">
                <a:latin typeface="Courier New" panose="02070309020205020404" pitchFamily="49" charset="0"/>
                <a:cs typeface="Courier New" panose="02070309020205020404" pitchFamily="49" charset="0"/>
              </a:rPr>
              <a:t>(</a:t>
            </a:r>
            <a:r>
              <a:rPr lang="en-US" altLang="zh-TW" dirty="0">
                <a:solidFill>
                  <a:srgbClr val="FF0000"/>
                </a:solidFill>
                <a:latin typeface="Courier New" panose="02070309020205020404" pitchFamily="49" charset="0"/>
                <a:cs typeface="Courier New" panose="02070309020205020404" pitchFamily="49" charset="0"/>
              </a:rPr>
              <a:t>T</a:t>
            </a:r>
            <a:r>
              <a:rPr lang="en-US" altLang="zh-TW" dirty="0">
                <a:latin typeface="Courier New" panose="02070309020205020404" pitchFamily="49" charset="0"/>
                <a:cs typeface="Courier New" panose="02070309020205020404" pitchFamily="49" charset="0"/>
              </a:rPr>
              <a:t> &amp;var1, </a:t>
            </a:r>
            <a:r>
              <a:rPr lang="en-US" altLang="zh-TW" dirty="0">
                <a:solidFill>
                  <a:srgbClr val="FF0000"/>
                </a:solidFill>
                <a:latin typeface="Courier New" panose="02070309020205020404" pitchFamily="49" charset="0"/>
                <a:cs typeface="Courier New" panose="02070309020205020404" pitchFamily="49" charset="0"/>
              </a:rPr>
              <a:t>T</a:t>
            </a:r>
            <a:r>
              <a:rPr lang="en-US" altLang="zh-TW" dirty="0">
                <a:latin typeface="Courier New" panose="02070309020205020404" pitchFamily="49" charset="0"/>
                <a:cs typeface="Courier New" panose="02070309020205020404" pitchFamily="49" charset="0"/>
              </a:rPr>
              <a:t> &amp;var2)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 = var1;</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var1 = var2;</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var2 = </a:t>
            </a:r>
            <a:r>
              <a:rPr lang="en-US" altLang="zh-TW" dirty="0" err="1">
                <a:latin typeface="Courier New" panose="02070309020205020404" pitchFamily="49" charset="0"/>
                <a:cs typeface="Courier New" panose="02070309020205020404" pitchFamily="49" charset="0"/>
              </a:rPr>
              <a:t>tmp</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58</a:t>
            </a:fld>
            <a:endParaRPr lang="en-US" altLang="zh-TW"/>
          </a:p>
        </p:txBody>
      </p:sp>
    </p:spTree>
    <p:extLst>
      <p:ext uri="{BB962C8B-B14F-4D97-AF65-F5344CB8AC3E}">
        <p14:creationId xmlns:p14="http://schemas.microsoft.com/office/powerpoint/2010/main" val="19316877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Using Template</a:t>
            </a:r>
            <a:endParaRPr lang="zh-TW" altLang="en-US" dirty="0"/>
          </a:p>
        </p:txBody>
      </p:sp>
      <p:sp>
        <p:nvSpPr>
          <p:cNvPr id="2" name="內容版面配置區 1"/>
          <p:cNvSpPr>
            <a:spLocks noGrp="1"/>
          </p:cNvSpPr>
          <p:nvPr>
            <p:ph idx="1"/>
          </p:nvPr>
        </p:nvSpPr>
        <p:spPr>
          <a:xfrm>
            <a:off x="664635" y="1603026"/>
            <a:ext cx="10075084" cy="4782790"/>
          </a:xfrm>
        </p:spPr>
        <p:txBody>
          <a:bodyPr>
            <a:normAutofit fontScale="85000" lnSpcReduction="20000"/>
          </a:bodyPr>
          <a:lstStyle/>
          <a:p>
            <a:pPr marL="109728"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#include "</a:t>
            </a:r>
            <a:r>
              <a:rPr lang="en-US" altLang="zh-TW" dirty="0" err="1">
                <a:latin typeface="Courier New" panose="02070309020205020404" pitchFamily="49" charset="0"/>
                <a:cs typeface="Courier New" panose="02070309020205020404" pitchFamily="49" charset="0"/>
              </a:rPr>
              <a:t>swapVal.h</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main(</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argc</a:t>
            </a:r>
            <a:r>
              <a:rPr lang="en-US" altLang="zh-TW" dirty="0">
                <a:latin typeface="Courier New" panose="02070309020205020404" pitchFamily="49" charset="0"/>
                <a:cs typeface="Courier New" panose="02070309020205020404" pitchFamily="49" charset="0"/>
              </a:rPr>
              <a:t>, char *</a:t>
            </a:r>
            <a:r>
              <a:rPr lang="en-US" altLang="zh-TW" dirty="0" err="1">
                <a:latin typeface="Courier New" panose="02070309020205020404" pitchFamily="49" charset="0"/>
                <a:cs typeface="Courier New" panose="02070309020205020404" pitchFamily="49" charset="0"/>
              </a:rPr>
              <a:t>argv</a:t>
            </a:r>
            <a:r>
              <a:rPr lang="en-US" altLang="zh-TW" dirty="0">
                <a:latin typeface="Courier New" panose="02070309020205020404" pitchFamily="49" charset="0"/>
                <a:cs typeface="Courier New" panose="02070309020205020404" pitchFamily="49" charset="0"/>
              </a:rPr>
              <a:t>[])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 swap integers</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sv-SE" altLang="zh-TW" dirty="0">
                <a:latin typeface="Courier New" panose="02070309020205020404" pitchFamily="49" charset="0"/>
                <a:cs typeface="Courier New" panose="02070309020205020404" pitchFamily="49" charset="0"/>
              </a:rPr>
              <a:t>int integer1 = 1, integer2 = 2;</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swapVal</a:t>
            </a:r>
            <a:r>
              <a:rPr lang="en-US" altLang="zh-TW" dirty="0">
                <a:latin typeface="Courier New" panose="02070309020205020404" pitchFamily="49" charset="0"/>
                <a:cs typeface="Courier New" panose="02070309020205020404" pitchFamily="49" charset="0"/>
              </a:rPr>
              <a:t>(integer1, integer2);</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"Swapped integers values are,\n"</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&lt;&lt; "\tinteger1 = " &lt;&lt; integer1</a:t>
            </a:r>
          </a:p>
          <a:p>
            <a:pPr marL="109728" indent="0">
              <a:spcBef>
                <a:spcPts val="200"/>
              </a:spcBef>
              <a:buNone/>
            </a:pPr>
            <a:r>
              <a:rPr lang="en-US" altLang="zh-TW" dirty="0">
                <a:latin typeface="Courier New" panose="02070309020205020404" pitchFamily="49" charset="0"/>
                <a:cs typeface="Courier New" panose="02070309020205020404" pitchFamily="49" charset="0"/>
              </a:rPr>
              <a:t>         &lt;&lt; ", integer2 = " &lt;&lt; integer2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 swap characters</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char character1 = 'A', character2 = 'B';</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swapVal</a:t>
            </a:r>
            <a:r>
              <a:rPr lang="en-US" altLang="zh-TW" dirty="0">
                <a:latin typeface="Courier New" panose="02070309020205020404" pitchFamily="49" charset="0"/>
                <a:cs typeface="Courier New" panose="02070309020205020404" pitchFamily="49" charset="0"/>
              </a:rPr>
              <a:t>(character1, character2);</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"Swapped character values are,\n"</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&lt;&lt; "\tcharacter1 = " &lt;&lt; character1</a:t>
            </a: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&lt;&lt; ", character2 = " &lt;&lt; character2 &lt;&lt; </a:t>
            </a:r>
            <a:r>
              <a:rPr lang="en-US" altLang="zh-TW" dirty="0" err="1">
                <a:latin typeface="Courier New" panose="02070309020205020404" pitchFamily="49" charset="0"/>
                <a:cs typeface="Courier New" panose="02070309020205020404" pitchFamily="49" charset="0"/>
              </a:rPr>
              <a:t>endl</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return 0;</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59</a:t>
            </a:fld>
            <a:endParaRPr lang="en-US" altLang="zh-TW"/>
          </a:p>
        </p:txBody>
      </p:sp>
    </p:spTree>
    <p:extLst>
      <p:ext uri="{BB962C8B-B14F-4D97-AF65-F5344CB8AC3E}">
        <p14:creationId xmlns:p14="http://schemas.microsoft.com/office/powerpoint/2010/main" val="39295623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dirty="0"/>
              <a:t>Class Template Example  1/4</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77500" lnSpcReduction="20000"/>
          </a:bodyPr>
          <a:lstStyle/>
          <a:p>
            <a:pPr marL="108000">
              <a:spcBef>
                <a:spcPts val="200"/>
              </a:spcBef>
            </a:pPr>
            <a:endParaRPr lang="en-US" altLang="zh-TW" dirty="0"/>
          </a:p>
          <a:p>
            <a:pPr marL="108000"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cstdlib</a:t>
            </a:r>
            <a:r>
              <a:rPr lang="en-US" altLang="zh-TW" dirty="0">
                <a:latin typeface="Courier New" panose="02070309020205020404" pitchFamily="49" charset="0"/>
                <a:cs typeface="Courier New" panose="02070309020205020404" pitchFamily="49" charset="0"/>
              </a:rPr>
              <a:t>&gt;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template&lt;class </a:t>
            </a:r>
            <a:r>
              <a:rPr lang="en-US" altLang="zh-TW" dirty="0" err="1">
                <a:latin typeface="Courier New" panose="02070309020205020404" pitchFamily="49" charset="0"/>
                <a:cs typeface="Courier New" panose="02070309020205020404" pitchFamily="49" charset="0"/>
              </a:rPr>
              <a:t>Tmplt</a:t>
            </a:r>
            <a:r>
              <a:rPr lang="en-US" altLang="zh-TW" dirty="0">
                <a:latin typeface="Courier New" panose="02070309020205020404" pitchFamily="49" charset="0"/>
                <a:cs typeface="Courier New" panose="02070309020205020404" pitchFamily="49" charset="0"/>
              </a:rPr>
              <a:t>&gt;   // a generic class name </a:t>
            </a:r>
            <a:r>
              <a:rPr lang="en-US" altLang="zh-TW" dirty="0" err="1">
                <a:latin typeface="Courier New" panose="02070309020205020404" pitchFamily="49" charset="0"/>
                <a:cs typeface="Courier New" panose="02070309020205020404" pitchFamily="49" charset="0"/>
              </a:rPr>
              <a:t>Tmplt</a:t>
            </a:r>
            <a:r>
              <a:rPr lang="en-US" altLang="zh-TW" dirty="0">
                <a:latin typeface="Courier New" panose="02070309020205020404" pitchFamily="49" charset="0"/>
                <a:cs typeface="Courier New" panose="02070309020205020404" pitchFamily="49" charset="0"/>
              </a:rPr>
              <a:t> is used</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class Pair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private:</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Tmplt</a:t>
            </a:r>
            <a:r>
              <a:rPr lang="en-US" altLang="zh-TW" dirty="0">
                <a:latin typeface="Courier New" panose="02070309020205020404" pitchFamily="49" charset="0"/>
                <a:cs typeface="Courier New" panose="02070309020205020404" pitchFamily="49" charset="0"/>
              </a:rPr>
              <a:t> first;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Tmplt</a:t>
            </a:r>
            <a:r>
              <a:rPr lang="en-US" altLang="zh-TW" dirty="0">
                <a:latin typeface="Courier New" panose="02070309020205020404" pitchFamily="49" charset="0"/>
                <a:cs typeface="Courier New" panose="02070309020205020404" pitchFamily="49" charset="0"/>
              </a:rPr>
              <a:t> second;</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public:</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Pair();</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Pair(</a:t>
            </a:r>
            <a:r>
              <a:rPr lang="en-US" altLang="zh-TW" dirty="0" err="1">
                <a:latin typeface="Courier New" panose="02070309020205020404" pitchFamily="49" charset="0"/>
                <a:cs typeface="Courier New" panose="02070309020205020404" pitchFamily="49" charset="0"/>
              </a:rPr>
              <a:t>Tmplt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firstVal</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Tmplt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secondVal</a:t>
            </a:r>
            <a:r>
              <a:rPr lang="en-US" altLang="zh-TW" dirty="0">
                <a:latin typeface="Courier New" panose="02070309020205020404" pitchFamily="49" charset="0"/>
                <a:cs typeface="Courier New" panose="02070309020205020404" pitchFamily="49" charset="0"/>
              </a:rPr>
              <a:t>);</a:t>
            </a:r>
          </a:p>
          <a:p>
            <a:pPr marL="108000" indent="0">
              <a:spcBef>
                <a:spcPts val="200"/>
              </a:spcBef>
              <a:buNone/>
            </a:pPr>
            <a:r>
              <a:rPr lang="en-US" altLang="zh-TW" dirty="0">
                <a:latin typeface="Courier New" panose="02070309020205020404" pitchFamily="49" charset="0"/>
                <a:cs typeface="Courier New" panose="02070309020205020404" pitchFamily="49" charset="0"/>
              </a:rPr>
              <a:t>    // intentionally use automatic de-constructor creation</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nn-NO" altLang="zh-TW" dirty="0">
                <a:latin typeface="Courier New" panose="02070309020205020404" pitchFamily="49" charset="0"/>
                <a:cs typeface="Courier New" panose="02070309020205020404" pitchFamily="49" charset="0"/>
              </a:rPr>
              <a:t>void setElement(int pos, Tmplt val);</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Tmplt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getElement</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pos</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60</a:t>
            </a:fld>
            <a:endParaRPr lang="en-US" altLang="zh-TW"/>
          </a:p>
        </p:txBody>
      </p:sp>
    </p:spTree>
    <p:extLst>
      <p:ext uri="{BB962C8B-B14F-4D97-AF65-F5344CB8AC3E}">
        <p14:creationId xmlns:p14="http://schemas.microsoft.com/office/powerpoint/2010/main" val="8739838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Class Template Example  2/4 </a:t>
            </a:r>
            <a:endParaRPr lang="zh-TW" altLang="en-US" dirty="0"/>
          </a:p>
        </p:txBody>
      </p:sp>
      <p:sp>
        <p:nvSpPr>
          <p:cNvPr id="2" name="內容版面配置區 1"/>
          <p:cNvSpPr>
            <a:spLocks noGrp="1"/>
          </p:cNvSpPr>
          <p:nvPr>
            <p:ph idx="1"/>
          </p:nvPr>
        </p:nvSpPr>
        <p:spPr>
          <a:xfrm>
            <a:off x="664635" y="1600200"/>
            <a:ext cx="10075084" cy="4773705"/>
          </a:xfrm>
        </p:spPr>
        <p:txBody>
          <a:bodyPr>
            <a:normAutofit fontScale="92500" lnSpcReduction="20000"/>
          </a:bodyPr>
          <a:lstStyle/>
          <a:p>
            <a:pPr marL="108000">
              <a:spcBef>
                <a:spcPts val="200"/>
              </a:spcBef>
            </a:pPr>
            <a:endParaRPr lang="en-US" altLang="zh-TW" dirty="0"/>
          </a:p>
          <a:p>
            <a:pPr marL="108000" indent="0">
              <a:spcBef>
                <a:spcPts val="200"/>
              </a:spcBef>
              <a:buNone/>
            </a:pPr>
            <a:r>
              <a:rPr lang="en-US" altLang="zh-TW" dirty="0">
                <a:latin typeface="Courier New" panose="02070309020205020404" pitchFamily="49" charset="0"/>
                <a:cs typeface="Courier New" panose="02070309020205020404" pitchFamily="49" charset="0"/>
              </a:rPr>
              <a:t>template&lt;class T&gt;    // a generic class name T is used</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fr-FR" altLang="zh-TW" dirty="0">
                <a:latin typeface="Courier New" panose="02070309020205020404" pitchFamily="49" charset="0"/>
                <a:cs typeface="Courier New" panose="02070309020205020404" pitchFamily="49" charset="0"/>
              </a:rPr>
              <a:t>Pair&lt;T&gt;::Pair(T firstVal, T secondVal)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first = </a:t>
            </a:r>
            <a:r>
              <a:rPr lang="en-US" altLang="zh-TW" dirty="0" err="1">
                <a:latin typeface="Courier New" panose="02070309020205020404" pitchFamily="49" charset="0"/>
                <a:cs typeface="Courier New" panose="02070309020205020404" pitchFamily="49" charset="0"/>
              </a:rPr>
              <a:t>firstVal</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second = </a:t>
            </a:r>
            <a:r>
              <a:rPr lang="en-US" altLang="zh-TW" dirty="0" err="1">
                <a:latin typeface="Courier New" panose="02070309020205020404" pitchFamily="49" charset="0"/>
                <a:cs typeface="Courier New" panose="02070309020205020404" pitchFamily="49" charset="0"/>
              </a:rPr>
              <a:t>secondVal</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template&lt;class T&gt;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fr-FR" altLang="zh-TW" dirty="0">
                <a:latin typeface="Courier New" panose="02070309020205020404" pitchFamily="49" charset="0"/>
                <a:cs typeface="Courier New" panose="02070309020205020404" pitchFamily="49" charset="0"/>
              </a:rPr>
              <a:t>void Pair&lt;T&gt;::setElement(int pos, T val)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if (</a:t>
            </a:r>
            <a:r>
              <a:rPr lang="en-US" altLang="zh-TW" dirty="0" err="1">
                <a:latin typeface="Courier New" panose="02070309020205020404" pitchFamily="49" charset="0"/>
                <a:cs typeface="Courier New" panose="02070309020205020404" pitchFamily="49" charset="0"/>
              </a:rPr>
              <a:t>pos</a:t>
            </a:r>
            <a:r>
              <a:rPr lang="en-US" altLang="zh-TW" dirty="0">
                <a:latin typeface="Courier New" panose="02070309020205020404" pitchFamily="49" charset="0"/>
                <a:cs typeface="Courier New" panose="02070309020205020404" pitchFamily="49" charset="0"/>
              </a:rPr>
              <a:t> == 0)</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first = </a:t>
            </a:r>
            <a:r>
              <a:rPr lang="en-US" altLang="zh-TW" dirty="0" err="1">
                <a:latin typeface="Courier New" panose="02070309020205020404" pitchFamily="49" charset="0"/>
                <a:cs typeface="Courier New" panose="02070309020205020404" pitchFamily="49" charset="0"/>
              </a:rPr>
              <a:t>val</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else if (</a:t>
            </a:r>
            <a:r>
              <a:rPr lang="en-US" altLang="zh-TW" dirty="0" err="1">
                <a:latin typeface="Courier New" panose="02070309020205020404" pitchFamily="49" charset="0"/>
                <a:cs typeface="Courier New" panose="02070309020205020404" pitchFamily="49" charset="0"/>
              </a:rPr>
              <a:t>pos</a:t>
            </a:r>
            <a:r>
              <a:rPr lang="en-US" altLang="zh-TW" dirty="0">
                <a:latin typeface="Courier New" panose="02070309020205020404" pitchFamily="49" charset="0"/>
                <a:cs typeface="Courier New" panose="02070309020205020404" pitchFamily="49" charset="0"/>
              </a:rPr>
              <a:t> == 1)</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second = </a:t>
            </a:r>
            <a:r>
              <a:rPr lang="en-US" altLang="zh-TW" dirty="0" err="1">
                <a:latin typeface="Courier New" panose="02070309020205020404" pitchFamily="49" charset="0"/>
                <a:cs typeface="Courier New" panose="02070309020205020404" pitchFamily="49" charset="0"/>
              </a:rPr>
              <a:t>val</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else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fr-FR" altLang="zh-TW" dirty="0">
                <a:latin typeface="Courier New" panose="02070309020205020404" pitchFamily="49" charset="0"/>
                <a:cs typeface="Courier New" panose="02070309020205020404" pitchFamily="49" charset="0"/>
              </a:rPr>
              <a:t>cout &lt;&lt; "Error: Illegal pair position\n";</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exit(1);</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61</a:t>
            </a:fld>
            <a:endParaRPr lang="en-US" altLang="zh-TW"/>
          </a:p>
        </p:txBody>
      </p:sp>
    </p:spTree>
    <p:extLst>
      <p:ext uri="{BB962C8B-B14F-4D97-AF65-F5344CB8AC3E}">
        <p14:creationId xmlns:p14="http://schemas.microsoft.com/office/powerpoint/2010/main" val="18515869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Class Template Example  3/4 </a:t>
            </a:r>
            <a:endParaRPr lang="zh-TW" altLang="en-US" dirty="0"/>
          </a:p>
        </p:txBody>
      </p:sp>
      <p:sp>
        <p:nvSpPr>
          <p:cNvPr id="2" name="內容版面配置區 1"/>
          <p:cNvSpPr>
            <a:spLocks noGrp="1"/>
          </p:cNvSpPr>
          <p:nvPr>
            <p:ph idx="1"/>
          </p:nvPr>
        </p:nvSpPr>
        <p:spPr/>
        <p:txBody>
          <a:bodyPr>
            <a:normAutofit/>
          </a:bodyPr>
          <a:lstStyle/>
          <a:p>
            <a:pPr marL="108000">
              <a:spcBef>
                <a:spcPts val="200"/>
              </a:spcBef>
            </a:pPr>
            <a:endParaRPr lang="en-US" altLang="zh-TW" dirty="0"/>
          </a:p>
          <a:p>
            <a:pPr marL="108000" indent="0">
              <a:spcBef>
                <a:spcPts val="200"/>
              </a:spcBef>
              <a:buNone/>
            </a:pPr>
            <a:r>
              <a:rPr lang="en-US" altLang="zh-TW" sz="1900" dirty="0">
                <a:latin typeface="Courier New" panose="02070309020205020404" pitchFamily="49" charset="0"/>
                <a:cs typeface="Courier New" panose="02070309020205020404" pitchFamily="49" charset="0"/>
              </a:rPr>
              <a:t>template&lt;class T&gt;</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en-US" altLang="zh-TW" sz="1900" dirty="0">
                <a:latin typeface="Courier New" panose="02070309020205020404" pitchFamily="49" charset="0"/>
                <a:cs typeface="Courier New" panose="02070309020205020404" pitchFamily="49" charset="0"/>
              </a:rPr>
              <a:t>T Pair&lt;T&gt;::</a:t>
            </a:r>
            <a:r>
              <a:rPr lang="en-US" altLang="zh-TW" sz="1900" dirty="0" err="1">
                <a:latin typeface="Courier New" panose="02070309020205020404" pitchFamily="49" charset="0"/>
                <a:cs typeface="Courier New" panose="02070309020205020404" pitchFamily="49" charset="0"/>
              </a:rPr>
              <a:t>getElement</a:t>
            </a:r>
            <a:r>
              <a:rPr lang="en-US" altLang="zh-TW" sz="1900" dirty="0">
                <a:latin typeface="Courier New" panose="02070309020205020404" pitchFamily="49" charset="0"/>
                <a:cs typeface="Courier New" panose="02070309020205020404" pitchFamily="49" charset="0"/>
              </a:rPr>
              <a:t>(</a:t>
            </a:r>
            <a:r>
              <a:rPr lang="en-US" altLang="zh-TW" sz="1900" dirty="0" err="1">
                <a:latin typeface="Courier New" panose="02070309020205020404" pitchFamily="49" charset="0"/>
                <a:cs typeface="Courier New" panose="02070309020205020404" pitchFamily="49" charset="0"/>
              </a:rPr>
              <a:t>int</a:t>
            </a:r>
            <a:r>
              <a:rPr lang="en-US" altLang="zh-TW" sz="1900" dirty="0">
                <a:latin typeface="Courier New" panose="02070309020205020404" pitchFamily="49" charset="0"/>
                <a:cs typeface="Courier New" panose="02070309020205020404" pitchFamily="49" charset="0"/>
              </a:rPr>
              <a:t> </a:t>
            </a:r>
            <a:r>
              <a:rPr lang="en-US" altLang="zh-TW" sz="1900" dirty="0" err="1">
                <a:latin typeface="Courier New" panose="02070309020205020404" pitchFamily="49" charset="0"/>
                <a:cs typeface="Courier New" panose="02070309020205020404" pitchFamily="49" charset="0"/>
              </a:rPr>
              <a:t>pos</a:t>
            </a:r>
            <a:r>
              <a:rPr lang="en-US" altLang="zh-TW" sz="1900" dirty="0">
                <a:latin typeface="Courier New" panose="02070309020205020404" pitchFamily="49" charset="0"/>
                <a:cs typeface="Courier New" panose="02070309020205020404" pitchFamily="49" charset="0"/>
              </a:rPr>
              <a:t>) {</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zh-TW" altLang="en-US" sz="1900" dirty="0">
                <a:latin typeface="Courier New" panose="02070309020205020404" pitchFamily="49" charset="0"/>
                <a:cs typeface="Courier New" panose="02070309020205020404" pitchFamily="49" charset="0"/>
              </a:rPr>
              <a:t>    </a:t>
            </a:r>
            <a:r>
              <a:rPr lang="en-US" altLang="zh-TW" sz="1900" dirty="0">
                <a:latin typeface="Courier New" panose="02070309020205020404" pitchFamily="49" charset="0"/>
                <a:cs typeface="Courier New" panose="02070309020205020404" pitchFamily="49" charset="0"/>
              </a:rPr>
              <a:t>if (</a:t>
            </a:r>
            <a:r>
              <a:rPr lang="en-US" altLang="zh-TW" sz="1900" dirty="0" err="1">
                <a:latin typeface="Courier New" panose="02070309020205020404" pitchFamily="49" charset="0"/>
                <a:cs typeface="Courier New" panose="02070309020205020404" pitchFamily="49" charset="0"/>
              </a:rPr>
              <a:t>pos</a:t>
            </a:r>
            <a:r>
              <a:rPr lang="en-US" altLang="zh-TW" sz="1900" dirty="0">
                <a:latin typeface="Courier New" panose="02070309020205020404" pitchFamily="49" charset="0"/>
                <a:cs typeface="Courier New" panose="02070309020205020404" pitchFamily="49" charset="0"/>
              </a:rPr>
              <a:t> == 0)</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zh-TW" altLang="en-US" sz="1900" dirty="0">
                <a:latin typeface="Courier New" panose="02070309020205020404" pitchFamily="49" charset="0"/>
                <a:cs typeface="Courier New" panose="02070309020205020404" pitchFamily="49" charset="0"/>
              </a:rPr>
              <a:t>       </a:t>
            </a:r>
            <a:r>
              <a:rPr lang="en-US" altLang="zh-TW" sz="1900" dirty="0">
                <a:latin typeface="Courier New" panose="02070309020205020404" pitchFamily="49" charset="0"/>
                <a:cs typeface="Courier New" panose="02070309020205020404" pitchFamily="49" charset="0"/>
              </a:rPr>
              <a:t>return first;</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zh-TW" altLang="en-US" sz="1900" dirty="0">
                <a:latin typeface="Courier New" panose="02070309020205020404" pitchFamily="49" charset="0"/>
                <a:cs typeface="Courier New" panose="02070309020205020404" pitchFamily="49" charset="0"/>
              </a:rPr>
              <a:t>    </a:t>
            </a:r>
            <a:r>
              <a:rPr lang="en-US" altLang="zh-TW" sz="1900" dirty="0">
                <a:latin typeface="Courier New" panose="02070309020205020404" pitchFamily="49" charset="0"/>
                <a:cs typeface="Courier New" panose="02070309020205020404" pitchFamily="49" charset="0"/>
              </a:rPr>
              <a:t>else if (</a:t>
            </a:r>
            <a:r>
              <a:rPr lang="en-US" altLang="zh-TW" sz="1900" dirty="0" err="1">
                <a:latin typeface="Courier New" panose="02070309020205020404" pitchFamily="49" charset="0"/>
                <a:cs typeface="Courier New" panose="02070309020205020404" pitchFamily="49" charset="0"/>
              </a:rPr>
              <a:t>pos</a:t>
            </a:r>
            <a:r>
              <a:rPr lang="en-US" altLang="zh-TW" sz="1900" dirty="0">
                <a:latin typeface="Courier New" panose="02070309020205020404" pitchFamily="49" charset="0"/>
                <a:cs typeface="Courier New" panose="02070309020205020404" pitchFamily="49" charset="0"/>
              </a:rPr>
              <a:t> == 1)</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zh-TW" altLang="en-US" sz="1900" dirty="0">
                <a:latin typeface="Courier New" panose="02070309020205020404" pitchFamily="49" charset="0"/>
                <a:cs typeface="Courier New" panose="02070309020205020404" pitchFamily="49" charset="0"/>
              </a:rPr>
              <a:t>       </a:t>
            </a:r>
            <a:r>
              <a:rPr lang="en-US" altLang="zh-TW" sz="1900" dirty="0">
                <a:latin typeface="Courier New" panose="02070309020205020404" pitchFamily="49" charset="0"/>
                <a:cs typeface="Courier New" panose="02070309020205020404" pitchFamily="49" charset="0"/>
              </a:rPr>
              <a:t>return second;</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zh-TW" altLang="en-US" sz="1900" dirty="0">
                <a:latin typeface="Courier New" panose="02070309020205020404" pitchFamily="49" charset="0"/>
                <a:cs typeface="Courier New" panose="02070309020205020404" pitchFamily="49" charset="0"/>
              </a:rPr>
              <a:t>    </a:t>
            </a:r>
            <a:r>
              <a:rPr lang="en-US" altLang="zh-TW" sz="1900" dirty="0">
                <a:latin typeface="Courier New" panose="02070309020205020404" pitchFamily="49" charset="0"/>
                <a:cs typeface="Courier New" panose="02070309020205020404" pitchFamily="49" charset="0"/>
              </a:rPr>
              <a:t>else {</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zh-TW" altLang="en-US" sz="1900" dirty="0">
                <a:latin typeface="Courier New" panose="02070309020205020404" pitchFamily="49" charset="0"/>
                <a:cs typeface="Courier New" panose="02070309020205020404" pitchFamily="49" charset="0"/>
              </a:rPr>
              <a:t>       </a:t>
            </a:r>
            <a:r>
              <a:rPr lang="fr-FR" altLang="zh-TW" sz="1900" dirty="0">
                <a:latin typeface="Courier New" panose="02070309020205020404" pitchFamily="49" charset="0"/>
                <a:cs typeface="Courier New" panose="02070309020205020404" pitchFamily="49" charset="0"/>
              </a:rPr>
              <a:t>cout &lt;&lt; "Error: Illegal pair position\n";</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zh-TW" altLang="en-US" sz="1900" dirty="0">
                <a:latin typeface="Courier New" panose="02070309020205020404" pitchFamily="49" charset="0"/>
                <a:cs typeface="Courier New" panose="02070309020205020404" pitchFamily="49" charset="0"/>
              </a:rPr>
              <a:t>       </a:t>
            </a:r>
            <a:r>
              <a:rPr lang="en-US" altLang="zh-TW" sz="1900" dirty="0">
                <a:latin typeface="Courier New" panose="02070309020205020404" pitchFamily="49" charset="0"/>
                <a:cs typeface="Courier New" panose="02070309020205020404" pitchFamily="49" charset="0"/>
              </a:rPr>
              <a:t>exit(1);</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zh-TW" altLang="en-US" sz="1900" dirty="0">
                <a:latin typeface="Courier New" panose="02070309020205020404" pitchFamily="49" charset="0"/>
                <a:cs typeface="Courier New" panose="02070309020205020404" pitchFamily="49" charset="0"/>
              </a:rPr>
              <a:t>    </a:t>
            </a:r>
            <a:r>
              <a:rPr lang="en-US" altLang="zh-TW" sz="1900" dirty="0">
                <a:latin typeface="Courier New" panose="02070309020205020404" pitchFamily="49" charset="0"/>
                <a:cs typeface="Courier New" panose="02070309020205020404" pitchFamily="49" charset="0"/>
              </a:rPr>
              <a:t>}</a:t>
            </a:r>
            <a:endParaRPr lang="zh-TW" altLang="en-US" sz="1900" dirty="0">
              <a:latin typeface="Courier New" panose="02070309020205020404" pitchFamily="49" charset="0"/>
              <a:cs typeface="Courier New" panose="02070309020205020404" pitchFamily="49" charset="0"/>
            </a:endParaRPr>
          </a:p>
          <a:p>
            <a:pPr marL="108000" indent="0">
              <a:spcBef>
                <a:spcPts val="200"/>
              </a:spcBef>
              <a:buNone/>
            </a:pPr>
            <a:r>
              <a:rPr lang="en-US" altLang="zh-TW" sz="1900" dirty="0">
                <a:latin typeface="Courier New" panose="02070309020205020404" pitchFamily="49" charset="0"/>
                <a:cs typeface="Courier New" panose="02070309020205020404" pitchFamily="49" charset="0"/>
              </a:rPr>
              <a:t>}</a:t>
            </a:r>
            <a:endParaRPr lang="zh-TW" altLang="en-US" sz="1900" dirty="0">
              <a:latin typeface="Courier New" panose="02070309020205020404" pitchFamily="49" charset="0"/>
              <a:cs typeface="Courier New" panose="02070309020205020404" pitchFamily="49" charset="0"/>
            </a:endParaRPr>
          </a:p>
          <a:p>
            <a:pPr marL="108000">
              <a:spcBef>
                <a:spcPts val="200"/>
              </a:spcBef>
            </a:pPr>
            <a:endParaRPr lang="zh-TW" altLang="en-US"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62</a:t>
            </a:fld>
            <a:endParaRPr lang="en-US" altLang="zh-TW"/>
          </a:p>
        </p:txBody>
      </p:sp>
    </p:spTree>
    <p:extLst>
      <p:ext uri="{BB962C8B-B14F-4D97-AF65-F5344CB8AC3E}">
        <p14:creationId xmlns:p14="http://schemas.microsoft.com/office/powerpoint/2010/main" val="38688225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Class Template Example  4/4</a:t>
            </a:r>
            <a:endParaRPr lang="zh-TW" altLang="en-US" dirty="0"/>
          </a:p>
        </p:txBody>
      </p:sp>
      <p:sp>
        <p:nvSpPr>
          <p:cNvPr id="2" name="內容版面配置區 1"/>
          <p:cNvSpPr>
            <a:spLocks noGrp="1"/>
          </p:cNvSpPr>
          <p:nvPr>
            <p:ph idx="1"/>
          </p:nvPr>
        </p:nvSpPr>
        <p:spPr>
          <a:xfrm>
            <a:off x="664635" y="1600200"/>
            <a:ext cx="10075084" cy="5003800"/>
          </a:xfrm>
        </p:spPr>
        <p:txBody>
          <a:bodyPr>
            <a:normAutofit fontScale="92500" lnSpcReduction="20000"/>
          </a:bodyPr>
          <a:lstStyle/>
          <a:p>
            <a:pPr marL="109728" indent="0">
              <a:spcBef>
                <a:spcPts val="200"/>
              </a:spcBef>
              <a:buNone/>
            </a:pPr>
            <a:r>
              <a:rPr lang="en-US" altLang="zh-TW" sz="1600" dirty="0">
                <a:latin typeface="Courier New" panose="02070309020205020404" pitchFamily="49" charset="0"/>
                <a:cs typeface="Courier New" panose="02070309020205020404" pitchFamily="49" charset="0"/>
              </a:rPr>
              <a:t>#include "</a:t>
            </a:r>
            <a:r>
              <a:rPr lang="en-US" altLang="zh-TW" sz="1600" dirty="0" err="1">
                <a:latin typeface="Courier New" panose="02070309020205020404" pitchFamily="49" charset="0"/>
                <a:cs typeface="Courier New" panose="02070309020205020404" pitchFamily="49" charset="0"/>
              </a:rPr>
              <a:t>Pair.h</a:t>
            </a:r>
            <a:r>
              <a:rPr lang="en-US" altLang="zh-TW" sz="1600" dirty="0">
                <a:latin typeface="Courier New" panose="02070309020205020404" pitchFamily="49" charset="0"/>
                <a:cs typeface="Courier New" panose="02070309020205020404" pitchFamily="49" charset="0"/>
              </a:rPr>
              <a:t>"</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err="1">
                <a:latin typeface="Courier New" panose="02070309020205020404" pitchFamily="49" charset="0"/>
                <a:cs typeface="Courier New" panose="02070309020205020404" pitchFamily="49" charset="0"/>
              </a:rPr>
              <a:t>int</a:t>
            </a:r>
            <a:r>
              <a:rPr lang="en-US" altLang="zh-TW" sz="1600" dirty="0">
                <a:latin typeface="Courier New" panose="02070309020205020404" pitchFamily="49" charset="0"/>
                <a:cs typeface="Courier New" panose="02070309020205020404" pitchFamily="49" charset="0"/>
              </a:rPr>
              <a:t> main(</a:t>
            </a:r>
            <a:r>
              <a:rPr lang="en-US" altLang="zh-TW" sz="1600" dirty="0" err="1">
                <a:latin typeface="Courier New" panose="02070309020205020404" pitchFamily="49" charset="0"/>
                <a:cs typeface="Courier New" panose="02070309020205020404" pitchFamily="49" charset="0"/>
              </a:rPr>
              <a:t>int</a:t>
            </a:r>
            <a:r>
              <a:rPr lang="en-US" altLang="zh-TW"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argc</a:t>
            </a:r>
            <a:r>
              <a:rPr lang="en-US" altLang="zh-TW" sz="1600" dirty="0">
                <a:latin typeface="Courier New" panose="02070309020205020404" pitchFamily="49" charset="0"/>
                <a:cs typeface="Courier New" panose="02070309020205020404" pitchFamily="49" charset="0"/>
              </a:rPr>
              <a:t>, char *</a:t>
            </a:r>
            <a:r>
              <a:rPr lang="en-US" altLang="zh-TW" sz="1600" dirty="0" err="1">
                <a:latin typeface="Courier New" panose="02070309020205020404" pitchFamily="49" charset="0"/>
                <a:cs typeface="Courier New" panose="02070309020205020404" pitchFamily="49" charset="0"/>
              </a:rPr>
              <a:t>argv</a:t>
            </a:r>
            <a:r>
              <a:rPr lang="en-US" altLang="zh-TW" sz="1600" dirty="0">
                <a:latin typeface="Courier New" panose="02070309020205020404" pitchFamily="49" charset="0"/>
                <a:cs typeface="Courier New" panose="02070309020205020404" pitchFamily="49" charset="0"/>
              </a:rPr>
              <a:t>[]) {</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Pair&lt;</a:t>
            </a:r>
            <a:r>
              <a:rPr lang="en-US" altLang="zh-TW" sz="1600" dirty="0" err="1">
                <a:latin typeface="Courier New" panose="02070309020205020404" pitchFamily="49" charset="0"/>
                <a:cs typeface="Courier New" panose="02070309020205020404" pitchFamily="49" charset="0"/>
              </a:rPr>
              <a:t>int</a:t>
            </a:r>
            <a:r>
              <a:rPr lang="en-US" altLang="zh-TW" sz="1600" dirty="0">
                <a:latin typeface="Courier New" panose="02070309020205020404" pitchFamily="49" charset="0"/>
                <a:cs typeface="Courier New" panose="02070309020205020404" pitchFamily="49" charset="0"/>
              </a:rPr>
              <a:t>&gt; </a:t>
            </a:r>
            <a:r>
              <a:rPr lang="en-US" altLang="zh-TW" sz="1600" dirty="0" err="1">
                <a:latin typeface="Courier New" panose="02070309020205020404" pitchFamily="49" charset="0"/>
                <a:cs typeface="Courier New" panose="02070309020205020404" pitchFamily="49" charset="0"/>
              </a:rPr>
              <a:t>intPair</a:t>
            </a:r>
            <a:r>
              <a:rPr lang="en-US" altLang="zh-TW" sz="1600" dirty="0">
                <a:latin typeface="Courier New" panose="02070309020205020404" pitchFamily="49" charset="0"/>
                <a:cs typeface="Courier New" panose="02070309020205020404" pitchFamily="49" charset="0"/>
              </a:rPr>
              <a:t>(3, 4);</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cout</a:t>
            </a:r>
            <a:r>
              <a:rPr lang="en-US" altLang="zh-TW" sz="1600" dirty="0">
                <a:latin typeface="Courier New" panose="02070309020205020404" pitchFamily="49" charset="0"/>
                <a:cs typeface="Courier New" panose="02070309020205020404" pitchFamily="49" charset="0"/>
              </a:rPr>
              <a:t> &lt;&lt; "Integer pair initialized as &lt;" &lt;&lt; </a:t>
            </a:r>
            <a:r>
              <a:rPr lang="en-US" altLang="zh-TW" sz="1600" dirty="0" err="1">
                <a:latin typeface="Courier New" panose="02070309020205020404" pitchFamily="49" charset="0"/>
                <a:cs typeface="Courier New" panose="02070309020205020404" pitchFamily="49" charset="0"/>
              </a:rPr>
              <a:t>intPair.getElement</a:t>
            </a:r>
            <a:r>
              <a:rPr lang="en-US" altLang="zh-TW" sz="1600" dirty="0">
                <a:latin typeface="Courier New" panose="02070309020205020404" pitchFamily="49" charset="0"/>
                <a:cs typeface="Courier New" panose="02070309020205020404" pitchFamily="49" charset="0"/>
              </a:rPr>
              <a:t>(0)</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&lt;&lt; ", " &lt;&lt; </a:t>
            </a:r>
            <a:r>
              <a:rPr lang="en-US" altLang="zh-TW" sz="1600" dirty="0" err="1">
                <a:latin typeface="Courier New" panose="02070309020205020404" pitchFamily="49" charset="0"/>
                <a:cs typeface="Courier New" panose="02070309020205020404" pitchFamily="49" charset="0"/>
              </a:rPr>
              <a:t>intPair.getElement</a:t>
            </a:r>
            <a:r>
              <a:rPr lang="en-US" altLang="zh-TW" sz="1600" dirty="0">
                <a:latin typeface="Courier New" panose="02070309020205020404" pitchFamily="49" charset="0"/>
                <a:cs typeface="Courier New" panose="02070309020205020404" pitchFamily="49" charset="0"/>
              </a:rPr>
              <a:t>(1) &lt;&lt; "&gt;\n";</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intPair.setElement</a:t>
            </a:r>
            <a:r>
              <a:rPr lang="en-US" altLang="zh-TW" sz="1600" dirty="0">
                <a:latin typeface="Courier New" panose="02070309020205020404" pitchFamily="49" charset="0"/>
                <a:cs typeface="Courier New" panose="02070309020205020404" pitchFamily="49" charset="0"/>
              </a:rPr>
              <a:t>(0, 17);</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intPair.setElement</a:t>
            </a:r>
            <a:r>
              <a:rPr lang="en-US" altLang="zh-TW" sz="1600" dirty="0">
                <a:latin typeface="Courier New" panose="02070309020205020404" pitchFamily="49" charset="0"/>
                <a:cs typeface="Courier New" panose="02070309020205020404" pitchFamily="49" charset="0"/>
              </a:rPr>
              <a:t>(1, 23);</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cout</a:t>
            </a:r>
            <a:r>
              <a:rPr lang="en-US" altLang="zh-TW" sz="1600" dirty="0">
                <a:latin typeface="Courier New" panose="02070309020205020404" pitchFamily="49" charset="0"/>
                <a:cs typeface="Courier New" panose="02070309020205020404" pitchFamily="49" charset="0"/>
              </a:rPr>
              <a:t> &lt;&lt; "</a:t>
            </a:r>
            <a:r>
              <a:rPr lang="en-US" altLang="zh-TW" sz="1600" dirty="0" err="1">
                <a:latin typeface="Courier New" panose="02070309020205020404" pitchFamily="49" charset="0"/>
                <a:cs typeface="Courier New" panose="02070309020205020404" pitchFamily="49" charset="0"/>
              </a:rPr>
              <a:t>Intevi</a:t>
            </a:r>
            <a:r>
              <a:rPr lang="en-US" altLang="zh-TW" sz="1600">
                <a:latin typeface="Courier New" panose="02070309020205020404" pitchFamily="49" charset="0"/>
                <a:cs typeface="Courier New" panose="02070309020205020404" pitchFamily="49" charset="0"/>
              </a:rPr>
              <a:t> ger </a:t>
            </a:r>
            <a:r>
              <a:rPr lang="en-US" altLang="zh-TW" sz="1600" dirty="0">
                <a:latin typeface="Courier New" panose="02070309020205020404" pitchFamily="49" charset="0"/>
                <a:cs typeface="Courier New" panose="02070309020205020404" pitchFamily="49" charset="0"/>
              </a:rPr>
              <a:t>pair reassigned as &lt;" &lt;&lt; </a:t>
            </a:r>
            <a:r>
              <a:rPr lang="en-US" altLang="zh-TW" sz="1600" dirty="0" err="1">
                <a:latin typeface="Courier New" panose="02070309020205020404" pitchFamily="49" charset="0"/>
                <a:cs typeface="Courier New" panose="02070309020205020404" pitchFamily="49" charset="0"/>
              </a:rPr>
              <a:t>intPair.getElement</a:t>
            </a:r>
            <a:r>
              <a:rPr lang="en-US" altLang="zh-TW" sz="1600" dirty="0">
                <a:latin typeface="Courier New" panose="02070309020205020404" pitchFamily="49" charset="0"/>
                <a:cs typeface="Courier New" panose="02070309020205020404" pitchFamily="49" charset="0"/>
              </a:rPr>
              <a:t>(0)</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&lt;&lt; ", " &lt;&lt; </a:t>
            </a:r>
            <a:r>
              <a:rPr lang="en-US" altLang="zh-TW" sz="1600" dirty="0" err="1">
                <a:latin typeface="Courier New" panose="02070309020205020404" pitchFamily="49" charset="0"/>
                <a:cs typeface="Courier New" panose="02070309020205020404" pitchFamily="49" charset="0"/>
              </a:rPr>
              <a:t>intPair.getElement</a:t>
            </a:r>
            <a:r>
              <a:rPr lang="en-US" altLang="zh-TW" sz="1600" dirty="0">
                <a:latin typeface="Courier New" panose="02070309020205020404" pitchFamily="49" charset="0"/>
                <a:cs typeface="Courier New" panose="02070309020205020404" pitchFamily="49" charset="0"/>
              </a:rPr>
              <a:t>(1) &lt;&lt; "&gt;\n\n";</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Pair&lt;char&gt; </a:t>
            </a:r>
            <a:r>
              <a:rPr lang="en-US" altLang="zh-TW" sz="1600" dirty="0" err="1">
                <a:latin typeface="Courier New" panose="02070309020205020404" pitchFamily="49" charset="0"/>
                <a:cs typeface="Courier New" panose="02070309020205020404" pitchFamily="49" charset="0"/>
              </a:rPr>
              <a:t>charPair</a:t>
            </a:r>
            <a:r>
              <a:rPr lang="en-US" altLang="zh-TW" sz="1600" dirty="0">
                <a:latin typeface="Courier New" panose="02070309020205020404" pitchFamily="49" charset="0"/>
                <a:cs typeface="Courier New" panose="02070309020205020404" pitchFamily="49" charset="0"/>
              </a:rPr>
              <a:t>('g', 'r');</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cout</a:t>
            </a:r>
            <a:r>
              <a:rPr lang="en-US" altLang="zh-TW" sz="1600" dirty="0">
                <a:latin typeface="Courier New" panose="02070309020205020404" pitchFamily="49" charset="0"/>
                <a:cs typeface="Courier New" panose="02070309020205020404" pitchFamily="49" charset="0"/>
              </a:rPr>
              <a:t> &lt;&lt; "Character pair initialized as &lt;" &lt;&lt; </a:t>
            </a:r>
            <a:r>
              <a:rPr lang="en-US" altLang="zh-TW" sz="1600" dirty="0" err="1">
                <a:latin typeface="Courier New" panose="02070309020205020404" pitchFamily="49" charset="0"/>
                <a:cs typeface="Courier New" panose="02070309020205020404" pitchFamily="49" charset="0"/>
              </a:rPr>
              <a:t>charPair.getElement</a:t>
            </a:r>
            <a:r>
              <a:rPr lang="en-US" altLang="zh-TW" sz="1600" dirty="0">
                <a:latin typeface="Courier New" panose="02070309020205020404" pitchFamily="49" charset="0"/>
                <a:cs typeface="Courier New" panose="02070309020205020404" pitchFamily="49" charset="0"/>
              </a:rPr>
              <a:t>(0)</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&lt;&lt; ", " &lt;&lt; </a:t>
            </a:r>
            <a:r>
              <a:rPr lang="en-US" altLang="zh-TW" sz="1600" dirty="0" err="1">
                <a:latin typeface="Courier New" panose="02070309020205020404" pitchFamily="49" charset="0"/>
                <a:cs typeface="Courier New" panose="02070309020205020404" pitchFamily="49" charset="0"/>
              </a:rPr>
              <a:t>charPair.getElement</a:t>
            </a:r>
            <a:r>
              <a:rPr lang="en-US" altLang="zh-TW" sz="1600" dirty="0">
                <a:latin typeface="Courier New" panose="02070309020205020404" pitchFamily="49" charset="0"/>
                <a:cs typeface="Courier New" panose="02070309020205020404" pitchFamily="49" charset="0"/>
              </a:rPr>
              <a:t>(1) &lt;&lt; "&gt;\n";</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charPair.setElement</a:t>
            </a:r>
            <a:r>
              <a:rPr lang="en-US" altLang="zh-TW" sz="1600" dirty="0">
                <a:latin typeface="Courier New" panose="02070309020205020404" pitchFamily="49" charset="0"/>
                <a:cs typeface="Courier New" panose="02070309020205020404" pitchFamily="49" charset="0"/>
              </a:rPr>
              <a:t>(0, 'O');</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charPair.setElement</a:t>
            </a:r>
            <a:r>
              <a:rPr lang="en-US" altLang="zh-TW" sz="1600" dirty="0">
                <a:latin typeface="Courier New" panose="02070309020205020404" pitchFamily="49" charset="0"/>
                <a:cs typeface="Courier New" panose="02070309020205020404" pitchFamily="49" charset="0"/>
              </a:rPr>
              <a:t>(1, 'K');</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err="1">
                <a:latin typeface="Courier New" panose="02070309020205020404" pitchFamily="49" charset="0"/>
                <a:cs typeface="Courier New" panose="02070309020205020404" pitchFamily="49" charset="0"/>
              </a:rPr>
              <a:t>cout</a:t>
            </a:r>
            <a:r>
              <a:rPr lang="en-US" altLang="zh-TW" sz="1600" dirty="0">
                <a:latin typeface="Courier New" panose="02070309020205020404" pitchFamily="49" charset="0"/>
                <a:cs typeface="Courier New" panose="02070309020205020404" pitchFamily="49" charset="0"/>
              </a:rPr>
              <a:t> &lt;&lt; "Character pair reassigned as &lt;" &lt;&lt; </a:t>
            </a:r>
            <a:r>
              <a:rPr lang="en-US" altLang="zh-TW" sz="1600" dirty="0" err="1">
                <a:latin typeface="Courier New" panose="02070309020205020404" pitchFamily="49" charset="0"/>
                <a:cs typeface="Courier New" panose="02070309020205020404" pitchFamily="49" charset="0"/>
              </a:rPr>
              <a:t>charPair.getElement</a:t>
            </a:r>
            <a:r>
              <a:rPr lang="en-US" altLang="zh-TW" sz="1600" dirty="0">
                <a:latin typeface="Courier New" panose="02070309020205020404" pitchFamily="49" charset="0"/>
                <a:cs typeface="Courier New" panose="02070309020205020404" pitchFamily="49" charset="0"/>
              </a:rPr>
              <a:t>(0)</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r>
              <a:rPr lang="en-US" altLang="zh-TW" sz="1600" dirty="0">
                <a:latin typeface="Courier New" panose="02070309020205020404" pitchFamily="49" charset="0"/>
                <a:cs typeface="Courier New" panose="02070309020205020404" pitchFamily="49" charset="0"/>
              </a:rPr>
              <a:t>&lt;&lt; ", " &lt;&lt; </a:t>
            </a:r>
            <a:r>
              <a:rPr lang="en-US" altLang="zh-TW" sz="1600" dirty="0" err="1">
                <a:latin typeface="Courier New" panose="02070309020205020404" pitchFamily="49" charset="0"/>
                <a:cs typeface="Courier New" panose="02070309020205020404" pitchFamily="49" charset="0"/>
              </a:rPr>
              <a:t>charPair.getElement</a:t>
            </a:r>
            <a:r>
              <a:rPr lang="en-US" altLang="zh-TW" sz="1600" dirty="0">
                <a:latin typeface="Courier New" panose="02070309020205020404" pitchFamily="49" charset="0"/>
                <a:cs typeface="Courier New" panose="02070309020205020404" pitchFamily="49" charset="0"/>
              </a:rPr>
              <a:t>(1) &lt;&lt; "&gt;\n\n";</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zh-TW" altLang="en-US" sz="1600" dirty="0">
                <a:latin typeface="Courier New" panose="02070309020205020404" pitchFamily="49" charset="0"/>
                <a:cs typeface="Courier New" panose="02070309020205020404" pitchFamily="49" charset="0"/>
              </a:rPr>
              <a:t>    </a:t>
            </a:r>
            <a:endParaRPr lang="en-US" altLang="zh-TW"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    return 0;</a:t>
            </a:r>
            <a:endParaRPr lang="zh-TW" altLang="en-US" sz="1600" dirty="0">
              <a:latin typeface="Courier New" panose="02070309020205020404" pitchFamily="49" charset="0"/>
              <a:cs typeface="Courier New" panose="02070309020205020404" pitchFamily="49" charset="0"/>
            </a:endParaRPr>
          </a:p>
          <a:p>
            <a:pPr marL="109728" indent="0">
              <a:spcBef>
                <a:spcPts val="200"/>
              </a:spcBef>
              <a:buNone/>
            </a:pPr>
            <a:r>
              <a:rPr lang="en-US" altLang="zh-TW" sz="1600" dirty="0">
                <a:latin typeface="Courier New" panose="02070309020205020404" pitchFamily="49" charset="0"/>
                <a:cs typeface="Courier New" panose="02070309020205020404" pitchFamily="49" charset="0"/>
              </a:rPr>
              <a:t>}</a:t>
            </a:r>
            <a:endParaRPr lang="zh-TW" altLang="en-US" sz="1600"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63</a:t>
            </a:fld>
            <a:endParaRPr lang="en-US" altLang="zh-TW"/>
          </a:p>
        </p:txBody>
      </p:sp>
    </p:spTree>
    <p:extLst>
      <p:ext uri="{BB962C8B-B14F-4D97-AF65-F5344CB8AC3E}">
        <p14:creationId xmlns:p14="http://schemas.microsoft.com/office/powerpoint/2010/main" val="29288597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7</a:t>
            </a:r>
            <a:br>
              <a:rPr lang="en-US" altLang="zh-TW" sz="3600" dirty="0"/>
            </a:br>
            <a:r>
              <a:rPr lang="en-US" altLang="zh-TW" sz="3600" dirty="0"/>
              <a:t>Virtual Function</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64</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13345068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dirty="0"/>
              <a:t>Imagine the implementation of different shapes: line, square, triangle, circle, octagon, etc.</a:t>
            </a:r>
          </a:p>
          <a:p>
            <a:r>
              <a:rPr lang="en-US" altLang="zh-TW" dirty="0"/>
              <a:t>Base class is </a:t>
            </a:r>
            <a:r>
              <a:rPr lang="en-US" altLang="zh-TW" dirty="0">
                <a:latin typeface="Courier New" panose="02070309020205020404" pitchFamily="49" charset="0"/>
                <a:cs typeface="Courier New" panose="02070309020205020404" pitchFamily="49" charset="0"/>
              </a:rPr>
              <a:t>shape</a:t>
            </a:r>
            <a:r>
              <a:rPr lang="en-US" altLang="zh-TW" dirty="0"/>
              <a:t>. And </a:t>
            </a:r>
            <a:r>
              <a:rPr lang="en-US" altLang="zh-TW" dirty="0">
                <a:latin typeface="Courier New" panose="02070309020205020404" pitchFamily="49" charset="0"/>
                <a:cs typeface="Courier New" panose="02070309020205020404" pitchFamily="49" charset="0"/>
              </a:rPr>
              <a:t>line</a:t>
            </a:r>
            <a:r>
              <a:rPr lang="en-US" altLang="zh-TW" dirty="0"/>
              <a:t>, </a:t>
            </a:r>
            <a:r>
              <a:rPr lang="en-US" altLang="zh-TW" dirty="0">
                <a:latin typeface="Courier New" panose="02070309020205020404" pitchFamily="49" charset="0"/>
                <a:cs typeface="Courier New" panose="02070309020205020404" pitchFamily="49" charset="0"/>
              </a:rPr>
              <a:t>square</a:t>
            </a:r>
            <a:r>
              <a:rPr lang="en-US" altLang="zh-TW" dirty="0"/>
              <a:t>, </a:t>
            </a:r>
            <a:r>
              <a:rPr lang="en-US" altLang="zh-TW" dirty="0">
                <a:latin typeface="Courier New" panose="02070309020205020404" pitchFamily="49" charset="0"/>
                <a:cs typeface="Courier New" panose="02070309020205020404" pitchFamily="49" charset="0"/>
              </a:rPr>
              <a:t>triangle</a:t>
            </a:r>
            <a:r>
              <a:rPr lang="en-US" altLang="zh-TW" dirty="0"/>
              <a:t>, </a:t>
            </a:r>
            <a:r>
              <a:rPr lang="en-US" altLang="zh-TW" dirty="0">
                <a:latin typeface="Courier New" panose="02070309020205020404" pitchFamily="49" charset="0"/>
                <a:cs typeface="Courier New" panose="02070309020205020404" pitchFamily="49" charset="0"/>
              </a:rPr>
              <a:t>circle</a:t>
            </a:r>
            <a:r>
              <a:rPr lang="en-US" altLang="zh-TW" dirty="0"/>
              <a:t>, </a:t>
            </a:r>
            <a:r>
              <a:rPr lang="en-US" altLang="zh-TW" dirty="0">
                <a:latin typeface="Courier New" panose="02070309020205020404" pitchFamily="49" charset="0"/>
                <a:cs typeface="Courier New" panose="02070309020205020404" pitchFamily="49" charset="0"/>
              </a:rPr>
              <a:t>octagon</a:t>
            </a:r>
            <a:r>
              <a:rPr lang="en-US" altLang="zh-TW" dirty="0"/>
              <a:t> etc. are classes derived from </a:t>
            </a:r>
            <a:r>
              <a:rPr lang="en-US" altLang="zh-TW" dirty="0">
                <a:latin typeface="Courier New" panose="02070309020205020404" pitchFamily="49" charset="0"/>
                <a:cs typeface="Courier New" panose="02070309020205020404" pitchFamily="49" charset="0"/>
              </a:rPr>
              <a:t>shape</a:t>
            </a:r>
            <a:r>
              <a:rPr lang="en-US" altLang="zh-TW" dirty="0">
                <a:cs typeface="Courier New" panose="02070309020205020404" pitchFamily="49" charset="0"/>
              </a:rPr>
              <a:t>. Then a </a:t>
            </a:r>
            <a:r>
              <a:rPr lang="en-US" altLang="zh-TW" dirty="0">
                <a:latin typeface="Courier New" panose="02070309020205020404" pitchFamily="49" charset="0"/>
                <a:cs typeface="Courier New" panose="02070309020205020404" pitchFamily="49" charset="0"/>
              </a:rPr>
              <a:t>draw()</a:t>
            </a:r>
            <a:r>
              <a:rPr lang="en-US" altLang="zh-TW" dirty="0">
                <a:cs typeface="Courier New" panose="02070309020205020404" pitchFamily="49" charset="0"/>
              </a:rPr>
              <a:t> function is implemented for each </a:t>
            </a:r>
            <a:r>
              <a:rPr lang="en-US" altLang="zh-TW" dirty="0">
                <a:latin typeface="Courier New" panose="02070309020205020404" pitchFamily="49" charset="0"/>
                <a:cs typeface="Courier New" panose="02070309020205020404" pitchFamily="49" charset="0"/>
              </a:rPr>
              <a:t>shape</a:t>
            </a:r>
            <a:r>
              <a:rPr lang="en-US" altLang="zh-TW" dirty="0">
                <a:cs typeface="Courier New" panose="02070309020205020404" pitchFamily="49" charset="0"/>
              </a:rPr>
              <a:t> derived class</a:t>
            </a:r>
            <a:endParaRPr lang="en-US" altLang="zh-TW" dirty="0">
              <a:latin typeface="Courier New" panose="02070309020205020404" pitchFamily="49" charset="0"/>
              <a:cs typeface="Courier New" panose="02070309020205020404" pitchFamily="49" charset="0"/>
            </a:endParaRPr>
          </a:p>
          <a:p>
            <a:r>
              <a:rPr lang="en-US" altLang="zh-TW" dirty="0">
                <a:cs typeface="Courier New" panose="02070309020205020404" pitchFamily="49" charset="0"/>
              </a:rPr>
              <a:t>Then, imagine all different shape is to be put into an array or a list to be processed and drawn in a loop. We want to simplify the coding and use one same function name </a:t>
            </a:r>
            <a:r>
              <a:rPr lang="en-US" altLang="zh-TW" dirty="0">
                <a:latin typeface="Courier New" panose="02070309020205020404" pitchFamily="49" charset="0"/>
                <a:cs typeface="Courier New" panose="02070309020205020404" pitchFamily="49" charset="0"/>
              </a:rPr>
              <a:t>draw()</a:t>
            </a:r>
            <a:r>
              <a:rPr lang="en-US" altLang="zh-TW" dirty="0">
                <a:cs typeface="Courier New" panose="02070309020205020404" pitchFamily="49" charset="0"/>
              </a:rPr>
              <a:t> in the loop</a:t>
            </a:r>
          </a:p>
          <a:p>
            <a:r>
              <a:rPr lang="en-US" altLang="zh-TW" dirty="0">
                <a:cs typeface="Courier New" panose="02070309020205020404" pitchFamily="49" charset="0"/>
              </a:rPr>
              <a:t>Then the compiler makes the code dynamically resolve at run time which </a:t>
            </a:r>
            <a:r>
              <a:rPr lang="en-US" altLang="zh-TW" dirty="0">
                <a:latin typeface="Courier New" panose="02070309020205020404" pitchFamily="49" charset="0"/>
                <a:cs typeface="Courier New" panose="02070309020205020404" pitchFamily="49" charset="0"/>
              </a:rPr>
              <a:t>draw()</a:t>
            </a:r>
            <a:r>
              <a:rPr lang="en-US" altLang="zh-TW" dirty="0">
                <a:cs typeface="Courier New" panose="02070309020205020404" pitchFamily="49" charset="0"/>
              </a:rPr>
              <a:t> function to use</a:t>
            </a:r>
            <a:endParaRPr lang="zh-TW" altLang="en-US" dirty="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65</a:t>
            </a:fld>
            <a:endParaRPr lang="en-US" altLang="zh-TW"/>
          </a:p>
        </p:txBody>
      </p:sp>
      <p:sp>
        <p:nvSpPr>
          <p:cNvPr id="4" name="標題 3"/>
          <p:cNvSpPr>
            <a:spLocks noGrp="1"/>
          </p:cNvSpPr>
          <p:nvPr>
            <p:ph type="title"/>
          </p:nvPr>
        </p:nvSpPr>
        <p:spPr/>
        <p:txBody>
          <a:bodyPr/>
          <a:lstStyle/>
          <a:p>
            <a:r>
              <a:rPr lang="en-US" altLang="zh-TW" dirty="0"/>
              <a:t>Why Virtual Function?</a:t>
            </a:r>
            <a:endParaRPr lang="zh-TW" altLang="en-US" dirty="0"/>
          </a:p>
        </p:txBody>
      </p:sp>
    </p:spTree>
    <p:extLst>
      <p:ext uri="{BB962C8B-B14F-4D97-AF65-F5344CB8AC3E}">
        <p14:creationId xmlns:p14="http://schemas.microsoft.com/office/powerpoint/2010/main" val="16863047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fontScale="85000" lnSpcReduction="20000"/>
          </a:bodyPr>
          <a:lstStyle/>
          <a:p>
            <a:pPr marL="109728" indent="0">
              <a:spcBef>
                <a:spcPts val="200"/>
              </a:spcBef>
              <a:buNone/>
            </a:pP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ifndef</a:t>
            </a:r>
            <a:r>
              <a:rPr lang="en-US" altLang="zh-TW" dirty="0">
                <a:latin typeface="Courier New" panose="02070309020205020404" pitchFamily="49" charset="0"/>
                <a:cs typeface="Courier New" panose="02070309020205020404" pitchFamily="49" charset="0"/>
              </a:rPr>
              <a:t> ANIMAL</a:t>
            </a:r>
          </a:p>
          <a:p>
            <a:pPr marL="109728" indent="0">
              <a:spcBef>
                <a:spcPts val="200"/>
              </a:spcBef>
              <a:buNone/>
            </a:pPr>
            <a:r>
              <a:rPr lang="en-US" altLang="zh-TW" dirty="0">
                <a:latin typeface="Courier New" panose="02070309020205020404" pitchFamily="49" charset="0"/>
                <a:cs typeface="Courier New" panose="02070309020205020404" pitchFamily="49" charset="0"/>
              </a:rPr>
              <a:t>#define ANIMAL</a:t>
            </a:r>
          </a:p>
          <a:p>
            <a:pPr marL="109728" indent="0">
              <a:spcBef>
                <a:spcPts val="200"/>
              </a:spcBef>
              <a:buNone/>
            </a:pPr>
            <a:r>
              <a:rPr lang="en-US" altLang="zh-TW" dirty="0">
                <a:latin typeface="Courier New" panose="02070309020205020404" pitchFamily="49" charset="0"/>
                <a:cs typeface="Courier New" panose="02070309020205020404" pitchFamily="49" charset="0"/>
              </a:rPr>
              <a:t>#include &lt;string&gt;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class Animal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private:</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string kind;</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public:</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Animal();</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Animal(string _kind);</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  </a:t>
            </a:r>
            <a:r>
              <a:rPr lang="zh-TW" altLang="en-US">
                <a:latin typeface="Courier New" panose="02070309020205020404" pitchFamily="49" charset="0"/>
                <a:cs typeface="Courier New" panose="02070309020205020404" pitchFamily="49" charset="0"/>
              </a:rPr>
              <a:t>  </a:t>
            </a:r>
            <a:r>
              <a:rPr lang="en-US" altLang="zh-TW">
                <a:latin typeface="Courier New" panose="02070309020205020404" pitchFamily="49" charset="0"/>
                <a:cs typeface="Courier New" panose="02070309020205020404" pitchFamily="49" charset="0"/>
              </a:rPr>
              <a:t>string </a:t>
            </a:r>
            <a:r>
              <a:rPr lang="en-US" altLang="zh-TW" dirty="0" err="1">
                <a:latin typeface="Courier New" panose="02070309020205020404" pitchFamily="49" charset="0"/>
                <a:cs typeface="Courier New" panose="02070309020205020404" pitchFamily="49" charset="0"/>
              </a:rPr>
              <a:t>getKind</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virtual</a:t>
            </a:r>
            <a:r>
              <a:rPr lang="en-US" altLang="zh-TW" dirty="0">
                <a:latin typeface="Courier New" panose="02070309020205020404" pitchFamily="49" charset="0"/>
                <a:cs typeface="Courier New" panose="02070309020205020404" pitchFamily="49" charset="0"/>
              </a:rPr>
              <a:t> void say();</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endif</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66</a:t>
            </a:fld>
            <a:endParaRPr lang="en-US" altLang="zh-TW"/>
          </a:p>
        </p:txBody>
      </p:sp>
      <p:sp>
        <p:nvSpPr>
          <p:cNvPr id="4" name="標題 3"/>
          <p:cNvSpPr>
            <a:spLocks noGrp="1"/>
          </p:cNvSpPr>
          <p:nvPr>
            <p:ph type="title"/>
          </p:nvPr>
        </p:nvSpPr>
        <p:spPr/>
        <p:txBody>
          <a:bodyPr/>
          <a:lstStyle/>
          <a:p>
            <a:r>
              <a:rPr lang="en-US" altLang="zh-TW" dirty="0"/>
              <a:t>An Example – Animals  1/7</a:t>
            </a:r>
            <a:endParaRPr lang="zh-TW" altLang="en-US" dirty="0"/>
          </a:p>
        </p:txBody>
      </p:sp>
    </p:spTree>
    <p:extLst>
      <p:ext uri="{BB962C8B-B14F-4D97-AF65-F5344CB8AC3E}">
        <p14:creationId xmlns:p14="http://schemas.microsoft.com/office/powerpoint/2010/main" val="33574893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An Example – Animals  2/7</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85000" lnSpcReduction="20000"/>
          </a:bodyPr>
          <a:lstStyle/>
          <a:p>
            <a:pPr marL="108000"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p>
          <a:p>
            <a:pPr marL="108000" indent="0">
              <a:spcBef>
                <a:spcPts val="200"/>
              </a:spcBef>
              <a:buNone/>
            </a:pPr>
            <a:r>
              <a:rPr lang="en-US" altLang="zh-TW" dirty="0">
                <a:latin typeface="Courier New" panose="02070309020205020404" pitchFamily="49" charset="0"/>
                <a:cs typeface="Courier New" panose="02070309020205020404" pitchFamily="49" charset="0"/>
              </a:rPr>
              <a:t>#include “</a:t>
            </a:r>
            <a:r>
              <a:rPr lang="en-US" altLang="zh-TW" dirty="0" err="1">
                <a:latin typeface="Courier New" panose="02070309020205020404" pitchFamily="49" charset="0"/>
                <a:cs typeface="Courier New" panose="02070309020205020404" pitchFamily="49" charset="0"/>
              </a:rPr>
              <a:t>Animal.h</a:t>
            </a:r>
            <a:r>
              <a:rPr lang="en-US" altLang="zh-TW" dirty="0">
                <a:latin typeface="Courier New" panose="02070309020205020404" pitchFamily="49" charset="0"/>
                <a:cs typeface="Courier New" panose="02070309020205020404" pitchFamily="49" charset="0"/>
              </a:rPr>
              <a:t>”</a:t>
            </a:r>
          </a:p>
          <a:p>
            <a:pPr marL="108000" indent="0">
              <a:spcBef>
                <a:spcPts val="200"/>
              </a:spcBef>
              <a:buNone/>
            </a:pPr>
            <a:endParaRPr lang="en-US" altLang="zh-TW"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Animal::Animal()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kind =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Animal::Animal(string _kind)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kind = _kind;</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string Animal::</a:t>
            </a:r>
            <a:r>
              <a:rPr lang="en-US" altLang="zh-TW" dirty="0" err="1">
                <a:latin typeface="Courier New" panose="02070309020205020404" pitchFamily="49" charset="0"/>
                <a:cs typeface="Courier New" panose="02070309020205020404" pitchFamily="49" charset="0"/>
              </a:rPr>
              <a:t>getKind</a:t>
            </a:r>
            <a:r>
              <a:rPr lang="en-US" altLang="zh-TW" dirty="0">
                <a:latin typeface="Courier New" panose="02070309020205020404" pitchFamily="49" charset="0"/>
                <a:cs typeface="Courier New" panose="02070309020205020404" pitchFamily="49" charset="0"/>
              </a:rPr>
              <a:t>()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return kind;</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void Animal::say()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cout</a:t>
            </a:r>
            <a:r>
              <a:rPr lang="en-US" altLang="zh-TW" dirty="0">
                <a:latin typeface="Courier New" panose="02070309020205020404" pitchFamily="49" charset="0"/>
                <a:cs typeface="Courier New" panose="02070309020205020404" pitchFamily="49" charset="0"/>
              </a:rPr>
              <a:t> &lt;&lt; "Not any known animal, say nothing\n";</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return;</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67</a:t>
            </a:fld>
            <a:endParaRPr lang="en-US" altLang="zh-TW"/>
          </a:p>
        </p:txBody>
      </p:sp>
    </p:spTree>
    <p:extLst>
      <p:ext uri="{BB962C8B-B14F-4D97-AF65-F5344CB8AC3E}">
        <p14:creationId xmlns:p14="http://schemas.microsoft.com/office/powerpoint/2010/main" val="26333649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An Example – Animals  3/7</a:t>
            </a:r>
            <a:endParaRPr lang="zh-TW" altLang="en-US" dirty="0"/>
          </a:p>
        </p:txBody>
      </p:sp>
      <p:sp>
        <p:nvSpPr>
          <p:cNvPr id="2" name="內容版面配置區 1"/>
          <p:cNvSpPr>
            <a:spLocks noGrp="1"/>
          </p:cNvSpPr>
          <p:nvPr>
            <p:ph idx="1"/>
          </p:nvPr>
        </p:nvSpPr>
        <p:spPr/>
        <p:txBody>
          <a:bodyPr>
            <a:normAutofit fontScale="92500" lnSpcReduction="10000"/>
          </a:bodyPr>
          <a:lstStyle/>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r>
              <a:rPr lang="en-US" altLang="zh-TW" sz="2400" dirty="0" err="1">
                <a:latin typeface="Courier New" panose="02070309020205020404" pitchFamily="49" charset="0"/>
                <a:cs typeface="Courier New" panose="02070309020205020404" pitchFamily="49" charset="0"/>
              </a:rPr>
              <a:t>ifndef</a:t>
            </a:r>
            <a:r>
              <a:rPr lang="en-US" altLang="zh-TW" sz="2400" dirty="0">
                <a:latin typeface="Courier New" panose="02070309020205020404" pitchFamily="49" charset="0"/>
                <a:cs typeface="Courier New" panose="02070309020205020404" pitchFamily="49" charset="0"/>
              </a:rPr>
              <a:t> DOG</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#define DOG</a:t>
            </a:r>
          </a:p>
          <a:p>
            <a:pPr marL="109728" indent="0">
              <a:spcBef>
                <a:spcPts val="200"/>
              </a:spcBef>
              <a:buNone/>
            </a:pPr>
            <a:endParaRPr lang="en-US" altLang="zh-TW"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a:t>
            </a:r>
            <a:r>
              <a:rPr lang="en-US" altLang="zh-TW" sz="2400" dirty="0" err="1">
                <a:latin typeface="Courier New" panose="02070309020205020404" pitchFamily="49" charset="0"/>
                <a:cs typeface="Courier New" panose="02070309020205020404" pitchFamily="49" charset="0"/>
              </a:rPr>
              <a:t>Animal.h</a:t>
            </a: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class Dog : public Animal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public:</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latin typeface="Courier New" panose="02070309020205020404" pitchFamily="49" charset="0"/>
                <a:cs typeface="Courier New" panose="02070309020205020404" pitchFamily="49" charset="0"/>
              </a:rPr>
              <a:t>Dog();</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latin typeface="Courier New" panose="02070309020205020404" pitchFamily="49" charset="0"/>
                <a:cs typeface="Courier New" panose="02070309020205020404" pitchFamily="49" charset="0"/>
              </a:rPr>
              <a:t>Dog(string _kind);</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solidFill>
                  <a:srgbClr val="FF0000"/>
                </a:solidFill>
                <a:latin typeface="Courier New" panose="02070309020205020404" pitchFamily="49" charset="0"/>
                <a:cs typeface="Courier New" panose="02070309020205020404" pitchFamily="49" charset="0"/>
              </a:rPr>
              <a:t>virtual</a:t>
            </a:r>
            <a:r>
              <a:rPr lang="en-US" altLang="zh-TW" sz="2400" dirty="0">
                <a:latin typeface="Courier New" panose="02070309020205020404" pitchFamily="49" charset="0"/>
                <a:cs typeface="Courier New" panose="02070309020205020404" pitchFamily="49" charset="0"/>
              </a:rPr>
              <a:t> void say();</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r>
              <a:rPr lang="en-US" altLang="zh-TW" sz="2400" dirty="0" err="1">
                <a:latin typeface="Courier New" panose="02070309020205020404" pitchFamily="49" charset="0"/>
                <a:cs typeface="Courier New" panose="02070309020205020404" pitchFamily="49" charset="0"/>
              </a:rPr>
              <a:t>endif</a:t>
            </a:r>
            <a:endParaRPr lang="zh-TW" altLang="en-US" sz="2400"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68</a:t>
            </a:fld>
            <a:endParaRPr lang="en-US" altLang="zh-TW"/>
          </a:p>
        </p:txBody>
      </p:sp>
    </p:spTree>
    <p:extLst>
      <p:ext uri="{BB962C8B-B14F-4D97-AF65-F5344CB8AC3E}">
        <p14:creationId xmlns:p14="http://schemas.microsoft.com/office/powerpoint/2010/main" val="9128141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An Example – Animals  4/7</a:t>
            </a:r>
            <a:endParaRPr lang="zh-TW" altLang="en-US" dirty="0"/>
          </a:p>
        </p:txBody>
      </p:sp>
      <p:sp>
        <p:nvSpPr>
          <p:cNvPr id="2" name="內容版面配置區 1"/>
          <p:cNvSpPr>
            <a:spLocks noGrp="1"/>
          </p:cNvSpPr>
          <p:nvPr>
            <p:ph idx="1"/>
          </p:nvPr>
        </p:nvSpPr>
        <p:spPr/>
        <p:txBody>
          <a:bodyPr>
            <a:normAutofit fontScale="85000" lnSpcReduction="20000"/>
          </a:bodyPr>
          <a:lstStyle/>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&lt;</a:t>
            </a:r>
            <a:r>
              <a:rPr lang="en-US" altLang="zh-TW" sz="2400" dirty="0" err="1">
                <a:latin typeface="Courier New" panose="02070309020205020404" pitchFamily="49" charset="0"/>
                <a:cs typeface="Courier New" panose="02070309020205020404" pitchFamily="49" charset="0"/>
              </a:rPr>
              <a:t>iostream</a:t>
            </a:r>
            <a:r>
              <a:rPr lang="en-US" altLang="zh-TW" sz="2400" dirty="0">
                <a:latin typeface="Courier New" panose="02070309020205020404" pitchFamily="49" charset="0"/>
                <a:cs typeface="Courier New" panose="02070309020205020404" pitchFamily="49" charset="0"/>
              </a:rPr>
              <a:t>&gt;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a:t>
            </a:r>
            <a:r>
              <a:rPr lang="en-US" altLang="zh-TW" sz="2400" dirty="0" err="1">
                <a:latin typeface="Courier New" panose="02070309020205020404" pitchFamily="49" charset="0"/>
                <a:cs typeface="Courier New" panose="02070309020205020404" pitchFamily="49" charset="0"/>
              </a:rPr>
              <a:t>Dog.h</a:t>
            </a: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using namespace </a:t>
            </a:r>
            <a:r>
              <a:rPr lang="en-US" altLang="zh-TW" sz="2400" dirty="0" err="1">
                <a:latin typeface="Courier New" panose="02070309020205020404" pitchFamily="49" charset="0"/>
                <a:cs typeface="Courier New" panose="02070309020205020404" pitchFamily="49" charset="0"/>
              </a:rPr>
              <a:t>std</a:t>
            </a: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Dog::Dog() : Animal("Dog")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Dog::Dog(string _kind) : Animal(_kind)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void Dog::say()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cout</a:t>
            </a:r>
            <a:r>
              <a:rPr lang="en-US" altLang="zh-TW" sz="2400" dirty="0">
                <a:latin typeface="Courier New" panose="02070309020205020404" pitchFamily="49" charset="0"/>
                <a:cs typeface="Courier New" panose="02070309020205020404" pitchFamily="49" charset="0"/>
              </a:rPr>
              <a:t> &lt;&lt; </a:t>
            </a:r>
            <a:r>
              <a:rPr lang="en-US" altLang="zh-TW" sz="2400" dirty="0" err="1">
                <a:latin typeface="Courier New" panose="02070309020205020404" pitchFamily="49" charset="0"/>
                <a:cs typeface="Courier New" panose="02070309020205020404" pitchFamily="49" charset="0"/>
              </a:rPr>
              <a:t>getKind</a:t>
            </a:r>
            <a:r>
              <a:rPr lang="en-US" altLang="zh-TW" sz="2400" dirty="0">
                <a:latin typeface="Courier New" panose="02070309020205020404" pitchFamily="49" charset="0"/>
                <a:cs typeface="Courier New" panose="02070309020205020404" pitchFamily="49" charset="0"/>
              </a:rPr>
              <a:t>() &lt;&lt; " barks\n";</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latin typeface="Courier New" panose="02070309020205020404" pitchFamily="49" charset="0"/>
                <a:cs typeface="Courier New" panose="02070309020205020404" pitchFamily="49" charset="0"/>
              </a:rPr>
              <a:t>return;</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69</a:t>
            </a:fld>
            <a:endParaRPr lang="en-US" altLang="zh-TW"/>
          </a:p>
        </p:txBody>
      </p:sp>
    </p:spTree>
    <p:extLst>
      <p:ext uri="{BB962C8B-B14F-4D97-AF65-F5344CB8AC3E}">
        <p14:creationId xmlns:p14="http://schemas.microsoft.com/office/powerpoint/2010/main" val="33228774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An Example – Animals  5/7</a:t>
            </a:r>
            <a:endParaRPr lang="zh-TW" altLang="en-US" dirty="0"/>
          </a:p>
        </p:txBody>
      </p:sp>
      <p:sp>
        <p:nvSpPr>
          <p:cNvPr id="2" name="內容版面配置區 1"/>
          <p:cNvSpPr>
            <a:spLocks noGrp="1"/>
          </p:cNvSpPr>
          <p:nvPr>
            <p:ph idx="1"/>
          </p:nvPr>
        </p:nvSpPr>
        <p:spPr/>
        <p:txBody>
          <a:bodyPr>
            <a:normAutofit lnSpcReduction="10000"/>
          </a:bodyPr>
          <a:lstStyle/>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r>
              <a:rPr lang="en-US" altLang="zh-TW" sz="2400" dirty="0" err="1">
                <a:latin typeface="Courier New" panose="02070309020205020404" pitchFamily="49" charset="0"/>
                <a:cs typeface="Courier New" panose="02070309020205020404" pitchFamily="49" charset="0"/>
              </a:rPr>
              <a:t>ifndef</a:t>
            </a:r>
            <a:r>
              <a:rPr lang="en-US" altLang="zh-TW" sz="2400" dirty="0">
                <a:latin typeface="Courier New" panose="02070309020205020404" pitchFamily="49" charset="0"/>
                <a:cs typeface="Courier New" panose="02070309020205020404" pitchFamily="49" charset="0"/>
              </a:rPr>
              <a:t> WOLF</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#define WOLF</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a:t>
            </a:r>
            <a:r>
              <a:rPr lang="en-US" altLang="zh-TW" sz="2400" dirty="0" err="1">
                <a:latin typeface="Courier New" panose="02070309020205020404" pitchFamily="49" charset="0"/>
                <a:cs typeface="Courier New" panose="02070309020205020404" pitchFamily="49" charset="0"/>
              </a:rPr>
              <a:t>Dog.h</a:t>
            </a: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class Wolf : public Dog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public:</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latin typeface="Courier New" panose="02070309020205020404" pitchFamily="49" charset="0"/>
                <a:cs typeface="Courier New" panose="02070309020205020404" pitchFamily="49" charset="0"/>
              </a:rPr>
              <a:t>Wolf();</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latin typeface="Courier New" panose="02070309020205020404" pitchFamily="49" charset="0"/>
                <a:cs typeface="Courier New" panose="02070309020205020404" pitchFamily="49" charset="0"/>
              </a:rPr>
              <a:t>Wolf(string _kind);</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solidFill>
                  <a:srgbClr val="FF0000"/>
                </a:solidFill>
                <a:latin typeface="Courier New" panose="02070309020205020404" pitchFamily="49" charset="0"/>
                <a:cs typeface="Courier New" panose="02070309020205020404" pitchFamily="49" charset="0"/>
              </a:rPr>
              <a:t>virtual</a:t>
            </a:r>
            <a:r>
              <a:rPr lang="en-US" altLang="zh-TW" sz="2400" dirty="0">
                <a:latin typeface="Courier New" panose="02070309020205020404" pitchFamily="49" charset="0"/>
                <a:cs typeface="Courier New" panose="02070309020205020404" pitchFamily="49" charset="0"/>
              </a:rPr>
              <a:t> void say();</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r>
              <a:rPr lang="en-US" altLang="zh-TW" sz="2400" dirty="0" err="1">
                <a:latin typeface="Courier New" panose="02070309020205020404" pitchFamily="49" charset="0"/>
                <a:cs typeface="Courier New" panose="02070309020205020404" pitchFamily="49" charset="0"/>
              </a:rPr>
              <a:t>endif</a:t>
            </a:r>
            <a:endParaRPr lang="zh-TW" altLang="en-US" sz="2400"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70</a:t>
            </a:fld>
            <a:endParaRPr lang="en-US" altLang="zh-TW"/>
          </a:p>
        </p:txBody>
      </p:sp>
    </p:spTree>
    <p:extLst>
      <p:ext uri="{BB962C8B-B14F-4D97-AF65-F5344CB8AC3E}">
        <p14:creationId xmlns:p14="http://schemas.microsoft.com/office/powerpoint/2010/main" val="36747288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An Example – Animals  6/7</a:t>
            </a:r>
            <a:endParaRPr lang="zh-TW" altLang="en-US" dirty="0"/>
          </a:p>
        </p:txBody>
      </p:sp>
      <p:sp>
        <p:nvSpPr>
          <p:cNvPr id="2" name="內容版面配置區 1"/>
          <p:cNvSpPr>
            <a:spLocks noGrp="1"/>
          </p:cNvSpPr>
          <p:nvPr>
            <p:ph idx="1"/>
          </p:nvPr>
        </p:nvSpPr>
        <p:spPr/>
        <p:txBody>
          <a:bodyPr>
            <a:normAutofit fontScale="85000" lnSpcReduction="20000"/>
          </a:bodyPr>
          <a:lstStyle/>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&lt;</a:t>
            </a:r>
            <a:r>
              <a:rPr lang="en-US" altLang="zh-TW" sz="2400" dirty="0" err="1">
                <a:latin typeface="Courier New" panose="02070309020205020404" pitchFamily="49" charset="0"/>
                <a:cs typeface="Courier New" panose="02070309020205020404" pitchFamily="49" charset="0"/>
              </a:rPr>
              <a:t>iostream</a:t>
            </a:r>
            <a:r>
              <a:rPr lang="en-US" altLang="zh-TW" sz="2400" dirty="0">
                <a:latin typeface="Courier New" panose="02070309020205020404" pitchFamily="49" charset="0"/>
                <a:cs typeface="Courier New" panose="02070309020205020404" pitchFamily="49" charset="0"/>
              </a:rPr>
              <a:t>&gt;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a:t>
            </a:r>
            <a:r>
              <a:rPr lang="en-US" altLang="zh-TW" sz="2400" dirty="0" err="1">
                <a:latin typeface="Courier New" panose="02070309020205020404" pitchFamily="49" charset="0"/>
                <a:cs typeface="Courier New" panose="02070309020205020404" pitchFamily="49" charset="0"/>
              </a:rPr>
              <a:t>Wolf.h</a:t>
            </a: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using namespace </a:t>
            </a:r>
            <a:r>
              <a:rPr lang="en-US" altLang="zh-TW" sz="2400" dirty="0" err="1">
                <a:latin typeface="Courier New" panose="02070309020205020404" pitchFamily="49" charset="0"/>
                <a:cs typeface="Courier New" panose="02070309020205020404" pitchFamily="49" charset="0"/>
              </a:rPr>
              <a:t>std</a:t>
            </a: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Wolf::Wolf() : Dog(“Wolf")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Wolf::Wolf(string _kind) : Dog(_kind)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void Wolf::say()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cout</a:t>
            </a:r>
            <a:r>
              <a:rPr lang="en-US" altLang="zh-TW" sz="2400" dirty="0">
                <a:latin typeface="Courier New" panose="02070309020205020404" pitchFamily="49" charset="0"/>
                <a:cs typeface="Courier New" panose="02070309020205020404" pitchFamily="49" charset="0"/>
              </a:rPr>
              <a:t> &lt;&lt; </a:t>
            </a:r>
            <a:r>
              <a:rPr lang="en-US" altLang="zh-TW" sz="2400" dirty="0" err="1">
                <a:latin typeface="Courier New" panose="02070309020205020404" pitchFamily="49" charset="0"/>
                <a:cs typeface="Courier New" panose="02070309020205020404" pitchFamily="49" charset="0"/>
              </a:rPr>
              <a:t>getKind</a:t>
            </a:r>
            <a:r>
              <a:rPr lang="en-US" altLang="zh-TW" sz="2400" dirty="0">
                <a:latin typeface="Courier New" panose="02070309020205020404" pitchFamily="49" charset="0"/>
                <a:cs typeface="Courier New" panose="02070309020205020404" pitchFamily="49" charset="0"/>
              </a:rPr>
              <a:t>() &lt;&lt; " woos\n";</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latin typeface="Courier New" panose="02070309020205020404" pitchFamily="49" charset="0"/>
                <a:cs typeface="Courier New" panose="02070309020205020404" pitchFamily="49" charset="0"/>
              </a:rPr>
              <a:t>return;</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71</a:t>
            </a:fld>
            <a:endParaRPr lang="en-US" altLang="zh-TW"/>
          </a:p>
        </p:txBody>
      </p:sp>
    </p:spTree>
    <p:extLst>
      <p:ext uri="{BB962C8B-B14F-4D97-AF65-F5344CB8AC3E}">
        <p14:creationId xmlns:p14="http://schemas.microsoft.com/office/powerpoint/2010/main" val="40329151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An Example – Animals  6/7</a:t>
            </a:r>
            <a:endParaRPr lang="zh-TW" altLang="en-US" dirty="0"/>
          </a:p>
        </p:txBody>
      </p:sp>
      <p:sp>
        <p:nvSpPr>
          <p:cNvPr id="2" name="內容版面配置區 1"/>
          <p:cNvSpPr>
            <a:spLocks noGrp="1"/>
          </p:cNvSpPr>
          <p:nvPr>
            <p:ph idx="1"/>
          </p:nvPr>
        </p:nvSpPr>
        <p:spPr/>
        <p:txBody>
          <a:bodyPr>
            <a:normAutofit fontScale="85000" lnSpcReduction="20000"/>
          </a:bodyPr>
          <a:lstStyle/>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&lt;</a:t>
            </a:r>
            <a:r>
              <a:rPr lang="en-US" altLang="zh-TW" sz="2400" dirty="0" err="1">
                <a:latin typeface="Courier New" panose="02070309020205020404" pitchFamily="49" charset="0"/>
                <a:cs typeface="Courier New" panose="02070309020205020404" pitchFamily="49" charset="0"/>
              </a:rPr>
              <a:t>iostream</a:t>
            </a:r>
            <a:r>
              <a:rPr lang="en-US" altLang="zh-TW" sz="2400" dirty="0">
                <a:latin typeface="Courier New" panose="02070309020205020404" pitchFamily="49" charset="0"/>
                <a:cs typeface="Courier New" panose="02070309020205020404" pitchFamily="49" charset="0"/>
              </a:rPr>
              <a:t>&gt;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#include “</a:t>
            </a:r>
            <a:r>
              <a:rPr lang="en-US" altLang="zh-TW" sz="2400" dirty="0" err="1">
                <a:latin typeface="Courier New" panose="02070309020205020404" pitchFamily="49" charset="0"/>
                <a:cs typeface="Courier New" panose="02070309020205020404" pitchFamily="49" charset="0"/>
              </a:rPr>
              <a:t>Wolf.h</a:t>
            </a: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using namespace </a:t>
            </a:r>
            <a:r>
              <a:rPr lang="en-US" altLang="zh-TW" sz="2400" dirty="0" err="1">
                <a:latin typeface="Courier New" panose="02070309020205020404" pitchFamily="49" charset="0"/>
                <a:cs typeface="Courier New" panose="02070309020205020404" pitchFamily="49" charset="0"/>
              </a:rPr>
              <a:t>std</a:t>
            </a: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Wolf::Wolf() : Dog(“Wolf")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Wolf::Wolf(string _kind) : Dog(_kind)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void Wolf::say() {</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cout</a:t>
            </a:r>
            <a:r>
              <a:rPr lang="en-US" altLang="zh-TW" sz="2400" dirty="0">
                <a:latin typeface="Courier New" panose="02070309020205020404" pitchFamily="49" charset="0"/>
                <a:cs typeface="Courier New" panose="02070309020205020404" pitchFamily="49" charset="0"/>
              </a:rPr>
              <a:t> &lt;&lt; </a:t>
            </a:r>
            <a:r>
              <a:rPr lang="en-US" altLang="zh-TW" sz="2400" dirty="0" err="1">
                <a:latin typeface="Courier New" panose="02070309020205020404" pitchFamily="49" charset="0"/>
                <a:cs typeface="Courier New" panose="02070309020205020404" pitchFamily="49" charset="0"/>
              </a:rPr>
              <a:t>getKind</a:t>
            </a:r>
            <a:r>
              <a:rPr lang="en-US" altLang="zh-TW" sz="2400" dirty="0">
                <a:latin typeface="Courier New" panose="02070309020205020404" pitchFamily="49" charset="0"/>
                <a:cs typeface="Courier New" panose="02070309020205020404" pitchFamily="49" charset="0"/>
              </a:rPr>
              <a:t>() &lt;&lt; " woos\n";</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zh-TW" altLang="en-US" sz="2400" dirty="0">
                <a:latin typeface="Courier New" panose="02070309020205020404" pitchFamily="49" charset="0"/>
                <a:cs typeface="Courier New" panose="02070309020205020404" pitchFamily="49" charset="0"/>
              </a:rPr>
              <a:t>    </a:t>
            </a:r>
            <a:r>
              <a:rPr lang="en-US" altLang="zh-TW" sz="2400" dirty="0">
                <a:latin typeface="Courier New" panose="02070309020205020404" pitchFamily="49" charset="0"/>
                <a:cs typeface="Courier New" panose="02070309020205020404" pitchFamily="49" charset="0"/>
              </a:rPr>
              <a:t>return;</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r>
              <a:rPr lang="en-US" altLang="zh-TW" sz="2400" dirty="0">
                <a:latin typeface="Courier New" panose="02070309020205020404" pitchFamily="49" charset="0"/>
                <a:cs typeface="Courier New" panose="02070309020205020404" pitchFamily="49" charset="0"/>
              </a:rPr>
              <a:t>}</a:t>
            </a:r>
            <a:endParaRPr lang="zh-TW" altLang="en-US" sz="2400" dirty="0">
              <a:latin typeface="Courier New" panose="02070309020205020404" pitchFamily="49" charset="0"/>
              <a:cs typeface="Courier New" panose="02070309020205020404" pitchFamily="49" charset="0"/>
            </a:endParaRPr>
          </a:p>
          <a:p>
            <a:pPr marL="109728" indent="0">
              <a:spcBef>
                <a:spcPts val="200"/>
              </a:spcBef>
              <a:buNone/>
            </a:pPr>
            <a:endParaRPr lang="zh-TW" altLang="en-US" sz="2400"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72</a:t>
            </a:fld>
            <a:endParaRPr lang="en-US" altLang="zh-TW"/>
          </a:p>
        </p:txBody>
      </p:sp>
    </p:spTree>
    <p:extLst>
      <p:ext uri="{BB962C8B-B14F-4D97-AF65-F5344CB8AC3E}">
        <p14:creationId xmlns:p14="http://schemas.microsoft.com/office/powerpoint/2010/main" val="36378546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An Example – Animals  7/7</a:t>
            </a:r>
            <a:endParaRPr lang="zh-TW" altLang="en-US" dirty="0"/>
          </a:p>
        </p:txBody>
      </p:sp>
      <p:sp>
        <p:nvSpPr>
          <p:cNvPr id="2" name="內容版面配置區 1"/>
          <p:cNvSpPr>
            <a:spLocks noGrp="1"/>
          </p:cNvSpPr>
          <p:nvPr>
            <p:ph idx="1"/>
          </p:nvPr>
        </p:nvSpPr>
        <p:spPr>
          <a:xfrm>
            <a:off x="664635" y="1600201"/>
            <a:ext cx="10075084" cy="4525968"/>
          </a:xfrm>
        </p:spPr>
        <p:txBody>
          <a:bodyPr>
            <a:normAutofit fontScale="85000" lnSpcReduction="20000"/>
          </a:bodyPr>
          <a:lstStyle/>
          <a:p>
            <a:pPr marL="108000" indent="0">
              <a:spcBef>
                <a:spcPts val="200"/>
              </a:spcBef>
              <a:buNone/>
            </a:pPr>
            <a:r>
              <a:rPr lang="en-US" altLang="zh-TW" dirty="0">
                <a:latin typeface="Courier New" panose="02070309020205020404" pitchFamily="49" charset="0"/>
                <a:cs typeface="Courier New" panose="02070309020205020404" pitchFamily="49" charset="0"/>
              </a:rPr>
              <a:t>#include &lt;</a:t>
            </a:r>
            <a:r>
              <a:rPr lang="en-US" altLang="zh-TW" dirty="0" err="1">
                <a:latin typeface="Courier New" panose="02070309020205020404" pitchFamily="49" charset="0"/>
                <a:cs typeface="Courier New" panose="02070309020205020404" pitchFamily="49" charset="0"/>
              </a:rPr>
              <a:t>iostream</a:t>
            </a:r>
            <a:r>
              <a:rPr lang="en-US" altLang="zh-TW" dirty="0">
                <a:latin typeface="Courier New" panose="02070309020205020404" pitchFamily="49" charset="0"/>
                <a:cs typeface="Courier New" panose="02070309020205020404" pitchFamily="49" charset="0"/>
              </a:rPr>
              <a:t>&gt;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#include "</a:t>
            </a:r>
            <a:r>
              <a:rPr lang="en-US" altLang="zh-TW" dirty="0" err="1">
                <a:latin typeface="Courier New" panose="02070309020205020404" pitchFamily="49" charset="0"/>
                <a:cs typeface="Courier New" panose="02070309020205020404" pitchFamily="49" charset="0"/>
              </a:rPr>
              <a:t>Animal.h</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#include "</a:t>
            </a:r>
            <a:r>
              <a:rPr lang="en-US" altLang="zh-TW" dirty="0" err="1">
                <a:latin typeface="Courier New" panose="02070309020205020404" pitchFamily="49" charset="0"/>
                <a:cs typeface="Courier New" panose="02070309020205020404" pitchFamily="49" charset="0"/>
              </a:rPr>
              <a:t>Dog.h</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#include "</a:t>
            </a:r>
            <a:r>
              <a:rPr lang="en-US" altLang="zh-TW" dirty="0" err="1">
                <a:latin typeface="Courier New" panose="02070309020205020404" pitchFamily="49" charset="0"/>
                <a:cs typeface="Courier New" panose="02070309020205020404" pitchFamily="49" charset="0"/>
              </a:rPr>
              <a:t>Wolf.h</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a:spcBef>
                <a:spcPts val="200"/>
              </a:spcBef>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using namespace </a:t>
            </a:r>
            <a:r>
              <a:rPr lang="en-US" altLang="zh-TW" dirty="0" err="1">
                <a:latin typeface="Courier New" panose="02070309020205020404" pitchFamily="49" charset="0"/>
                <a:cs typeface="Courier New" panose="02070309020205020404" pitchFamily="49" charset="0"/>
              </a:rPr>
              <a:t>std</a:t>
            </a: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main(</a:t>
            </a:r>
            <a:r>
              <a:rPr lang="en-US" altLang="zh-TW" dirty="0" err="1">
                <a:latin typeface="Courier New" panose="02070309020205020404" pitchFamily="49" charset="0"/>
                <a:cs typeface="Courier New" panose="02070309020205020404" pitchFamily="49" charset="0"/>
              </a:rPr>
              <a:t>int</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argc</a:t>
            </a:r>
            <a:r>
              <a:rPr lang="en-US" altLang="zh-TW" dirty="0">
                <a:latin typeface="Courier New" panose="02070309020205020404" pitchFamily="49" charset="0"/>
                <a:cs typeface="Courier New" panose="02070309020205020404" pitchFamily="49" charset="0"/>
              </a:rPr>
              <a:t>, char *</a:t>
            </a:r>
            <a:r>
              <a:rPr lang="en-US" altLang="zh-TW" dirty="0" err="1">
                <a:latin typeface="Courier New" panose="02070309020205020404" pitchFamily="49" charset="0"/>
                <a:cs typeface="Courier New" panose="02070309020205020404" pitchFamily="49" charset="0"/>
              </a:rPr>
              <a:t>argv</a:t>
            </a:r>
            <a:r>
              <a:rPr lang="en-US" altLang="zh-TW" dirty="0">
                <a:latin typeface="Courier New" panose="02070309020205020404" pitchFamily="49" charset="0"/>
                <a:cs typeface="Courier New" panose="02070309020205020404" pitchFamily="49" charset="0"/>
              </a:rPr>
              <a:t>[]) {</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Animal a;</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Dog    d;</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Wolf   w;</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a.say</a:t>
            </a:r>
            <a:r>
              <a:rPr lang="en-US" altLang="zh-TW" dirty="0">
                <a:latin typeface="Courier New" panose="02070309020205020404" pitchFamily="49" charset="0"/>
                <a:cs typeface="Courier New" panose="02070309020205020404" pitchFamily="49" charset="0"/>
              </a:rPr>
              <a:t>();      // resolves to Animal::say(), error </a:t>
            </a:r>
            <a:r>
              <a:rPr lang="en-US" altLang="zh-TW" dirty="0" err="1">
                <a:latin typeface="Courier New" panose="02070309020205020404" pitchFamily="49" charset="0"/>
                <a:cs typeface="Courier New" panose="02070309020205020404" pitchFamily="49" charset="0"/>
              </a:rPr>
              <a:t>msg</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d.say</a:t>
            </a:r>
            <a:r>
              <a:rPr lang="en-US" altLang="zh-TW" dirty="0">
                <a:latin typeface="Courier New" panose="02070309020205020404" pitchFamily="49" charset="0"/>
                <a:cs typeface="Courier New" panose="02070309020205020404" pitchFamily="49" charset="0"/>
              </a:rPr>
              <a:t>();      // resolves to Dog::say(), Dog barks</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w.say</a:t>
            </a:r>
            <a:r>
              <a:rPr lang="en-US" altLang="zh-TW" dirty="0">
                <a:latin typeface="Courier New" panose="02070309020205020404" pitchFamily="49" charset="0"/>
                <a:cs typeface="Courier New" panose="02070309020205020404" pitchFamily="49" charset="0"/>
              </a:rPr>
              <a:t>();      // resolves to Wolf::say(), Wolf woos</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return 0;</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r>
              <a:rPr lang="en-US" altLang="zh-TW" dirty="0">
                <a:latin typeface="Courier New" panose="02070309020205020404" pitchFamily="49" charset="0"/>
                <a:cs typeface="Courier New" panose="02070309020205020404" pitchFamily="49" charset="0"/>
              </a:rPr>
              <a:t>}</a:t>
            </a:r>
            <a:endParaRPr lang="zh-TW" altLang="en-US" dirty="0">
              <a:latin typeface="Courier New" panose="02070309020205020404" pitchFamily="49" charset="0"/>
              <a:cs typeface="Courier New" panose="02070309020205020404" pitchFamily="49" charset="0"/>
            </a:endParaRPr>
          </a:p>
          <a:p>
            <a:pPr marL="108000" indent="0">
              <a:spcBef>
                <a:spcPts val="200"/>
              </a:spcBef>
              <a:buNone/>
            </a:pP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73</a:t>
            </a:fld>
            <a:endParaRPr lang="en-US" altLang="zh-TW"/>
          </a:p>
        </p:txBody>
      </p:sp>
    </p:spTree>
    <p:extLst>
      <p:ext uri="{BB962C8B-B14F-4D97-AF65-F5344CB8AC3E}">
        <p14:creationId xmlns:p14="http://schemas.microsoft.com/office/powerpoint/2010/main" val="17351704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8</a:t>
            </a:r>
            <a:br>
              <a:rPr lang="en-US" altLang="zh-TW" sz="3600" dirty="0"/>
            </a:br>
            <a:r>
              <a:rPr lang="en-US" altLang="zh-TW" sz="3600" dirty="0"/>
              <a:t>Standard Libraries</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74</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26659736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EB2A-F312-CEF7-810A-8E75B67281EB}"/>
              </a:ext>
            </a:extLst>
          </p:cNvPr>
          <p:cNvSpPr>
            <a:spLocks noGrp="1"/>
          </p:cNvSpPr>
          <p:nvPr>
            <p:ph type="title"/>
          </p:nvPr>
        </p:nvSpPr>
        <p:spPr/>
        <p:txBody>
          <a:bodyPr/>
          <a:lstStyle/>
          <a:p>
            <a:r>
              <a:rPr lang="en-TW" dirty="0"/>
              <a:t>What is stdlib</a:t>
            </a:r>
          </a:p>
        </p:txBody>
      </p:sp>
      <p:sp>
        <p:nvSpPr>
          <p:cNvPr id="3" name="Content Placeholder 2">
            <a:extLst>
              <a:ext uri="{FF2B5EF4-FFF2-40B4-BE49-F238E27FC236}">
                <a16:creationId xmlns:a16="http://schemas.microsoft.com/office/drawing/2014/main" id="{16580C50-0F57-1FAF-115F-870366F2DA60}"/>
              </a:ext>
            </a:extLst>
          </p:cNvPr>
          <p:cNvSpPr>
            <a:spLocks noGrp="1"/>
          </p:cNvSpPr>
          <p:nvPr>
            <p:ph idx="1"/>
          </p:nvPr>
        </p:nvSpPr>
        <p:spPr/>
        <p:txBody>
          <a:bodyPr/>
          <a:lstStyle/>
          <a:p>
            <a:r>
              <a:rPr lang="en-TW" dirty="0"/>
              <a:t>A collection of libraries for I/O, string process, and data structures; examples are:</a:t>
            </a:r>
          </a:p>
          <a:p>
            <a:pPr lvl="1"/>
            <a:r>
              <a:rPr lang="en-US" dirty="0"/>
              <a:t>i</a:t>
            </a:r>
            <a:r>
              <a:rPr lang="en-TW" dirty="0"/>
              <a:t>ostream</a:t>
            </a:r>
          </a:p>
          <a:p>
            <a:pPr lvl="1"/>
            <a:r>
              <a:rPr lang="en-US" dirty="0" err="1"/>
              <a:t>fstream</a:t>
            </a:r>
            <a:endParaRPr lang="en-US" dirty="0"/>
          </a:p>
          <a:p>
            <a:pPr lvl="1"/>
            <a:r>
              <a:rPr lang="en-US" dirty="0"/>
              <a:t>s</a:t>
            </a:r>
            <a:r>
              <a:rPr lang="en-TW" dirty="0"/>
              <a:t>tring</a:t>
            </a:r>
          </a:p>
          <a:p>
            <a:pPr lvl="1"/>
            <a:r>
              <a:rPr lang="en-US" dirty="0"/>
              <a:t>a</a:t>
            </a:r>
            <a:r>
              <a:rPr lang="en-TW" dirty="0"/>
              <a:t>ssert.h</a:t>
            </a:r>
          </a:p>
          <a:p>
            <a:pPr lvl="1"/>
            <a:r>
              <a:rPr lang="en-US" dirty="0"/>
              <a:t>m</a:t>
            </a:r>
            <a:r>
              <a:rPr lang="en-TW" dirty="0"/>
              <a:t>ap</a:t>
            </a:r>
          </a:p>
          <a:p>
            <a:pPr lvl="1"/>
            <a:r>
              <a:rPr lang="en-US" dirty="0"/>
              <a:t>l</a:t>
            </a:r>
            <a:r>
              <a:rPr lang="en-TW" dirty="0"/>
              <a:t>ist</a:t>
            </a:r>
          </a:p>
          <a:p>
            <a:pPr lvl="1"/>
            <a:r>
              <a:rPr lang="en-US" dirty="0"/>
              <a:t>a</a:t>
            </a:r>
            <a:r>
              <a:rPr lang="en-TW" dirty="0"/>
              <a:t>rray</a:t>
            </a:r>
          </a:p>
          <a:p>
            <a:pPr lvl="1"/>
            <a:r>
              <a:rPr lang="en-TW" dirty="0"/>
              <a:t>vector</a:t>
            </a:r>
          </a:p>
          <a:p>
            <a:pPr lvl="1"/>
            <a:endParaRPr lang="en-TW" dirty="0"/>
          </a:p>
          <a:p>
            <a:pPr lvl="1"/>
            <a:endParaRPr lang="en-TW" dirty="0"/>
          </a:p>
        </p:txBody>
      </p:sp>
      <p:sp>
        <p:nvSpPr>
          <p:cNvPr id="4" name="Slide Number Placeholder 3">
            <a:extLst>
              <a:ext uri="{FF2B5EF4-FFF2-40B4-BE49-F238E27FC236}">
                <a16:creationId xmlns:a16="http://schemas.microsoft.com/office/drawing/2014/main" id="{51907336-3AA5-0FE9-CDE6-63725BE401E4}"/>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75</a:t>
            </a:fld>
            <a:endParaRPr lang="en-US" altLang="zh-TW" dirty="0"/>
          </a:p>
        </p:txBody>
      </p:sp>
    </p:spTree>
    <p:extLst>
      <p:ext uri="{BB962C8B-B14F-4D97-AF65-F5344CB8AC3E}">
        <p14:creationId xmlns:p14="http://schemas.microsoft.com/office/powerpoint/2010/main" val="20066162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299BB-3950-19D2-882E-B78947133BD2}"/>
              </a:ext>
            </a:extLst>
          </p:cNvPr>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s</a:t>
            </a:r>
            <a:r>
              <a:rPr lang="en-TW" b="1" dirty="0">
                <a:latin typeface="Courier New" panose="02070309020205020404" pitchFamily="49" charset="0"/>
                <a:cs typeface="Courier New" panose="02070309020205020404" pitchFamily="49" charset="0"/>
              </a:rPr>
              <a:t>td::vector</a:t>
            </a:r>
          </a:p>
        </p:txBody>
      </p:sp>
      <p:sp>
        <p:nvSpPr>
          <p:cNvPr id="3" name="Text Placeholder 2">
            <a:extLst>
              <a:ext uri="{FF2B5EF4-FFF2-40B4-BE49-F238E27FC236}">
                <a16:creationId xmlns:a16="http://schemas.microsoft.com/office/drawing/2014/main" id="{49B703A8-F5BF-833A-927D-841AC968EE31}"/>
              </a:ext>
            </a:extLst>
          </p:cNvPr>
          <p:cNvSpPr>
            <a:spLocks noGrp="1"/>
          </p:cNvSpPr>
          <p:nvPr>
            <p:ph type="body" idx="1"/>
          </p:nvPr>
        </p:nvSpPr>
        <p:spPr/>
        <p:txBody>
          <a:bodyPr/>
          <a:lstStyle/>
          <a:p>
            <a:endParaRPr lang="en-TW"/>
          </a:p>
        </p:txBody>
      </p:sp>
      <p:sp>
        <p:nvSpPr>
          <p:cNvPr id="4" name="Slide Number Placeholder 3">
            <a:extLst>
              <a:ext uri="{FF2B5EF4-FFF2-40B4-BE49-F238E27FC236}">
                <a16:creationId xmlns:a16="http://schemas.microsoft.com/office/drawing/2014/main" id="{29057F80-68EC-DEDE-9680-CCE50F013D9F}"/>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76</a:t>
            </a:fld>
            <a:endParaRPr lang="en-US" altLang="zh-TW" dirty="0"/>
          </a:p>
        </p:txBody>
      </p:sp>
    </p:spTree>
    <p:extLst>
      <p:ext uri="{BB962C8B-B14F-4D97-AF65-F5344CB8AC3E}">
        <p14:creationId xmlns:p14="http://schemas.microsoft.com/office/powerpoint/2010/main" val="3702124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s</a:t>
            </a:r>
            <a:r>
              <a:rPr lang="en-TW" b="1" dirty="0">
                <a:latin typeface="Courier New" panose="02070309020205020404" pitchFamily="49" charset="0"/>
                <a:cs typeface="Courier New" panose="02070309020205020404" pitchFamily="49" charset="0"/>
              </a:rPr>
              <a:t>td::vector</a:t>
            </a:r>
          </a:p>
        </p:txBody>
      </p:sp>
      <p:sp>
        <p:nvSpPr>
          <p:cNvPr id="3" name="Content Placeholder 2">
            <a:extLst>
              <a:ext uri="{FF2B5EF4-FFF2-40B4-BE49-F238E27FC236}">
                <a16:creationId xmlns:a16="http://schemas.microsoft.com/office/drawing/2014/main" id="{7AE912E8-5666-199D-E21D-55C921006E4D}"/>
              </a:ext>
            </a:extLst>
          </p:cNvPr>
          <p:cNvSpPr>
            <a:spLocks noGrp="1"/>
          </p:cNvSpPr>
          <p:nvPr>
            <p:ph idx="1"/>
          </p:nvPr>
        </p:nvSpPr>
        <p:spPr/>
        <p:txBody>
          <a:bodyPr>
            <a:normAutofit/>
          </a:bodyPr>
          <a:lstStyle/>
          <a:p>
            <a:r>
              <a:rPr lang="en-US" dirty="0">
                <a:solidFill>
                  <a:srgbClr val="0C0D0E"/>
                </a:solidFill>
                <a:highlight>
                  <a:srgbClr val="FFFFFF"/>
                </a:highlight>
                <a:latin typeface="Courier New" panose="02070309020205020404" pitchFamily="49" charset="0"/>
                <a:cs typeface="Courier New" panose="02070309020205020404" pitchFamily="49" charset="0"/>
              </a:rPr>
              <a:t>s</a:t>
            </a:r>
            <a:r>
              <a:rPr lang="en-US" b="0" i="0" dirty="0">
                <a:solidFill>
                  <a:srgbClr val="0C0D0E"/>
                </a:solidFill>
                <a:effectLst/>
                <a:highlight>
                  <a:srgbClr val="FFFFFF"/>
                </a:highlight>
                <a:latin typeface="Courier New" panose="02070309020205020404" pitchFamily="49" charset="0"/>
                <a:cs typeface="Courier New" panose="02070309020205020404" pitchFamily="49" charset="0"/>
              </a:rPr>
              <a:t>td::vector</a:t>
            </a:r>
            <a:r>
              <a:rPr lang="en-US" b="0" i="0" dirty="0">
                <a:solidFill>
                  <a:srgbClr val="0C0D0E"/>
                </a:solidFill>
                <a:effectLst/>
                <a:highlight>
                  <a:srgbClr val="FFFFFF"/>
                </a:highlight>
                <a:latin typeface="-apple-system"/>
              </a:rPr>
              <a:t> is a template class that encapsulates a dynamic array, stored in the heap that grows and shrinks automatically if elements are added or removed</a:t>
            </a:r>
            <a:endParaRPr lang="en-US" dirty="0">
              <a:solidFill>
                <a:srgbClr val="0C0D0E"/>
              </a:solidFill>
              <a:highlight>
                <a:srgbClr val="FFFFFF"/>
              </a:highlight>
              <a:latin typeface="-apple-system"/>
            </a:endParaRPr>
          </a:p>
          <a:p>
            <a:pPr lvl="1"/>
            <a:endParaRPr lang="en-TW" dirty="0"/>
          </a:p>
        </p:txBody>
      </p:sp>
      <p:sp>
        <p:nvSpPr>
          <p:cNvPr id="6" name="TextBox 5">
            <a:extLst>
              <a:ext uri="{FF2B5EF4-FFF2-40B4-BE49-F238E27FC236}">
                <a16:creationId xmlns:a16="http://schemas.microsoft.com/office/drawing/2014/main" id="{E8CE43EF-B586-8B8E-32C1-CD039D8E7DA7}"/>
              </a:ext>
            </a:extLst>
          </p:cNvPr>
          <p:cNvSpPr txBox="1"/>
          <p:nvPr/>
        </p:nvSpPr>
        <p:spPr>
          <a:xfrm>
            <a:off x="664635" y="3121607"/>
            <a:ext cx="8764857" cy="2308324"/>
          </a:xfrm>
          <a:prstGeom prst="rect">
            <a:avLst/>
          </a:prstGeom>
          <a:noFill/>
        </p:spPr>
        <p:txBody>
          <a:bodyPr wrap="square">
            <a:spAutoFit/>
          </a:bodyPr>
          <a:lstStyle>
            <a:defPPr>
              <a:defRPr lang="en-US"/>
            </a:defPPr>
            <a:lvl1pPr>
              <a:defRPr sz="1600">
                <a:latin typeface="Courier New" panose="02070309020205020404" pitchFamily="49" charset="0"/>
                <a:cs typeface="Courier New" panose="02070309020205020404" pitchFamily="49" charset="0"/>
              </a:defRPr>
            </a:lvl1pPr>
          </a:lstStyle>
          <a:p>
            <a:r>
              <a:rPr lang="en-US" dirty="0">
                <a:solidFill>
                  <a:srgbClr val="0070C0"/>
                </a:solidFill>
              </a:rPr>
              <a:t>t</a:t>
            </a:r>
            <a:r>
              <a:rPr lang="en-TW" dirty="0">
                <a:solidFill>
                  <a:srgbClr val="0070C0"/>
                </a:solidFill>
              </a:rPr>
              <a:t>emplate</a:t>
            </a:r>
            <a:r>
              <a:rPr lang="en-TW" dirty="0"/>
              <a:t>&lt;</a:t>
            </a:r>
          </a:p>
          <a:p>
            <a:r>
              <a:rPr lang="en-TW" dirty="0"/>
              <a:t>    </a:t>
            </a:r>
            <a:r>
              <a:rPr lang="en-TW" dirty="0">
                <a:solidFill>
                  <a:srgbClr val="0070C0"/>
                </a:solidFill>
              </a:rPr>
              <a:t>class</a:t>
            </a:r>
            <a:r>
              <a:rPr lang="en-TW" dirty="0"/>
              <a:t> T,</a:t>
            </a:r>
          </a:p>
          <a:p>
            <a:r>
              <a:rPr lang="en-TW" dirty="0"/>
              <a:t>    </a:t>
            </a:r>
            <a:r>
              <a:rPr lang="en-TW" dirty="0">
                <a:solidFill>
                  <a:srgbClr val="0070C0"/>
                </a:solidFill>
              </a:rPr>
              <a:t>class</a:t>
            </a:r>
            <a:r>
              <a:rPr lang="en-TW" dirty="0"/>
              <a:t> Allocator = std::allocator&lt;T&gt;</a:t>
            </a:r>
          </a:p>
          <a:p>
            <a:r>
              <a:rPr lang="en-US" dirty="0"/>
              <a:t>&gt; </a:t>
            </a:r>
            <a:r>
              <a:rPr lang="en-US" dirty="0">
                <a:solidFill>
                  <a:srgbClr val="0070C0"/>
                </a:solidFill>
              </a:rPr>
              <a:t>c</a:t>
            </a:r>
            <a:r>
              <a:rPr lang="en-TW" dirty="0">
                <a:solidFill>
                  <a:srgbClr val="0070C0"/>
                </a:solidFill>
              </a:rPr>
              <a:t>lass</a:t>
            </a:r>
            <a:r>
              <a:rPr lang="en-TW" dirty="0"/>
              <a:t> vector;</a:t>
            </a:r>
          </a:p>
          <a:p>
            <a:endParaRPr lang="en-TW" dirty="0"/>
          </a:p>
          <a:p>
            <a:r>
              <a:rPr lang="en-US" dirty="0">
                <a:solidFill>
                  <a:srgbClr val="0070C0"/>
                </a:solidFill>
              </a:rPr>
              <a:t>n</a:t>
            </a:r>
            <a:r>
              <a:rPr lang="en-TW" dirty="0">
                <a:solidFill>
                  <a:srgbClr val="0070C0"/>
                </a:solidFill>
              </a:rPr>
              <a:t>amespace</a:t>
            </a:r>
            <a:r>
              <a:rPr lang="en-TW" dirty="0"/>
              <a:t> pmr {</a:t>
            </a:r>
          </a:p>
          <a:p>
            <a:r>
              <a:rPr lang="en-TW" dirty="0"/>
              <a:t>    </a:t>
            </a:r>
            <a:r>
              <a:rPr lang="en-TW" dirty="0">
                <a:solidFill>
                  <a:srgbClr val="0070C0"/>
                </a:solidFill>
              </a:rPr>
              <a:t>template</a:t>
            </a:r>
            <a:r>
              <a:rPr lang="en-TW" dirty="0"/>
              <a:t>&lt; </a:t>
            </a:r>
            <a:r>
              <a:rPr lang="en-TW" dirty="0">
                <a:solidFill>
                  <a:srgbClr val="0070C0"/>
                </a:solidFill>
              </a:rPr>
              <a:t>class</a:t>
            </a:r>
            <a:r>
              <a:rPr lang="en-TW" dirty="0"/>
              <a:t> T &gt;</a:t>
            </a:r>
          </a:p>
          <a:p>
            <a:r>
              <a:rPr lang="en-TW" dirty="0"/>
              <a:t>    </a:t>
            </a:r>
            <a:r>
              <a:rPr lang="en-TW" dirty="0">
                <a:solidFill>
                  <a:srgbClr val="0070C0"/>
                </a:solidFill>
              </a:rPr>
              <a:t>using</a:t>
            </a:r>
            <a:r>
              <a:rPr lang="en-TW" dirty="0"/>
              <a:t> vector = std::vector&lt;T, std::pmr::polymorphic_allocator&lt;T&gt;&gt;;</a:t>
            </a:r>
          </a:p>
          <a:p>
            <a:r>
              <a:rPr lang="en-TW" dirty="0"/>
              <a:t>}</a:t>
            </a:r>
          </a:p>
        </p:txBody>
      </p:sp>
      <p:sp>
        <p:nvSpPr>
          <p:cNvPr id="4" name="Slide Number Placeholder 3">
            <a:extLst>
              <a:ext uri="{FF2B5EF4-FFF2-40B4-BE49-F238E27FC236}">
                <a16:creationId xmlns:a16="http://schemas.microsoft.com/office/drawing/2014/main" id="{D9B21A57-8AD6-3E58-B3EB-6836F546724B}"/>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77</a:t>
            </a:fld>
            <a:endParaRPr lang="en-US" altLang="zh-TW" dirty="0"/>
          </a:p>
        </p:txBody>
      </p:sp>
    </p:spTree>
    <p:extLst>
      <p:ext uri="{BB962C8B-B14F-4D97-AF65-F5344CB8AC3E}">
        <p14:creationId xmlns:p14="http://schemas.microsoft.com/office/powerpoint/2010/main" val="27554257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s</a:t>
            </a:r>
            <a:r>
              <a:rPr lang="en-TW" dirty="0">
                <a:latin typeface="Courier New" panose="02070309020205020404" pitchFamily="49" charset="0"/>
                <a:cs typeface="Courier New" panose="02070309020205020404" pitchFamily="49" charset="0"/>
              </a:rPr>
              <a:t>td::vector </a:t>
            </a:r>
            <a:r>
              <a:rPr lang="en-TW" dirty="0"/>
              <a:t>Constructors</a:t>
            </a:r>
          </a:p>
        </p:txBody>
      </p:sp>
      <p:sp>
        <p:nvSpPr>
          <p:cNvPr id="3" name="Content Placeholder 2">
            <a:extLst>
              <a:ext uri="{FF2B5EF4-FFF2-40B4-BE49-F238E27FC236}">
                <a16:creationId xmlns:a16="http://schemas.microsoft.com/office/drawing/2014/main" id="{7AE912E8-5666-199D-E21D-55C921006E4D}"/>
              </a:ext>
            </a:extLst>
          </p:cNvPr>
          <p:cNvSpPr>
            <a:spLocks noGrp="1"/>
          </p:cNvSpPr>
          <p:nvPr>
            <p:ph idx="1"/>
          </p:nvPr>
        </p:nvSpPr>
        <p:spPr/>
        <p:txBody>
          <a:bodyPr>
            <a:normAutofit/>
          </a:bodyPr>
          <a:lstStyle/>
          <a:p>
            <a:pPr marL="0" indent="0">
              <a:buNone/>
            </a:pPr>
            <a:r>
              <a:rPr lang="en-US" dirty="0">
                <a:solidFill>
                  <a:srgbClr val="0C0D0E"/>
                </a:solidFill>
                <a:highlight>
                  <a:srgbClr val="FFFFFF"/>
                </a:highlight>
                <a:latin typeface="Courier New" panose="02070309020205020404" pitchFamily="49" charset="0"/>
                <a:cs typeface="Courier New" panose="02070309020205020404" pitchFamily="49" charset="0"/>
              </a:rPr>
              <a:t>s</a:t>
            </a:r>
            <a:r>
              <a:rPr lang="en-US" b="0" i="0" dirty="0">
                <a:solidFill>
                  <a:srgbClr val="0C0D0E"/>
                </a:solidFill>
                <a:effectLst/>
                <a:highlight>
                  <a:srgbClr val="FFFFFF"/>
                </a:highlight>
                <a:latin typeface="Courier New" panose="02070309020205020404" pitchFamily="49" charset="0"/>
                <a:cs typeface="Courier New" panose="02070309020205020404" pitchFamily="49" charset="0"/>
              </a:rPr>
              <a:t>td::vector&lt;T, Allocator&gt;::vector</a:t>
            </a:r>
          </a:p>
          <a:p>
            <a:r>
              <a:rPr lang="en-US" dirty="0">
                <a:solidFill>
                  <a:srgbClr val="0C0D0E"/>
                </a:solidFill>
                <a:highlight>
                  <a:srgbClr val="FFFFFF"/>
                </a:highlight>
                <a:latin typeface="-apple-system"/>
              </a:rPr>
              <a:t>Constructors:</a:t>
            </a:r>
          </a:p>
        </p:txBody>
      </p:sp>
      <p:sp>
        <p:nvSpPr>
          <p:cNvPr id="6" name="TextBox 5">
            <a:extLst>
              <a:ext uri="{FF2B5EF4-FFF2-40B4-BE49-F238E27FC236}">
                <a16:creationId xmlns:a16="http://schemas.microsoft.com/office/drawing/2014/main" id="{E8CE43EF-B586-8B8E-32C1-CD039D8E7DA7}"/>
              </a:ext>
            </a:extLst>
          </p:cNvPr>
          <p:cNvSpPr txBox="1"/>
          <p:nvPr/>
        </p:nvSpPr>
        <p:spPr>
          <a:xfrm>
            <a:off x="1628651" y="3022634"/>
            <a:ext cx="8147052" cy="2062103"/>
          </a:xfrm>
          <a:prstGeom prst="rect">
            <a:avLst/>
          </a:prstGeom>
          <a:noFill/>
        </p:spPr>
        <p:txBody>
          <a:bodyPr wrap="square">
            <a:spAutoFit/>
          </a:bodyPr>
          <a:lstStyle>
            <a:defPPr>
              <a:defRPr lang="en-US"/>
            </a:defPPr>
            <a:lvl1pPr>
              <a:defRPr sz="1600">
                <a:latin typeface="Courier New" panose="02070309020205020404" pitchFamily="49" charset="0"/>
                <a:cs typeface="Courier New" panose="02070309020205020404" pitchFamily="49" charset="0"/>
              </a:defRPr>
            </a:lvl1pPr>
          </a:lstStyle>
          <a:p>
            <a:r>
              <a:rPr lang="en-TW" dirty="0"/>
              <a:t>std::vector&lt;T&gt; vec;					   // Default constructor</a:t>
            </a:r>
          </a:p>
          <a:p>
            <a:r>
              <a:rPr lang="en-TW" dirty="0"/>
              <a:t>std::vector&lt;T&gt; vec(size_t count);</a:t>
            </a:r>
          </a:p>
          <a:p>
            <a:r>
              <a:rPr lang="en-TW" dirty="0"/>
              <a:t>				// Initializes with 'count' elements</a:t>
            </a:r>
          </a:p>
          <a:p>
            <a:r>
              <a:rPr lang="en-TW" dirty="0"/>
              <a:t>std::vector&lt;T&gt; vec(size_t count, const T&amp; value);</a:t>
            </a:r>
          </a:p>
          <a:p>
            <a:r>
              <a:rPr lang="en-TW" dirty="0"/>
              <a:t>				// Initializes with 'count' copies of 'value'</a:t>
            </a:r>
          </a:p>
          <a:p>
            <a:r>
              <a:rPr lang="en-TW" dirty="0"/>
              <a:t>std::vector&lt;T&gt; vec(const std::vector&lt;T&gt;&amp; other);</a:t>
            </a:r>
          </a:p>
          <a:p>
            <a:r>
              <a:rPr lang="en-TW" dirty="0"/>
              <a:t>				// Copy constructor</a:t>
            </a:r>
          </a:p>
          <a:p>
            <a:r>
              <a:rPr lang="en-TW" dirty="0"/>
              <a:t>std::vector&lt;T&gt; vec(std::vector&lt;T&gt;&amp;&amp; other); // Move constructor</a:t>
            </a:r>
          </a:p>
        </p:txBody>
      </p:sp>
      <p:sp>
        <p:nvSpPr>
          <p:cNvPr id="4" name="Slide Number Placeholder 3">
            <a:extLst>
              <a:ext uri="{FF2B5EF4-FFF2-40B4-BE49-F238E27FC236}">
                <a16:creationId xmlns:a16="http://schemas.microsoft.com/office/drawing/2014/main" id="{06E20B07-7B40-2547-D962-2D7082018031}"/>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78</a:t>
            </a:fld>
            <a:endParaRPr lang="en-US" altLang="zh-TW" dirty="0"/>
          </a:p>
        </p:txBody>
      </p:sp>
    </p:spTree>
    <p:extLst>
      <p:ext uri="{BB962C8B-B14F-4D97-AF65-F5344CB8AC3E}">
        <p14:creationId xmlns:p14="http://schemas.microsoft.com/office/powerpoint/2010/main" val="2667251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v</a:t>
            </a:r>
            <a:r>
              <a:rPr lang="en-TW" dirty="0">
                <a:latin typeface="Courier New" panose="02070309020205020404" pitchFamily="49" charset="0"/>
                <a:cs typeface="Courier New" panose="02070309020205020404" pitchFamily="49" charset="0"/>
              </a:rPr>
              <a:t>ector</a:t>
            </a:r>
            <a:r>
              <a:rPr lang="zh-TW" altLang="en-US" dirty="0">
                <a:latin typeface="Courier New" panose="02070309020205020404" pitchFamily="49" charset="0"/>
                <a:cs typeface="Courier New" panose="02070309020205020404" pitchFamily="49" charset="0"/>
              </a:rPr>
              <a:t> </a:t>
            </a:r>
            <a:r>
              <a:rPr lang="en-US" altLang="zh-TW" dirty="0"/>
              <a:t>Example Code</a:t>
            </a:r>
            <a:endParaRPr lang="en-TW" dirty="0"/>
          </a:p>
        </p:txBody>
      </p:sp>
      <p:sp>
        <p:nvSpPr>
          <p:cNvPr id="5" name="TextBox 4">
            <a:extLst>
              <a:ext uri="{FF2B5EF4-FFF2-40B4-BE49-F238E27FC236}">
                <a16:creationId xmlns:a16="http://schemas.microsoft.com/office/drawing/2014/main" id="{3B64C1B8-2C14-68F5-4789-6A9E2416182A}"/>
              </a:ext>
            </a:extLst>
          </p:cNvPr>
          <p:cNvSpPr txBox="1"/>
          <p:nvPr/>
        </p:nvSpPr>
        <p:spPr>
          <a:xfrm>
            <a:off x="664635" y="1600200"/>
            <a:ext cx="10075084" cy="4524315"/>
          </a:xfrm>
          <a:prstGeom prst="rect">
            <a:avLst/>
          </a:prstGeom>
          <a:noFill/>
        </p:spPr>
        <p:txBody>
          <a:bodyPr wrap="square">
            <a:spAutoFit/>
          </a:bodyPr>
          <a:lstStyle/>
          <a:p>
            <a:r>
              <a:rPr lang="en-TW" sz="1600" dirty="0">
                <a:latin typeface="Courier New" panose="02070309020205020404" pitchFamily="49" charset="0"/>
                <a:cs typeface="Courier New" panose="02070309020205020404" pitchFamily="49" charset="0"/>
              </a:rPr>
              <a:t>#include &lt;iostream&gt;</a:t>
            </a:r>
          </a:p>
          <a:p>
            <a:r>
              <a:rPr lang="en-TW" sz="1600" dirty="0">
                <a:latin typeface="Courier New" panose="02070309020205020404" pitchFamily="49" charset="0"/>
                <a:cs typeface="Courier New" panose="02070309020205020404" pitchFamily="49" charset="0"/>
              </a:rPr>
              <a:t>#include &lt;vector&gt;</a:t>
            </a:r>
          </a:p>
          <a:p>
            <a:endParaRPr lang="en-TW" sz="1600" dirty="0">
              <a:latin typeface="Courier New" panose="02070309020205020404" pitchFamily="49" charset="0"/>
              <a:cs typeface="Courier New" panose="02070309020205020404" pitchFamily="49" charset="0"/>
            </a:endParaRPr>
          </a:p>
          <a:p>
            <a:r>
              <a:rPr lang="en-TW" sz="1600" dirty="0">
                <a:latin typeface="Courier New" panose="02070309020205020404" pitchFamily="49" charset="0"/>
                <a:cs typeface="Courier New" panose="02070309020205020404" pitchFamily="49" charset="0"/>
              </a:rPr>
              <a:t>int main() {</a:t>
            </a:r>
          </a:p>
          <a:p>
            <a:r>
              <a:rPr lang="en-TW" sz="1600" dirty="0">
                <a:latin typeface="Courier New" panose="02070309020205020404" pitchFamily="49" charset="0"/>
                <a:cs typeface="Courier New" panose="02070309020205020404" pitchFamily="49" charset="0"/>
              </a:rPr>
              <a:t>    // Create a vector of integers</a:t>
            </a:r>
          </a:p>
          <a:p>
            <a:r>
              <a:rPr lang="en-TW" sz="1600" dirty="0">
                <a:latin typeface="Courier New" panose="02070309020205020404" pitchFamily="49" charset="0"/>
                <a:cs typeface="Courier New" panose="02070309020205020404" pitchFamily="49" charset="0"/>
              </a:rPr>
              <a:t>    std::vector&lt;int&gt; numbers = {1, 2, 3, 4, 5};</a:t>
            </a:r>
          </a:p>
          <a:p>
            <a:endParaRPr lang="en-TW" sz="1600" dirty="0">
              <a:latin typeface="Courier New" panose="02070309020205020404" pitchFamily="49" charset="0"/>
              <a:cs typeface="Courier New" panose="02070309020205020404" pitchFamily="49" charset="0"/>
            </a:endParaRPr>
          </a:p>
          <a:p>
            <a:r>
              <a:rPr lang="en-TW" sz="1600" dirty="0">
                <a:latin typeface="Courier New" panose="02070309020205020404" pitchFamily="49" charset="0"/>
                <a:cs typeface="Courier New" panose="02070309020205020404" pitchFamily="49" charset="0"/>
              </a:rPr>
              <a:t>    // Add more elements to the vector</a:t>
            </a:r>
          </a:p>
          <a:p>
            <a:r>
              <a:rPr lang="en-TW" sz="1600" dirty="0">
                <a:latin typeface="Courier New" panose="02070309020205020404" pitchFamily="49" charset="0"/>
                <a:cs typeface="Courier New" panose="02070309020205020404" pitchFamily="49" charset="0"/>
              </a:rPr>
              <a:t>    numbers.push_back(6);</a:t>
            </a:r>
          </a:p>
          <a:p>
            <a:r>
              <a:rPr lang="en-TW" sz="1600" dirty="0">
                <a:latin typeface="Courier New" panose="02070309020205020404" pitchFamily="49" charset="0"/>
                <a:cs typeface="Courier New" panose="02070309020205020404" pitchFamily="49" charset="0"/>
              </a:rPr>
              <a:t>    numbers.push_back(7);</a:t>
            </a:r>
          </a:p>
          <a:p>
            <a:endParaRPr lang="en-TW" sz="1600" dirty="0">
              <a:latin typeface="Courier New" panose="02070309020205020404" pitchFamily="49" charset="0"/>
              <a:cs typeface="Courier New" panose="02070309020205020404" pitchFamily="49" charset="0"/>
            </a:endParaRPr>
          </a:p>
          <a:p>
            <a:r>
              <a:rPr lang="en-TW" sz="1600" dirty="0">
                <a:latin typeface="Courier New" panose="02070309020205020404" pitchFamily="49" charset="0"/>
                <a:cs typeface="Courier New" panose="02070309020205020404" pitchFamily="49" charset="0"/>
              </a:rPr>
              <a:t>    // Iterate over the vector and print each element</a:t>
            </a:r>
          </a:p>
          <a:p>
            <a:r>
              <a:rPr lang="en-TW" sz="1600" dirty="0">
                <a:latin typeface="Courier New" panose="02070309020205020404" pitchFamily="49" charset="0"/>
                <a:cs typeface="Courier New" panose="02070309020205020404" pitchFamily="49" charset="0"/>
              </a:rPr>
              <a:t>    for (int number : numbers) {</a:t>
            </a:r>
          </a:p>
          <a:p>
            <a:r>
              <a:rPr lang="en-TW" sz="1600" dirty="0">
                <a:latin typeface="Courier New" panose="02070309020205020404" pitchFamily="49" charset="0"/>
                <a:cs typeface="Courier New" panose="02070309020205020404" pitchFamily="49" charset="0"/>
              </a:rPr>
              <a:t>        std::cout &lt;&lt; number &lt;&lt; " ";</a:t>
            </a:r>
          </a:p>
          <a:p>
            <a:r>
              <a:rPr lang="en-TW" sz="1600" dirty="0">
                <a:latin typeface="Courier New" panose="02070309020205020404" pitchFamily="49" charset="0"/>
                <a:cs typeface="Courier New" panose="02070309020205020404" pitchFamily="49" charset="0"/>
              </a:rPr>
              <a:t>    }</a:t>
            </a:r>
          </a:p>
          <a:p>
            <a:endParaRPr lang="en-TW" sz="1600" dirty="0">
              <a:latin typeface="Courier New" panose="02070309020205020404" pitchFamily="49" charset="0"/>
              <a:cs typeface="Courier New" panose="02070309020205020404" pitchFamily="49" charset="0"/>
            </a:endParaRPr>
          </a:p>
          <a:p>
            <a:r>
              <a:rPr lang="en-TW" sz="1600" dirty="0">
                <a:latin typeface="Courier New" panose="02070309020205020404" pitchFamily="49" charset="0"/>
                <a:cs typeface="Courier New" panose="02070309020205020404" pitchFamily="49" charset="0"/>
              </a:rPr>
              <a:t>    return 0;</a:t>
            </a:r>
          </a:p>
          <a:p>
            <a:r>
              <a:rPr lang="en-TW" sz="1600" dirty="0">
                <a:latin typeface="Courier New" panose="02070309020205020404" pitchFamily="49" charset="0"/>
                <a:cs typeface="Courier New" panose="02070309020205020404" pitchFamily="49" charset="0"/>
              </a:rPr>
              <a:t>}</a:t>
            </a:r>
          </a:p>
        </p:txBody>
      </p:sp>
      <p:sp>
        <p:nvSpPr>
          <p:cNvPr id="6" name="Slide Number Placeholder 3">
            <a:extLst>
              <a:ext uri="{FF2B5EF4-FFF2-40B4-BE49-F238E27FC236}">
                <a16:creationId xmlns:a16="http://schemas.microsoft.com/office/drawing/2014/main" id="{62D22563-FB2C-D0A8-2F04-21AAEF37137C}"/>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79</a:t>
            </a:fld>
            <a:endParaRPr lang="en-US" altLang="zh-TW" dirty="0"/>
          </a:p>
        </p:txBody>
      </p:sp>
    </p:spTree>
    <p:extLst>
      <p:ext uri="{BB962C8B-B14F-4D97-AF65-F5344CB8AC3E}">
        <p14:creationId xmlns:p14="http://schemas.microsoft.com/office/powerpoint/2010/main" val="25622056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3429-2B0B-BF70-BD5A-4899B8B9AC19}"/>
              </a:ext>
            </a:extLst>
          </p:cNvPr>
          <p:cNvSpPr>
            <a:spLocks noGrp="1"/>
          </p:cNvSpPr>
          <p:nvPr>
            <p:ph type="title"/>
          </p:nvPr>
        </p:nvSpPr>
        <p:spPr/>
        <p:txBody>
          <a:bodyPr/>
          <a:lstStyle/>
          <a:p>
            <a:r>
              <a:rPr lang="en-TW" dirty="0"/>
              <a:t>Commonly used </a:t>
            </a:r>
            <a:r>
              <a:rPr lang="en-TW" dirty="0">
                <a:latin typeface="Courier New" panose="02070309020205020404" pitchFamily="49" charset="0"/>
                <a:cs typeface="Courier New" panose="02070309020205020404" pitchFamily="49" charset="0"/>
              </a:rPr>
              <a:t>vector</a:t>
            </a:r>
            <a:r>
              <a:rPr lang="en-TW" dirty="0"/>
              <a:t> functions (1)</a:t>
            </a:r>
          </a:p>
        </p:txBody>
      </p:sp>
      <p:sp>
        <p:nvSpPr>
          <p:cNvPr id="3" name="Content Placeholder 2">
            <a:extLst>
              <a:ext uri="{FF2B5EF4-FFF2-40B4-BE49-F238E27FC236}">
                <a16:creationId xmlns:a16="http://schemas.microsoft.com/office/drawing/2014/main" id="{479E7791-2630-A073-E135-49EF88FB1780}"/>
              </a:ext>
            </a:extLst>
          </p:cNvPr>
          <p:cNvSpPr>
            <a:spLocks noGrp="1"/>
          </p:cNvSpPr>
          <p:nvPr>
            <p:ph idx="1"/>
          </p:nvPr>
        </p:nvSpPr>
        <p:spPr/>
        <p:txBody>
          <a:bodyPr>
            <a:normAutofit/>
          </a:bodyPr>
          <a:lstStyle/>
          <a:p>
            <a:r>
              <a:rPr lang="en-US" sz="2400" dirty="0">
                <a:latin typeface="Courier New" panose="02070309020205020404" pitchFamily="49" charset="0"/>
                <a:cs typeface="Courier New" panose="02070309020205020404" pitchFamily="49" charset="0"/>
              </a:rPr>
              <a:t>operator[n]</a:t>
            </a:r>
            <a:r>
              <a:rPr lang="en-TW" sz="2400" dirty="0"/>
              <a:t> - </a:t>
            </a:r>
            <a:r>
              <a:rPr lang="en-US" sz="2400" dirty="0">
                <a:solidFill>
                  <a:srgbClr val="121512"/>
                </a:solidFill>
                <a:highlight>
                  <a:srgbClr val="FFFFFF"/>
                </a:highlight>
                <a:latin typeface="-apple-system"/>
              </a:rPr>
              <a:t>Accesses the </a:t>
            </a:r>
            <a:r>
              <a:rPr lang="en-US" sz="2400" dirty="0" err="1">
                <a:solidFill>
                  <a:srgbClr val="121512"/>
                </a:solidFill>
                <a:highlight>
                  <a:srgbClr val="FFFFFF"/>
                </a:highlight>
                <a:latin typeface="-apple-system"/>
              </a:rPr>
              <a:t>n’th</a:t>
            </a:r>
            <a:r>
              <a:rPr lang="en-US" sz="2400" dirty="0">
                <a:solidFill>
                  <a:srgbClr val="121512"/>
                </a:solidFill>
                <a:highlight>
                  <a:srgbClr val="FFFFFF"/>
                </a:highlight>
                <a:latin typeface="-apple-system"/>
              </a:rPr>
              <a:t> element of the vector</a:t>
            </a:r>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s</a:t>
            </a:r>
            <a:r>
              <a:rPr lang="en-TW" sz="2400" dirty="0">
                <a:latin typeface="Courier New" panose="02070309020205020404" pitchFamily="49" charset="0"/>
                <a:cs typeface="Courier New" panose="02070309020205020404" pitchFamily="49" charset="0"/>
              </a:rPr>
              <a:t>ize()</a:t>
            </a:r>
            <a:r>
              <a:rPr lang="en-TW" sz="2400" dirty="0"/>
              <a:t> - </a:t>
            </a:r>
            <a:r>
              <a:rPr lang="en-US" sz="2400" dirty="0">
                <a:solidFill>
                  <a:srgbClr val="121512"/>
                </a:solidFill>
                <a:highlight>
                  <a:srgbClr val="FFFFFF"/>
                </a:highlight>
                <a:latin typeface="-apple-system"/>
              </a:rPr>
              <a:t>Returns the number of elements in the vector</a:t>
            </a:r>
          </a:p>
          <a:p>
            <a:r>
              <a:rPr lang="en-US" sz="2400" dirty="0" err="1">
                <a:solidFill>
                  <a:srgbClr val="121512"/>
                </a:solidFill>
                <a:highlight>
                  <a:srgbClr val="FFFFFF"/>
                </a:highlight>
                <a:latin typeface="Courier New" panose="02070309020205020404" pitchFamily="49" charset="0"/>
                <a:cs typeface="Courier New" panose="02070309020205020404" pitchFamily="49" charset="0"/>
              </a:rPr>
              <a:t>push_back</a:t>
            </a:r>
            <a:r>
              <a:rPr lang="en-US" sz="2400" dirty="0">
                <a:solidFill>
                  <a:srgbClr val="121512"/>
                </a:solidFill>
                <a:highlight>
                  <a:srgbClr val="FFFFFF"/>
                </a:highlight>
                <a:latin typeface="Courier New" panose="02070309020205020404" pitchFamily="49" charset="0"/>
                <a:cs typeface="Courier New" panose="02070309020205020404" pitchFamily="49" charset="0"/>
              </a:rPr>
              <a:t>(e)</a:t>
            </a:r>
            <a:r>
              <a:rPr lang="en-US" sz="2400" dirty="0">
                <a:solidFill>
                  <a:srgbClr val="121512"/>
                </a:solidFill>
                <a:highlight>
                  <a:srgbClr val="FFFFFF"/>
                </a:highlight>
                <a:latin typeface="-apple-system"/>
              </a:rPr>
              <a:t> - Adds an element </a:t>
            </a:r>
            <a:r>
              <a:rPr lang="en-US" sz="2400" dirty="0">
                <a:solidFill>
                  <a:srgbClr val="121512"/>
                </a:solidFill>
                <a:highlight>
                  <a:srgbClr val="FFFFFF"/>
                </a:highlight>
                <a:latin typeface="Courier New" panose="02070309020205020404" pitchFamily="49" charset="0"/>
                <a:cs typeface="Courier New" panose="02070309020205020404" pitchFamily="49" charset="0"/>
              </a:rPr>
              <a:t>e</a:t>
            </a:r>
            <a:r>
              <a:rPr lang="en-US" sz="2400" dirty="0">
                <a:solidFill>
                  <a:srgbClr val="121512"/>
                </a:solidFill>
                <a:highlight>
                  <a:srgbClr val="FFFFFF"/>
                </a:highlight>
                <a:latin typeface="-apple-system"/>
              </a:rPr>
              <a:t> to the end of the vector</a:t>
            </a:r>
          </a:p>
          <a:p>
            <a:r>
              <a:rPr lang="en-US" sz="2400" dirty="0" err="1">
                <a:solidFill>
                  <a:srgbClr val="121512"/>
                </a:solidFill>
                <a:highlight>
                  <a:srgbClr val="FFFFFF"/>
                </a:highlight>
                <a:latin typeface="Courier New" panose="02070309020205020404" pitchFamily="49" charset="0"/>
                <a:cs typeface="Courier New" panose="02070309020205020404" pitchFamily="49" charset="0"/>
              </a:rPr>
              <a:t>pop_back</a:t>
            </a:r>
            <a:r>
              <a:rPr lang="en-US" sz="2400" dirty="0">
                <a:solidFill>
                  <a:srgbClr val="121512"/>
                </a:solidFill>
                <a:highlight>
                  <a:srgbClr val="FFFFFF"/>
                </a:highlight>
                <a:latin typeface="Courier New" panose="02070309020205020404" pitchFamily="49" charset="0"/>
                <a:cs typeface="Courier New" panose="02070309020205020404" pitchFamily="49" charset="0"/>
              </a:rPr>
              <a:t>()</a:t>
            </a:r>
            <a:r>
              <a:rPr lang="en-US" sz="2400" dirty="0">
                <a:solidFill>
                  <a:srgbClr val="121512"/>
                </a:solidFill>
                <a:highlight>
                  <a:srgbClr val="FFFFFF"/>
                </a:highlight>
                <a:latin typeface="-apple-system"/>
              </a:rPr>
              <a:t> - Removes the last element from the vector</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clear()</a:t>
            </a:r>
            <a:r>
              <a:rPr lang="en-US" sz="2400" dirty="0">
                <a:solidFill>
                  <a:srgbClr val="121512"/>
                </a:solidFill>
                <a:highlight>
                  <a:srgbClr val="FFFFFF"/>
                </a:highlight>
                <a:latin typeface="-apple-system"/>
              </a:rPr>
              <a:t> - Removes all elements from the vector</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at(n)</a:t>
            </a:r>
            <a:r>
              <a:rPr lang="en-US" sz="2400" dirty="0">
                <a:solidFill>
                  <a:srgbClr val="121512"/>
                </a:solidFill>
                <a:highlight>
                  <a:srgbClr val="FFFFFF"/>
                </a:highlight>
                <a:latin typeface="-apple-system"/>
              </a:rPr>
              <a:t> - Accesses the element at a specified position </a:t>
            </a:r>
            <a:r>
              <a:rPr lang="en-US" sz="2400" dirty="0">
                <a:solidFill>
                  <a:srgbClr val="121512"/>
                </a:solidFill>
                <a:highlight>
                  <a:srgbClr val="FFFFFF"/>
                </a:highlight>
                <a:latin typeface="Courier New" panose="02070309020205020404" pitchFamily="49" charset="0"/>
                <a:cs typeface="Courier New" panose="02070309020205020404" pitchFamily="49" charset="0"/>
              </a:rPr>
              <a:t>n</a:t>
            </a:r>
            <a:r>
              <a:rPr lang="en-US" sz="2400" dirty="0">
                <a:solidFill>
                  <a:srgbClr val="121512"/>
                </a:solidFill>
                <a:highlight>
                  <a:srgbClr val="FFFFFF"/>
                </a:highlight>
                <a:latin typeface="-apple-system"/>
              </a:rPr>
              <a:t> with bounds-checking</a:t>
            </a:r>
          </a:p>
        </p:txBody>
      </p:sp>
      <p:sp>
        <p:nvSpPr>
          <p:cNvPr id="4" name="Slide Number Placeholder 3">
            <a:extLst>
              <a:ext uri="{FF2B5EF4-FFF2-40B4-BE49-F238E27FC236}">
                <a16:creationId xmlns:a16="http://schemas.microsoft.com/office/drawing/2014/main" id="{712F8536-47A5-680C-00FE-E9FFDC7440F5}"/>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80</a:t>
            </a:fld>
            <a:endParaRPr lang="en-US" altLang="zh-TW" dirty="0"/>
          </a:p>
        </p:txBody>
      </p:sp>
    </p:spTree>
    <p:extLst>
      <p:ext uri="{BB962C8B-B14F-4D97-AF65-F5344CB8AC3E}">
        <p14:creationId xmlns:p14="http://schemas.microsoft.com/office/powerpoint/2010/main" val="14257339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3429-2B0B-BF70-BD5A-4899B8B9AC19}"/>
              </a:ext>
            </a:extLst>
          </p:cNvPr>
          <p:cNvSpPr>
            <a:spLocks noGrp="1"/>
          </p:cNvSpPr>
          <p:nvPr>
            <p:ph type="title"/>
          </p:nvPr>
        </p:nvSpPr>
        <p:spPr/>
        <p:txBody>
          <a:bodyPr/>
          <a:lstStyle/>
          <a:p>
            <a:r>
              <a:rPr lang="en-TW" dirty="0"/>
              <a:t>Commonly used </a:t>
            </a:r>
            <a:r>
              <a:rPr lang="en-TW" dirty="0">
                <a:latin typeface="Courier New" panose="02070309020205020404" pitchFamily="49" charset="0"/>
                <a:cs typeface="Courier New" panose="02070309020205020404" pitchFamily="49" charset="0"/>
              </a:rPr>
              <a:t>vector</a:t>
            </a:r>
            <a:r>
              <a:rPr lang="en-TW" dirty="0"/>
              <a:t> functions (2)</a:t>
            </a:r>
          </a:p>
        </p:txBody>
      </p:sp>
      <p:sp>
        <p:nvSpPr>
          <p:cNvPr id="3" name="Content Placeholder 2">
            <a:extLst>
              <a:ext uri="{FF2B5EF4-FFF2-40B4-BE49-F238E27FC236}">
                <a16:creationId xmlns:a16="http://schemas.microsoft.com/office/drawing/2014/main" id="{479E7791-2630-A073-E135-49EF88FB1780}"/>
              </a:ext>
            </a:extLst>
          </p:cNvPr>
          <p:cNvSpPr>
            <a:spLocks noGrp="1"/>
          </p:cNvSpPr>
          <p:nvPr>
            <p:ph idx="1"/>
          </p:nvPr>
        </p:nvSpPr>
        <p:spPr/>
        <p:txBody>
          <a:bodyPr>
            <a:noAutofit/>
          </a:bodyPr>
          <a:lstStyle/>
          <a:p>
            <a:r>
              <a:rPr lang="en-US" sz="2200" dirty="0">
                <a:solidFill>
                  <a:srgbClr val="121512"/>
                </a:solidFill>
                <a:highlight>
                  <a:srgbClr val="FFFFFF"/>
                </a:highlight>
                <a:latin typeface="Courier New" panose="02070309020205020404" pitchFamily="49" charset="0"/>
                <a:cs typeface="Courier New" panose="02070309020205020404" pitchFamily="49" charset="0"/>
              </a:rPr>
              <a:t>back()</a:t>
            </a:r>
            <a:r>
              <a:rPr lang="en-US" sz="2200" dirty="0">
                <a:solidFill>
                  <a:srgbClr val="121512"/>
                </a:solidFill>
                <a:highlight>
                  <a:srgbClr val="FFFFFF"/>
                </a:highlight>
                <a:latin typeface="-apple-system"/>
              </a:rPr>
              <a:t> - Returns the </a:t>
            </a:r>
            <a:r>
              <a:rPr lang="en-US" sz="2200" dirty="0">
                <a:solidFill>
                  <a:srgbClr val="FF0000"/>
                </a:solidFill>
                <a:highlight>
                  <a:srgbClr val="FFFFFF"/>
                </a:highlight>
                <a:latin typeface="-apple-system"/>
              </a:rPr>
              <a:t>reference</a:t>
            </a:r>
            <a:r>
              <a:rPr lang="en-US" sz="2200" dirty="0">
                <a:solidFill>
                  <a:srgbClr val="121512"/>
                </a:solidFill>
                <a:highlight>
                  <a:srgbClr val="FFFFFF"/>
                </a:highlight>
                <a:latin typeface="-apple-system"/>
              </a:rPr>
              <a:t> to the last element of the vector</a:t>
            </a:r>
          </a:p>
          <a:p>
            <a:r>
              <a:rPr lang="en-US" sz="2200" dirty="0">
                <a:solidFill>
                  <a:srgbClr val="121512"/>
                </a:solidFill>
                <a:highlight>
                  <a:srgbClr val="FFFFFF"/>
                </a:highlight>
                <a:latin typeface="Courier New" panose="02070309020205020404" pitchFamily="49" charset="0"/>
                <a:cs typeface="Courier New" panose="02070309020205020404" pitchFamily="49" charset="0"/>
              </a:rPr>
              <a:t>front()</a:t>
            </a:r>
            <a:r>
              <a:rPr lang="en-US" sz="2200" dirty="0">
                <a:solidFill>
                  <a:srgbClr val="121512"/>
                </a:solidFill>
                <a:highlight>
                  <a:srgbClr val="FFFFFF"/>
                </a:highlight>
                <a:latin typeface="-apple-system"/>
              </a:rPr>
              <a:t> - Returns the </a:t>
            </a:r>
            <a:r>
              <a:rPr lang="en-US" sz="2200" dirty="0">
                <a:solidFill>
                  <a:srgbClr val="FF0000"/>
                </a:solidFill>
                <a:highlight>
                  <a:srgbClr val="FFFFFF"/>
                </a:highlight>
                <a:latin typeface="-apple-system"/>
              </a:rPr>
              <a:t>reference</a:t>
            </a:r>
            <a:r>
              <a:rPr lang="en-US" sz="2200" dirty="0">
                <a:solidFill>
                  <a:srgbClr val="121512"/>
                </a:solidFill>
                <a:highlight>
                  <a:srgbClr val="FFFFFF"/>
                </a:highlight>
                <a:latin typeface="-apple-system"/>
              </a:rPr>
              <a:t> to the first element of the vector</a:t>
            </a:r>
          </a:p>
          <a:p>
            <a:r>
              <a:rPr lang="en-US" sz="2200" dirty="0">
                <a:solidFill>
                  <a:srgbClr val="121512"/>
                </a:solidFill>
                <a:highlight>
                  <a:srgbClr val="FFFFFF"/>
                </a:highlight>
                <a:latin typeface="Courier New" panose="02070309020205020404" pitchFamily="49" charset="0"/>
                <a:cs typeface="Courier New" panose="02070309020205020404" pitchFamily="49" charset="0"/>
              </a:rPr>
              <a:t>empty() </a:t>
            </a:r>
            <a:r>
              <a:rPr lang="en-US" sz="2200" dirty="0">
                <a:solidFill>
                  <a:srgbClr val="121512"/>
                </a:solidFill>
                <a:highlight>
                  <a:srgbClr val="FFFFFF"/>
                </a:highlight>
                <a:latin typeface="-apple-system"/>
              </a:rPr>
              <a:t>- Checks if the vector is empty</a:t>
            </a:r>
          </a:p>
          <a:p>
            <a:r>
              <a:rPr lang="en-US" sz="2200" dirty="0">
                <a:solidFill>
                  <a:srgbClr val="121512"/>
                </a:solidFill>
                <a:highlight>
                  <a:srgbClr val="FFFFFF"/>
                </a:highlight>
                <a:latin typeface="Courier New" panose="02070309020205020404" pitchFamily="49" charset="0"/>
                <a:cs typeface="Courier New" panose="02070309020205020404" pitchFamily="49" charset="0"/>
              </a:rPr>
              <a:t>insert(</a:t>
            </a:r>
            <a:r>
              <a:rPr lang="en-US" sz="2200" dirty="0" err="1">
                <a:solidFill>
                  <a:srgbClr val="121512"/>
                </a:solidFill>
                <a:highlight>
                  <a:srgbClr val="FFFFFF"/>
                </a:highlight>
                <a:latin typeface="Courier New" panose="02070309020205020404" pitchFamily="49" charset="0"/>
                <a:cs typeface="Courier New" panose="02070309020205020404" pitchFamily="49" charset="0"/>
              </a:rPr>
              <a:t>n,e</a:t>
            </a:r>
            <a:r>
              <a:rPr lang="en-US" sz="2200" dirty="0">
                <a:solidFill>
                  <a:srgbClr val="121512"/>
                </a:solidFill>
                <a:highlight>
                  <a:srgbClr val="FFFFFF"/>
                </a:highlight>
                <a:latin typeface="Courier New" panose="02070309020205020404" pitchFamily="49" charset="0"/>
                <a:cs typeface="Courier New" panose="02070309020205020404" pitchFamily="49" charset="0"/>
              </a:rPr>
              <a:t>)</a:t>
            </a:r>
            <a:r>
              <a:rPr lang="en-US" sz="2200" dirty="0">
                <a:solidFill>
                  <a:srgbClr val="121512"/>
                </a:solidFill>
                <a:highlight>
                  <a:srgbClr val="FFFFFF"/>
                </a:highlight>
                <a:latin typeface="-apple-system"/>
              </a:rPr>
              <a:t> - Inserts element </a:t>
            </a:r>
            <a:r>
              <a:rPr lang="en-US" sz="2200" dirty="0">
                <a:solidFill>
                  <a:srgbClr val="121512"/>
                </a:solidFill>
                <a:highlight>
                  <a:srgbClr val="FFFFFF"/>
                </a:highlight>
                <a:latin typeface="Courier New" panose="02070309020205020404" pitchFamily="49" charset="0"/>
                <a:cs typeface="Courier New" panose="02070309020205020404" pitchFamily="49" charset="0"/>
              </a:rPr>
              <a:t>e</a:t>
            </a:r>
            <a:r>
              <a:rPr lang="en-US" sz="2200" dirty="0">
                <a:solidFill>
                  <a:srgbClr val="121512"/>
                </a:solidFill>
                <a:highlight>
                  <a:srgbClr val="FFFFFF"/>
                </a:highlight>
                <a:latin typeface="-apple-system"/>
              </a:rPr>
              <a:t> at a specified position </a:t>
            </a:r>
            <a:r>
              <a:rPr lang="en-US" sz="2200" dirty="0">
                <a:solidFill>
                  <a:srgbClr val="121512"/>
                </a:solidFill>
                <a:highlight>
                  <a:srgbClr val="FFFFFF"/>
                </a:highlight>
                <a:latin typeface="Courier New" panose="02070309020205020404" pitchFamily="49" charset="0"/>
                <a:cs typeface="Courier New" panose="02070309020205020404" pitchFamily="49" charset="0"/>
              </a:rPr>
              <a:t>n</a:t>
            </a:r>
            <a:r>
              <a:rPr lang="en-US" sz="2200" dirty="0">
                <a:solidFill>
                  <a:srgbClr val="121512"/>
                </a:solidFill>
                <a:highlight>
                  <a:srgbClr val="FFFFFF"/>
                </a:highlight>
                <a:latin typeface="-apple-system"/>
              </a:rPr>
              <a:t> in the vector</a:t>
            </a:r>
          </a:p>
          <a:p>
            <a:r>
              <a:rPr lang="en-US" sz="2200" dirty="0">
                <a:solidFill>
                  <a:srgbClr val="121512"/>
                </a:solidFill>
                <a:highlight>
                  <a:srgbClr val="FFFFFF"/>
                </a:highlight>
                <a:latin typeface="Courier New" panose="02070309020205020404" pitchFamily="49" charset="0"/>
                <a:cs typeface="Courier New" panose="02070309020205020404" pitchFamily="49" charset="0"/>
              </a:rPr>
              <a:t>erase()</a:t>
            </a:r>
            <a:r>
              <a:rPr lang="en-US" sz="2200" dirty="0">
                <a:solidFill>
                  <a:srgbClr val="121512"/>
                </a:solidFill>
                <a:highlight>
                  <a:srgbClr val="FFFFFF"/>
                </a:highlight>
                <a:latin typeface="-apple-system"/>
              </a:rPr>
              <a:t> - Removes elements from a specified position or range in the vector</a:t>
            </a:r>
          </a:p>
          <a:p>
            <a:r>
              <a:rPr lang="en-US" sz="2200" dirty="0">
                <a:solidFill>
                  <a:srgbClr val="121512"/>
                </a:solidFill>
                <a:highlight>
                  <a:srgbClr val="FFFFFF"/>
                </a:highlight>
                <a:latin typeface="Courier New" panose="02070309020205020404" pitchFamily="49" charset="0"/>
                <a:cs typeface="Courier New" panose="02070309020205020404" pitchFamily="49" charset="0"/>
              </a:rPr>
              <a:t>resize(l)</a:t>
            </a:r>
            <a:r>
              <a:rPr lang="en-US" sz="2200" dirty="0">
                <a:solidFill>
                  <a:srgbClr val="121512"/>
                </a:solidFill>
                <a:highlight>
                  <a:srgbClr val="FFFFFF"/>
                </a:highlight>
                <a:latin typeface="-apple-system"/>
              </a:rPr>
              <a:t> - Changes the size of the vector to </a:t>
            </a:r>
            <a:r>
              <a:rPr lang="en-US" sz="2200" dirty="0">
                <a:solidFill>
                  <a:srgbClr val="121512"/>
                </a:solidFill>
                <a:highlight>
                  <a:srgbClr val="FFFFFF"/>
                </a:highlight>
                <a:latin typeface="Courier New" panose="02070309020205020404" pitchFamily="49" charset="0"/>
                <a:cs typeface="Courier New" panose="02070309020205020404" pitchFamily="49" charset="0"/>
              </a:rPr>
              <a:t>l</a:t>
            </a:r>
          </a:p>
          <a:p>
            <a:r>
              <a:rPr lang="en-US" sz="2200" dirty="0">
                <a:solidFill>
                  <a:srgbClr val="121512"/>
                </a:solidFill>
                <a:highlight>
                  <a:srgbClr val="FFFFFF"/>
                </a:highlight>
                <a:latin typeface="Courier New" panose="02070309020205020404" pitchFamily="49" charset="0"/>
                <a:cs typeface="Courier New" panose="02070309020205020404" pitchFamily="49" charset="0"/>
              </a:rPr>
              <a:t>swap(v1,v2)</a:t>
            </a:r>
            <a:r>
              <a:rPr lang="en-US" sz="2200" dirty="0">
                <a:solidFill>
                  <a:srgbClr val="121512"/>
                </a:solidFill>
                <a:highlight>
                  <a:srgbClr val="FFFFFF"/>
                </a:highlight>
                <a:latin typeface="-apple-system"/>
              </a:rPr>
              <a:t> - Swaps the contents of two vectors </a:t>
            </a:r>
            <a:r>
              <a:rPr lang="en-US" sz="2200" dirty="0">
                <a:solidFill>
                  <a:srgbClr val="121512"/>
                </a:solidFill>
                <a:highlight>
                  <a:srgbClr val="FFFFFF"/>
                </a:highlight>
                <a:latin typeface="Courier New" panose="02070309020205020404" pitchFamily="49" charset="0"/>
                <a:cs typeface="Courier New" panose="02070309020205020404" pitchFamily="49" charset="0"/>
              </a:rPr>
              <a:t>v1</a:t>
            </a:r>
            <a:r>
              <a:rPr lang="en-US" sz="2200" dirty="0">
                <a:solidFill>
                  <a:srgbClr val="121512"/>
                </a:solidFill>
                <a:highlight>
                  <a:srgbClr val="FFFFFF"/>
                </a:highlight>
                <a:latin typeface="-apple-system"/>
              </a:rPr>
              <a:t> and </a:t>
            </a:r>
            <a:r>
              <a:rPr lang="en-US" sz="2200" dirty="0">
                <a:solidFill>
                  <a:srgbClr val="121512"/>
                </a:solidFill>
                <a:highlight>
                  <a:srgbClr val="FFFFFF"/>
                </a:highlight>
                <a:latin typeface="Courier New" panose="02070309020205020404" pitchFamily="49" charset="0"/>
                <a:cs typeface="Courier New" panose="02070309020205020404" pitchFamily="49" charset="0"/>
              </a:rPr>
              <a:t>v2</a:t>
            </a:r>
            <a:r>
              <a:rPr lang="en-US" sz="2200" dirty="0">
                <a:solidFill>
                  <a:srgbClr val="121512"/>
                </a:solidFill>
                <a:highlight>
                  <a:srgbClr val="FFFFFF"/>
                </a:highlight>
                <a:latin typeface="-apple-system"/>
              </a:rPr>
              <a:t> </a:t>
            </a:r>
            <a:endParaRPr lang="en-TW" sz="2200" dirty="0"/>
          </a:p>
        </p:txBody>
      </p:sp>
      <p:sp>
        <p:nvSpPr>
          <p:cNvPr id="4" name="Slide Number Placeholder 3">
            <a:extLst>
              <a:ext uri="{FF2B5EF4-FFF2-40B4-BE49-F238E27FC236}">
                <a16:creationId xmlns:a16="http://schemas.microsoft.com/office/drawing/2014/main" id="{28289F66-B7AB-8F51-3F07-CA849C17EC73}"/>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81</a:t>
            </a:fld>
            <a:endParaRPr lang="en-US" altLang="zh-TW" dirty="0"/>
          </a:p>
        </p:txBody>
      </p:sp>
    </p:spTree>
    <p:extLst>
      <p:ext uri="{BB962C8B-B14F-4D97-AF65-F5344CB8AC3E}">
        <p14:creationId xmlns:p14="http://schemas.microsoft.com/office/powerpoint/2010/main" val="34565097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299BB-3950-19D2-882E-B78947133BD2}"/>
              </a:ext>
            </a:extLst>
          </p:cNvPr>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s</a:t>
            </a:r>
            <a:r>
              <a:rPr lang="en-TW" b="1" dirty="0">
                <a:latin typeface="Courier New" panose="02070309020205020404" pitchFamily="49" charset="0"/>
                <a:cs typeface="Courier New" panose="02070309020205020404" pitchFamily="49" charset="0"/>
              </a:rPr>
              <a:t>td::list</a:t>
            </a:r>
          </a:p>
        </p:txBody>
      </p:sp>
      <p:sp>
        <p:nvSpPr>
          <p:cNvPr id="3" name="Text Placeholder 2">
            <a:extLst>
              <a:ext uri="{FF2B5EF4-FFF2-40B4-BE49-F238E27FC236}">
                <a16:creationId xmlns:a16="http://schemas.microsoft.com/office/drawing/2014/main" id="{49B703A8-F5BF-833A-927D-841AC968EE31}"/>
              </a:ext>
            </a:extLst>
          </p:cNvPr>
          <p:cNvSpPr>
            <a:spLocks noGrp="1"/>
          </p:cNvSpPr>
          <p:nvPr>
            <p:ph type="body" idx="1"/>
          </p:nvPr>
        </p:nvSpPr>
        <p:spPr/>
        <p:txBody>
          <a:bodyPr/>
          <a:lstStyle/>
          <a:p>
            <a:endParaRPr lang="en-TW"/>
          </a:p>
        </p:txBody>
      </p:sp>
      <p:sp>
        <p:nvSpPr>
          <p:cNvPr id="4" name="Slide Number Placeholder 3">
            <a:extLst>
              <a:ext uri="{FF2B5EF4-FFF2-40B4-BE49-F238E27FC236}">
                <a16:creationId xmlns:a16="http://schemas.microsoft.com/office/drawing/2014/main" id="{35B5B1C4-4708-9A33-5652-D8B78FC1F572}"/>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82</a:t>
            </a:fld>
            <a:endParaRPr lang="en-US" altLang="zh-TW" dirty="0"/>
          </a:p>
        </p:txBody>
      </p:sp>
    </p:spTree>
    <p:extLst>
      <p:ext uri="{BB962C8B-B14F-4D97-AF65-F5344CB8AC3E}">
        <p14:creationId xmlns:p14="http://schemas.microsoft.com/office/powerpoint/2010/main" val="2317163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s</a:t>
            </a:r>
            <a:r>
              <a:rPr lang="en-TW" b="1" dirty="0">
                <a:latin typeface="Courier New" panose="02070309020205020404" pitchFamily="49" charset="0"/>
                <a:cs typeface="Courier New" panose="02070309020205020404" pitchFamily="49" charset="0"/>
              </a:rPr>
              <a:t>td::list</a:t>
            </a:r>
          </a:p>
        </p:txBody>
      </p:sp>
      <p:sp>
        <p:nvSpPr>
          <p:cNvPr id="3" name="Content Placeholder 2">
            <a:extLst>
              <a:ext uri="{FF2B5EF4-FFF2-40B4-BE49-F238E27FC236}">
                <a16:creationId xmlns:a16="http://schemas.microsoft.com/office/drawing/2014/main" id="{7AE912E8-5666-199D-E21D-55C921006E4D}"/>
              </a:ext>
            </a:extLst>
          </p:cNvPr>
          <p:cNvSpPr>
            <a:spLocks noGrp="1"/>
          </p:cNvSpPr>
          <p:nvPr>
            <p:ph idx="1"/>
          </p:nvPr>
        </p:nvSpPr>
        <p:spPr/>
        <p:txBody>
          <a:bodyPr>
            <a:normAutofit/>
          </a:bodyPr>
          <a:lstStyle/>
          <a:p>
            <a:r>
              <a:rPr lang="en-US" dirty="0">
                <a:solidFill>
                  <a:srgbClr val="0C0D0E"/>
                </a:solidFill>
                <a:highlight>
                  <a:srgbClr val="FFFFFF"/>
                </a:highlight>
                <a:latin typeface="Courier New" panose="02070309020205020404" pitchFamily="49" charset="0"/>
                <a:cs typeface="Courier New" panose="02070309020205020404" pitchFamily="49" charset="0"/>
              </a:rPr>
              <a:t>s</a:t>
            </a:r>
            <a:r>
              <a:rPr lang="en-US" b="0" i="0" dirty="0">
                <a:solidFill>
                  <a:srgbClr val="0C0D0E"/>
                </a:solidFill>
                <a:effectLst/>
                <a:highlight>
                  <a:srgbClr val="FFFFFF"/>
                </a:highlight>
                <a:latin typeface="Courier New" panose="02070309020205020404" pitchFamily="49" charset="0"/>
                <a:cs typeface="Courier New" panose="02070309020205020404" pitchFamily="49" charset="0"/>
              </a:rPr>
              <a:t>td::list</a:t>
            </a:r>
            <a:r>
              <a:rPr lang="en-US" b="0" i="0" dirty="0">
                <a:solidFill>
                  <a:srgbClr val="0C0D0E"/>
                </a:solidFill>
                <a:effectLst/>
                <a:highlight>
                  <a:srgbClr val="FFFFFF"/>
                </a:highlight>
                <a:latin typeface="-apple-system"/>
              </a:rPr>
              <a:t> </a:t>
            </a:r>
            <a:r>
              <a:rPr lang="en-US" b="0" i="0" dirty="0">
                <a:solidFill>
                  <a:srgbClr val="121512"/>
                </a:solidFill>
                <a:effectLst/>
                <a:highlight>
                  <a:srgbClr val="FFFFFF"/>
                </a:highlight>
                <a:latin typeface="-apple-system"/>
              </a:rPr>
              <a:t>is a doubly linked list implementation in C++. It is a container that allows for constant-time insert and erase operations anywhere within the sequence and linear-time access to elements by their position.</a:t>
            </a:r>
          </a:p>
          <a:p>
            <a:endParaRPr lang="en-TW" dirty="0"/>
          </a:p>
        </p:txBody>
      </p:sp>
      <p:sp>
        <p:nvSpPr>
          <p:cNvPr id="4" name="TextBox 3">
            <a:extLst>
              <a:ext uri="{FF2B5EF4-FFF2-40B4-BE49-F238E27FC236}">
                <a16:creationId xmlns:a16="http://schemas.microsoft.com/office/drawing/2014/main" id="{FB93EBD9-4BC2-0B2F-7DE1-1D72F6E5EF00}"/>
              </a:ext>
            </a:extLst>
          </p:cNvPr>
          <p:cNvSpPr txBox="1"/>
          <p:nvPr/>
        </p:nvSpPr>
        <p:spPr>
          <a:xfrm>
            <a:off x="664635" y="3245786"/>
            <a:ext cx="8764857" cy="2308324"/>
          </a:xfrm>
          <a:prstGeom prst="rect">
            <a:avLst/>
          </a:prstGeom>
          <a:noFill/>
        </p:spPr>
        <p:txBody>
          <a:bodyPr wrap="square">
            <a:spAutoFit/>
          </a:bodyPr>
          <a:lstStyle>
            <a:defPPr>
              <a:defRPr lang="en-US"/>
            </a:defPPr>
            <a:lvl1pPr>
              <a:defRPr sz="1600">
                <a:latin typeface="Courier New" panose="02070309020205020404" pitchFamily="49" charset="0"/>
                <a:cs typeface="Courier New" panose="02070309020205020404" pitchFamily="49" charset="0"/>
              </a:defRPr>
            </a:lvl1pPr>
          </a:lstStyle>
          <a:p>
            <a:r>
              <a:rPr lang="en-US" dirty="0">
                <a:solidFill>
                  <a:srgbClr val="0070C0"/>
                </a:solidFill>
              </a:rPr>
              <a:t>t</a:t>
            </a:r>
            <a:r>
              <a:rPr lang="en-TW" dirty="0">
                <a:solidFill>
                  <a:srgbClr val="0070C0"/>
                </a:solidFill>
              </a:rPr>
              <a:t>emplate</a:t>
            </a:r>
            <a:r>
              <a:rPr lang="en-TW" dirty="0"/>
              <a:t>&lt;</a:t>
            </a:r>
          </a:p>
          <a:p>
            <a:r>
              <a:rPr lang="en-TW" dirty="0"/>
              <a:t>    </a:t>
            </a:r>
            <a:r>
              <a:rPr lang="en-TW" dirty="0">
                <a:solidFill>
                  <a:srgbClr val="0070C0"/>
                </a:solidFill>
              </a:rPr>
              <a:t>class</a:t>
            </a:r>
            <a:r>
              <a:rPr lang="en-TW" dirty="0"/>
              <a:t> T,</a:t>
            </a:r>
          </a:p>
          <a:p>
            <a:r>
              <a:rPr lang="en-TW" dirty="0"/>
              <a:t>    </a:t>
            </a:r>
            <a:r>
              <a:rPr lang="en-TW" dirty="0">
                <a:solidFill>
                  <a:srgbClr val="0070C0"/>
                </a:solidFill>
              </a:rPr>
              <a:t>class</a:t>
            </a:r>
            <a:r>
              <a:rPr lang="en-TW" dirty="0"/>
              <a:t> Allocator = std::allocator&lt;T&gt;</a:t>
            </a:r>
          </a:p>
          <a:p>
            <a:r>
              <a:rPr lang="en-US" dirty="0"/>
              <a:t>&gt; </a:t>
            </a:r>
            <a:r>
              <a:rPr lang="en-US" dirty="0">
                <a:solidFill>
                  <a:srgbClr val="0070C0"/>
                </a:solidFill>
              </a:rPr>
              <a:t>c</a:t>
            </a:r>
            <a:r>
              <a:rPr lang="en-TW" dirty="0">
                <a:solidFill>
                  <a:srgbClr val="0070C0"/>
                </a:solidFill>
              </a:rPr>
              <a:t>lass</a:t>
            </a:r>
            <a:r>
              <a:rPr lang="en-TW" dirty="0"/>
              <a:t> list;</a:t>
            </a:r>
          </a:p>
          <a:p>
            <a:endParaRPr lang="en-TW" dirty="0"/>
          </a:p>
          <a:p>
            <a:r>
              <a:rPr lang="en-US" dirty="0">
                <a:solidFill>
                  <a:srgbClr val="0070C0"/>
                </a:solidFill>
              </a:rPr>
              <a:t>n</a:t>
            </a:r>
            <a:r>
              <a:rPr lang="en-TW" dirty="0">
                <a:solidFill>
                  <a:srgbClr val="0070C0"/>
                </a:solidFill>
              </a:rPr>
              <a:t>amespace</a:t>
            </a:r>
            <a:r>
              <a:rPr lang="en-TW" dirty="0"/>
              <a:t> pmr {</a:t>
            </a:r>
          </a:p>
          <a:p>
            <a:r>
              <a:rPr lang="en-TW" dirty="0"/>
              <a:t>    </a:t>
            </a:r>
            <a:r>
              <a:rPr lang="en-TW" dirty="0">
                <a:solidFill>
                  <a:srgbClr val="0070C0"/>
                </a:solidFill>
              </a:rPr>
              <a:t>template</a:t>
            </a:r>
            <a:r>
              <a:rPr lang="en-TW" dirty="0"/>
              <a:t>&lt; class T &gt;</a:t>
            </a:r>
          </a:p>
          <a:p>
            <a:r>
              <a:rPr lang="en-TW" dirty="0"/>
              <a:t>    </a:t>
            </a:r>
            <a:r>
              <a:rPr lang="en-TW" dirty="0">
                <a:solidFill>
                  <a:srgbClr val="0070C0"/>
                </a:solidFill>
              </a:rPr>
              <a:t>using</a:t>
            </a:r>
            <a:r>
              <a:rPr lang="en-TW" dirty="0"/>
              <a:t> list = std::list&lt;T, std::pmr::polymorphic_allocator&lt;T&gt;&gt;;</a:t>
            </a:r>
          </a:p>
          <a:p>
            <a:r>
              <a:rPr lang="en-TW" dirty="0"/>
              <a:t>}</a:t>
            </a:r>
          </a:p>
        </p:txBody>
      </p:sp>
      <p:sp>
        <p:nvSpPr>
          <p:cNvPr id="5" name="Slide Number Placeholder 3">
            <a:extLst>
              <a:ext uri="{FF2B5EF4-FFF2-40B4-BE49-F238E27FC236}">
                <a16:creationId xmlns:a16="http://schemas.microsoft.com/office/drawing/2014/main" id="{C4ED68D6-077B-00DE-FC46-BB190BF1CDAE}"/>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83</a:t>
            </a:fld>
            <a:endParaRPr lang="en-US" altLang="zh-TW" dirty="0"/>
          </a:p>
        </p:txBody>
      </p:sp>
    </p:spTree>
    <p:extLst>
      <p:ext uri="{BB962C8B-B14F-4D97-AF65-F5344CB8AC3E}">
        <p14:creationId xmlns:p14="http://schemas.microsoft.com/office/powerpoint/2010/main" val="18053769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s</a:t>
            </a:r>
            <a:r>
              <a:rPr lang="en-TW" b="1" dirty="0">
                <a:latin typeface="Courier New" panose="02070309020205020404" pitchFamily="49" charset="0"/>
                <a:cs typeface="Courier New" panose="02070309020205020404" pitchFamily="49" charset="0"/>
              </a:rPr>
              <a:t>td::list </a:t>
            </a:r>
            <a:r>
              <a:rPr lang="en-TW" dirty="0"/>
              <a:t>Constructors</a:t>
            </a:r>
          </a:p>
        </p:txBody>
      </p:sp>
      <p:sp>
        <p:nvSpPr>
          <p:cNvPr id="3" name="Content Placeholder 2">
            <a:extLst>
              <a:ext uri="{FF2B5EF4-FFF2-40B4-BE49-F238E27FC236}">
                <a16:creationId xmlns:a16="http://schemas.microsoft.com/office/drawing/2014/main" id="{7AE912E8-5666-199D-E21D-55C921006E4D}"/>
              </a:ext>
            </a:extLst>
          </p:cNvPr>
          <p:cNvSpPr>
            <a:spLocks noGrp="1"/>
          </p:cNvSpPr>
          <p:nvPr>
            <p:ph idx="1"/>
          </p:nvPr>
        </p:nvSpPr>
        <p:spPr/>
        <p:txBody>
          <a:bodyPr>
            <a:normAutofit/>
          </a:bodyPr>
          <a:lstStyle/>
          <a:p>
            <a:pPr marL="0" indent="0">
              <a:buNone/>
            </a:pPr>
            <a:r>
              <a:rPr lang="en-US" dirty="0">
                <a:solidFill>
                  <a:srgbClr val="121512"/>
                </a:solidFill>
                <a:highlight>
                  <a:srgbClr val="FFFFFF"/>
                </a:highlight>
                <a:latin typeface="Courier New" panose="02070309020205020404" pitchFamily="49" charset="0"/>
                <a:cs typeface="Courier New" panose="02070309020205020404" pitchFamily="49" charset="0"/>
              </a:rPr>
              <a:t>Std::list&lt;T, Allocator&gt;::list</a:t>
            </a:r>
          </a:p>
          <a:p>
            <a:r>
              <a:rPr lang="en-US" dirty="0">
                <a:solidFill>
                  <a:srgbClr val="121512"/>
                </a:solidFill>
                <a:highlight>
                  <a:srgbClr val="FFFFFF"/>
                </a:highlight>
                <a:latin typeface="-apple-system"/>
              </a:rPr>
              <a:t>Constructors</a:t>
            </a:r>
            <a:endParaRPr lang="en-TW" dirty="0"/>
          </a:p>
        </p:txBody>
      </p:sp>
      <p:sp>
        <p:nvSpPr>
          <p:cNvPr id="5" name="TextBox 4">
            <a:extLst>
              <a:ext uri="{FF2B5EF4-FFF2-40B4-BE49-F238E27FC236}">
                <a16:creationId xmlns:a16="http://schemas.microsoft.com/office/drawing/2014/main" id="{3B64C1B8-2C14-68F5-4789-6A9E2416182A}"/>
              </a:ext>
            </a:extLst>
          </p:cNvPr>
          <p:cNvSpPr txBox="1"/>
          <p:nvPr/>
        </p:nvSpPr>
        <p:spPr>
          <a:xfrm>
            <a:off x="664635" y="3274465"/>
            <a:ext cx="10862730" cy="1384995"/>
          </a:xfrm>
          <a:prstGeom prst="rect">
            <a:avLst/>
          </a:prstGeom>
          <a:noFill/>
        </p:spPr>
        <p:txBody>
          <a:bodyPr wrap="square">
            <a:spAutoFit/>
          </a:bodyPr>
          <a:lstStyle>
            <a:defPPr>
              <a:defRPr lang="en-US"/>
            </a:defPPr>
            <a:lvl1pPr>
              <a:defRPr sz="1400">
                <a:latin typeface="Courier New" panose="02070309020205020404" pitchFamily="49" charset="0"/>
                <a:cs typeface="Courier New" panose="02070309020205020404" pitchFamily="49" charset="0"/>
              </a:defRPr>
            </a:lvl1pPr>
          </a:lstStyle>
          <a:p>
            <a:r>
              <a:rPr lang="en-US" dirty="0"/>
              <a:t>list(): Default constructor.</a:t>
            </a:r>
          </a:p>
          <a:p>
            <a:r>
              <a:rPr lang="en-US" dirty="0"/>
              <a:t>list(</a:t>
            </a:r>
            <a:r>
              <a:rPr lang="en-US" dirty="0" err="1"/>
              <a:t>size_type</a:t>
            </a:r>
            <a:r>
              <a:rPr lang="en-US" dirty="0"/>
              <a:t> count, const T&amp; value = T(), const Allocator&amp; </a:t>
            </a:r>
            <a:r>
              <a:rPr lang="en-US" dirty="0" err="1"/>
              <a:t>alloc</a:t>
            </a:r>
            <a:r>
              <a:rPr lang="en-US" dirty="0"/>
              <a:t> = Allocator()): Fill constructor.</a:t>
            </a:r>
          </a:p>
          <a:p>
            <a:r>
              <a:rPr lang="en-US" dirty="0"/>
              <a:t>list(</a:t>
            </a:r>
            <a:r>
              <a:rPr lang="en-US" dirty="0" err="1"/>
              <a:t>InputIt</a:t>
            </a:r>
            <a:r>
              <a:rPr lang="en-US" dirty="0"/>
              <a:t> first, </a:t>
            </a:r>
            <a:r>
              <a:rPr lang="en-US" dirty="0" err="1"/>
              <a:t>InputIt</a:t>
            </a:r>
            <a:r>
              <a:rPr lang="en-US" dirty="0"/>
              <a:t> last, const Allocator&amp; </a:t>
            </a:r>
            <a:r>
              <a:rPr lang="en-US" dirty="0" err="1"/>
              <a:t>alloc</a:t>
            </a:r>
            <a:r>
              <a:rPr lang="en-US" dirty="0"/>
              <a:t> = Allocator()): Range constructor.</a:t>
            </a:r>
          </a:p>
          <a:p>
            <a:r>
              <a:rPr lang="en-US" dirty="0"/>
              <a:t>list(const list&amp; other): Copy constructor.</a:t>
            </a:r>
          </a:p>
          <a:p>
            <a:r>
              <a:rPr lang="en-US" dirty="0"/>
              <a:t>list(list&amp;&amp; other) </a:t>
            </a:r>
            <a:r>
              <a:rPr lang="en-US" dirty="0" err="1"/>
              <a:t>noexcept</a:t>
            </a:r>
            <a:r>
              <a:rPr lang="en-US" dirty="0"/>
              <a:t>: Move constructor.</a:t>
            </a:r>
          </a:p>
          <a:p>
            <a:r>
              <a:rPr lang="en-US" dirty="0"/>
              <a:t>list(</a:t>
            </a:r>
            <a:r>
              <a:rPr lang="en-US" dirty="0" err="1"/>
              <a:t>initializer_list</a:t>
            </a:r>
            <a:r>
              <a:rPr lang="en-US" dirty="0"/>
              <a:t>&lt;T&gt; </a:t>
            </a:r>
            <a:r>
              <a:rPr lang="en-US" dirty="0" err="1"/>
              <a:t>init</a:t>
            </a:r>
            <a:r>
              <a:rPr lang="en-US" dirty="0"/>
              <a:t>, const Allocator&amp; </a:t>
            </a:r>
            <a:r>
              <a:rPr lang="en-US" dirty="0" err="1"/>
              <a:t>alloc</a:t>
            </a:r>
            <a:r>
              <a:rPr lang="en-US" dirty="0"/>
              <a:t> = Allocator()): Initializer list constructor.</a:t>
            </a:r>
          </a:p>
        </p:txBody>
      </p:sp>
      <p:sp>
        <p:nvSpPr>
          <p:cNvPr id="4" name="Slide Number Placeholder 3">
            <a:extLst>
              <a:ext uri="{FF2B5EF4-FFF2-40B4-BE49-F238E27FC236}">
                <a16:creationId xmlns:a16="http://schemas.microsoft.com/office/drawing/2014/main" id="{684BC63E-78F1-F9E4-3D59-21C76C2ADA1C}"/>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84</a:t>
            </a:fld>
            <a:endParaRPr lang="en-US" altLang="zh-TW" dirty="0"/>
          </a:p>
        </p:txBody>
      </p:sp>
    </p:spTree>
    <p:extLst>
      <p:ext uri="{BB962C8B-B14F-4D97-AF65-F5344CB8AC3E}">
        <p14:creationId xmlns:p14="http://schemas.microsoft.com/office/powerpoint/2010/main" val="17980913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dirty="0"/>
              <a:t>l</a:t>
            </a:r>
            <a:r>
              <a:rPr lang="en-TW" dirty="0"/>
              <a:t>ist Example Code</a:t>
            </a:r>
          </a:p>
        </p:txBody>
      </p:sp>
      <p:sp>
        <p:nvSpPr>
          <p:cNvPr id="5" name="TextBox 4">
            <a:extLst>
              <a:ext uri="{FF2B5EF4-FFF2-40B4-BE49-F238E27FC236}">
                <a16:creationId xmlns:a16="http://schemas.microsoft.com/office/drawing/2014/main" id="{3B64C1B8-2C14-68F5-4789-6A9E2416182A}"/>
              </a:ext>
            </a:extLst>
          </p:cNvPr>
          <p:cNvSpPr txBox="1"/>
          <p:nvPr/>
        </p:nvSpPr>
        <p:spPr>
          <a:xfrm>
            <a:off x="664635" y="1600201"/>
            <a:ext cx="10145001" cy="4185761"/>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#include &lt;iostream&gt;</a:t>
            </a:r>
          </a:p>
          <a:p>
            <a:r>
              <a:rPr lang="en-US" sz="1400" dirty="0">
                <a:latin typeface="Courier New" panose="02070309020205020404" pitchFamily="49" charset="0"/>
                <a:cs typeface="Courier New" panose="02070309020205020404" pitchFamily="49" charset="0"/>
              </a:rPr>
              <a:t>#include &lt;list&gt;</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int main() {</a:t>
            </a:r>
          </a:p>
          <a:p>
            <a:r>
              <a:rPr lang="en-US" sz="1400" dirty="0">
                <a:latin typeface="Courier New" panose="02070309020205020404" pitchFamily="49" charset="0"/>
                <a:cs typeface="Courier New" panose="02070309020205020404" pitchFamily="49" charset="0"/>
              </a:rPr>
              <a:t>    // Create a list of integers</a:t>
            </a:r>
          </a:p>
          <a:p>
            <a:r>
              <a:rPr lang="en-US" sz="1400" dirty="0">
                <a:latin typeface="Courier New" panose="02070309020205020404" pitchFamily="49" charset="0"/>
                <a:cs typeface="Courier New" panose="02070309020205020404" pitchFamily="49" charset="0"/>
              </a:rPr>
              <a:t>    std::list&lt;int&gt; </a:t>
            </a:r>
            <a:r>
              <a:rPr lang="en-US" sz="1400" dirty="0" err="1">
                <a:latin typeface="Courier New" panose="02070309020205020404" pitchFamily="49" charset="0"/>
                <a:cs typeface="Courier New" panose="02070309020205020404" pitchFamily="49" charset="0"/>
              </a:rPr>
              <a:t>mylist</a:t>
            </a:r>
            <a:r>
              <a:rPr lang="en-US" sz="1400" dirty="0">
                <a:latin typeface="Courier New" panose="02070309020205020404" pitchFamily="49" charset="0"/>
                <a:cs typeface="Courier New" panose="02070309020205020404" pitchFamily="49" charset="0"/>
              </a:rPr>
              <a:t>;</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 Add elements to the list</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mylist.push_back</a:t>
            </a:r>
            <a:r>
              <a:rPr lang="en-US" sz="1400" dirty="0">
                <a:latin typeface="Courier New" panose="02070309020205020404" pitchFamily="49" charset="0"/>
                <a:cs typeface="Courier New" panose="02070309020205020404" pitchFamily="49" charset="0"/>
              </a:rPr>
              <a:t>(10);</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mylist.push_back</a:t>
            </a:r>
            <a:r>
              <a:rPr lang="en-US" sz="1400" dirty="0">
                <a:latin typeface="Courier New" panose="02070309020205020404" pitchFamily="49" charset="0"/>
                <a:cs typeface="Courier New" panose="02070309020205020404" pitchFamily="49" charset="0"/>
              </a:rPr>
              <a:t>(20);</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mylist.push_back</a:t>
            </a:r>
            <a:r>
              <a:rPr lang="en-US" sz="1400" dirty="0">
                <a:latin typeface="Courier New" panose="02070309020205020404" pitchFamily="49" charset="0"/>
                <a:cs typeface="Courier New" panose="02070309020205020404" pitchFamily="49" charset="0"/>
              </a:rPr>
              <a:t>(30);</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 Iterate over the list and print elements</a:t>
            </a:r>
          </a:p>
          <a:p>
            <a:r>
              <a:rPr lang="en-US" sz="1400" dirty="0">
                <a:latin typeface="Courier New" panose="02070309020205020404" pitchFamily="49" charset="0"/>
                <a:cs typeface="Courier New" panose="02070309020205020404" pitchFamily="49" charset="0"/>
              </a:rPr>
              <a:t>    for (const auto&amp; </a:t>
            </a:r>
            <a:r>
              <a:rPr lang="en-US" sz="1400" dirty="0" err="1">
                <a:latin typeface="Courier New" panose="02070309020205020404" pitchFamily="49" charset="0"/>
                <a:cs typeface="Courier New" panose="02070309020205020404" pitchFamily="49" charset="0"/>
              </a:rPr>
              <a:t>elem</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mylist</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std::</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a:t>
            </a:r>
            <a:r>
              <a:rPr lang="en-US" sz="1400" dirty="0" err="1">
                <a:latin typeface="Courier New" panose="02070309020205020404" pitchFamily="49" charset="0"/>
                <a:cs typeface="Courier New" panose="02070309020205020404" pitchFamily="49" charset="0"/>
              </a:rPr>
              <a:t>elem</a:t>
            </a:r>
            <a:r>
              <a:rPr lang="en-US" sz="1400" dirty="0">
                <a:latin typeface="Courier New" panose="02070309020205020404" pitchFamily="49" charset="0"/>
                <a:cs typeface="Courier New" panose="02070309020205020404" pitchFamily="49" charset="0"/>
              </a:rPr>
              <a:t> &lt;&lt; " ";</a:t>
            </a:r>
          </a:p>
          <a:p>
            <a:r>
              <a:rPr lang="en-US" sz="1400" dirty="0">
                <a:latin typeface="Courier New" panose="02070309020205020404" pitchFamily="49" charset="0"/>
                <a:cs typeface="Courier New" panose="02070309020205020404" pitchFamily="49" charset="0"/>
              </a:rPr>
              <a:t>    }</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return 0;</a:t>
            </a:r>
          </a:p>
          <a:p>
            <a:r>
              <a:rPr lang="en-US" sz="1400" dirty="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0DE35C35-3434-1622-3D7A-ECE8B4CC6E0A}"/>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85</a:t>
            </a:fld>
            <a:endParaRPr lang="en-US" altLang="zh-TW" dirty="0"/>
          </a:p>
        </p:txBody>
      </p:sp>
    </p:spTree>
    <p:extLst>
      <p:ext uri="{BB962C8B-B14F-4D97-AF65-F5344CB8AC3E}">
        <p14:creationId xmlns:p14="http://schemas.microsoft.com/office/powerpoint/2010/main" val="20283809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3429-2B0B-BF70-BD5A-4899B8B9AC19}"/>
              </a:ext>
            </a:extLst>
          </p:cNvPr>
          <p:cNvSpPr>
            <a:spLocks noGrp="1"/>
          </p:cNvSpPr>
          <p:nvPr>
            <p:ph type="title"/>
          </p:nvPr>
        </p:nvSpPr>
        <p:spPr/>
        <p:txBody>
          <a:bodyPr/>
          <a:lstStyle/>
          <a:p>
            <a:r>
              <a:rPr lang="en-TW" dirty="0"/>
              <a:t>Commonly used </a:t>
            </a:r>
            <a:r>
              <a:rPr lang="en-TW" dirty="0">
                <a:latin typeface="Courier New" panose="02070309020205020404" pitchFamily="49" charset="0"/>
                <a:cs typeface="Courier New" panose="02070309020205020404" pitchFamily="49" charset="0"/>
              </a:rPr>
              <a:t>list</a:t>
            </a:r>
            <a:r>
              <a:rPr lang="en-TW" dirty="0"/>
              <a:t> functions (1)</a:t>
            </a:r>
          </a:p>
        </p:txBody>
      </p:sp>
      <p:sp>
        <p:nvSpPr>
          <p:cNvPr id="3" name="Content Placeholder 2">
            <a:extLst>
              <a:ext uri="{FF2B5EF4-FFF2-40B4-BE49-F238E27FC236}">
                <a16:creationId xmlns:a16="http://schemas.microsoft.com/office/drawing/2014/main" id="{479E7791-2630-A073-E135-49EF88FB1780}"/>
              </a:ext>
            </a:extLst>
          </p:cNvPr>
          <p:cNvSpPr>
            <a:spLocks noGrp="1"/>
          </p:cNvSpPr>
          <p:nvPr>
            <p:ph idx="1"/>
          </p:nvPr>
        </p:nvSpPr>
        <p:spPr/>
        <p:txBody>
          <a:bodyPr>
            <a:normAutofit lnSpcReduction="10000"/>
          </a:bodyPr>
          <a:lstStyle/>
          <a:p>
            <a:r>
              <a:rPr lang="en-US" sz="2400" dirty="0">
                <a:latin typeface="Courier New" panose="02070309020205020404" pitchFamily="49" charset="0"/>
                <a:cs typeface="Courier New" panose="02070309020205020404" pitchFamily="49" charset="0"/>
              </a:rPr>
              <a:t>operator[key]</a:t>
            </a:r>
            <a:r>
              <a:rPr lang="en-TW" sz="2400" dirty="0"/>
              <a:t> - </a:t>
            </a:r>
            <a:r>
              <a:rPr lang="en-US" sz="2400" dirty="0">
                <a:solidFill>
                  <a:srgbClr val="121512"/>
                </a:solidFill>
                <a:highlight>
                  <a:srgbClr val="FFFFFF"/>
                </a:highlight>
                <a:latin typeface="-apple-system"/>
              </a:rPr>
              <a:t>Accesses or assigns values with a specified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doesn't exist, it inserts a new element</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find(key)</a:t>
            </a:r>
            <a:r>
              <a:rPr lang="en-US" sz="2400" dirty="0">
                <a:solidFill>
                  <a:srgbClr val="121512"/>
                </a:solidFill>
                <a:highlight>
                  <a:srgbClr val="FFFFFF"/>
                </a:highlight>
                <a:latin typeface="-apple-system"/>
              </a:rPr>
              <a:t> - Searches the map for an element with a specified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and returns an </a:t>
            </a:r>
            <a:r>
              <a:rPr lang="en-US" sz="2400" dirty="0">
                <a:solidFill>
                  <a:srgbClr val="FF0000"/>
                </a:solidFill>
                <a:highlight>
                  <a:srgbClr val="FFFFFF"/>
                </a:highlight>
                <a:latin typeface="-apple-system"/>
              </a:rPr>
              <a:t>iterator</a:t>
            </a:r>
            <a:r>
              <a:rPr lang="en-US" sz="2400" dirty="0">
                <a:solidFill>
                  <a:srgbClr val="121512"/>
                </a:solidFill>
                <a:highlight>
                  <a:srgbClr val="FFFFFF"/>
                </a:highlight>
                <a:latin typeface="-apple-system"/>
              </a:rPr>
              <a:t> to it.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is not found, it returns the end iterator</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erase(key)</a:t>
            </a:r>
            <a:r>
              <a:rPr lang="en-US" sz="2400" dirty="0">
                <a:solidFill>
                  <a:srgbClr val="121512"/>
                </a:solidFill>
                <a:highlight>
                  <a:srgbClr val="FFFFFF"/>
                </a:highlight>
                <a:latin typeface="-apple-system"/>
              </a:rPr>
              <a:t> - Removes an element from the map specified by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or an </a:t>
            </a:r>
            <a:r>
              <a:rPr lang="en-US" sz="2400" dirty="0">
                <a:solidFill>
                  <a:srgbClr val="FF0000"/>
                </a:solidFill>
                <a:highlight>
                  <a:srgbClr val="FFFFFF"/>
                </a:highlight>
                <a:latin typeface="-apple-system"/>
              </a:rPr>
              <a:t>iterator</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at(key)</a:t>
            </a:r>
            <a:r>
              <a:rPr lang="en-US" sz="2400" dirty="0">
                <a:solidFill>
                  <a:srgbClr val="121512"/>
                </a:solidFill>
                <a:highlight>
                  <a:srgbClr val="FFFFFF"/>
                </a:highlight>
                <a:latin typeface="-apple-system"/>
              </a:rPr>
              <a:t> - Accesses the element at a specified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and throws an </a:t>
            </a:r>
            <a:r>
              <a:rPr lang="en-US" sz="2400" dirty="0" err="1">
                <a:solidFill>
                  <a:srgbClr val="121512"/>
                </a:solidFill>
                <a:highlight>
                  <a:srgbClr val="FFFFFF"/>
                </a:highlight>
                <a:latin typeface="-apple-system"/>
              </a:rPr>
              <a:t>out_of_range</a:t>
            </a:r>
            <a:r>
              <a:rPr lang="en-US" sz="2400" dirty="0">
                <a:solidFill>
                  <a:srgbClr val="121512"/>
                </a:solidFill>
                <a:highlight>
                  <a:srgbClr val="FFFFFF"/>
                </a:highlight>
                <a:latin typeface="-apple-system"/>
              </a:rPr>
              <a:t> exception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is not found</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size()</a:t>
            </a:r>
            <a:r>
              <a:rPr lang="en-US" sz="2400" dirty="0">
                <a:solidFill>
                  <a:srgbClr val="121512"/>
                </a:solidFill>
                <a:highlight>
                  <a:srgbClr val="FFFFFF"/>
                </a:highlight>
                <a:latin typeface="-apple-system"/>
              </a:rPr>
              <a:t> - Returns the number of elements in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p>
        </p:txBody>
      </p:sp>
      <p:sp>
        <p:nvSpPr>
          <p:cNvPr id="4" name="Slide Number Placeholder 3">
            <a:extLst>
              <a:ext uri="{FF2B5EF4-FFF2-40B4-BE49-F238E27FC236}">
                <a16:creationId xmlns:a16="http://schemas.microsoft.com/office/drawing/2014/main" id="{0C982F99-CDA1-343C-B7FF-682F6AD7C6FD}"/>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86</a:t>
            </a:fld>
            <a:endParaRPr lang="en-US" altLang="zh-TW" dirty="0"/>
          </a:p>
        </p:txBody>
      </p:sp>
    </p:spTree>
    <p:extLst>
      <p:ext uri="{BB962C8B-B14F-4D97-AF65-F5344CB8AC3E}">
        <p14:creationId xmlns:p14="http://schemas.microsoft.com/office/powerpoint/2010/main" val="9331922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3429-2B0B-BF70-BD5A-4899B8B9AC19}"/>
              </a:ext>
            </a:extLst>
          </p:cNvPr>
          <p:cNvSpPr>
            <a:spLocks noGrp="1"/>
          </p:cNvSpPr>
          <p:nvPr>
            <p:ph type="title"/>
          </p:nvPr>
        </p:nvSpPr>
        <p:spPr/>
        <p:txBody>
          <a:bodyPr/>
          <a:lstStyle/>
          <a:p>
            <a:r>
              <a:rPr lang="en-TW" dirty="0"/>
              <a:t>Commonly used </a:t>
            </a:r>
            <a:r>
              <a:rPr lang="en-TW" dirty="0">
                <a:latin typeface="Courier New" panose="02070309020205020404" pitchFamily="49" charset="0"/>
                <a:cs typeface="Courier New" panose="02070309020205020404" pitchFamily="49" charset="0"/>
              </a:rPr>
              <a:t>list</a:t>
            </a:r>
            <a:r>
              <a:rPr lang="en-TW" dirty="0"/>
              <a:t> functions (2)</a:t>
            </a:r>
          </a:p>
        </p:txBody>
      </p:sp>
      <p:sp>
        <p:nvSpPr>
          <p:cNvPr id="3" name="Content Placeholder 2">
            <a:extLst>
              <a:ext uri="{FF2B5EF4-FFF2-40B4-BE49-F238E27FC236}">
                <a16:creationId xmlns:a16="http://schemas.microsoft.com/office/drawing/2014/main" id="{479E7791-2630-A073-E135-49EF88FB1780}"/>
              </a:ext>
            </a:extLst>
          </p:cNvPr>
          <p:cNvSpPr>
            <a:spLocks noGrp="1"/>
          </p:cNvSpPr>
          <p:nvPr>
            <p:ph idx="1"/>
          </p:nvPr>
        </p:nvSpPr>
        <p:spPr/>
        <p:txBody>
          <a:bodyPr>
            <a:noAutofit/>
          </a:bodyPr>
          <a:lstStyle/>
          <a:p>
            <a:r>
              <a:rPr lang="en-US" sz="2400" dirty="0">
                <a:solidFill>
                  <a:srgbClr val="121512"/>
                </a:solidFill>
                <a:highlight>
                  <a:srgbClr val="FFFFFF"/>
                </a:highlight>
                <a:latin typeface="Courier New" panose="02070309020205020404" pitchFamily="49" charset="0"/>
                <a:cs typeface="Courier New" panose="02070309020205020404" pitchFamily="49" charset="0"/>
              </a:rPr>
              <a:t>begin(),end()</a:t>
            </a:r>
            <a:r>
              <a:rPr lang="en-US" sz="2400" dirty="0">
                <a:solidFill>
                  <a:srgbClr val="121512"/>
                </a:solidFill>
                <a:highlight>
                  <a:srgbClr val="FFFFFF"/>
                </a:highlight>
                <a:latin typeface="-apple-system"/>
              </a:rPr>
              <a:t> - Return </a:t>
            </a:r>
            <a:r>
              <a:rPr lang="en-US" sz="2400" dirty="0">
                <a:solidFill>
                  <a:srgbClr val="FF0000"/>
                </a:solidFill>
                <a:highlight>
                  <a:srgbClr val="FFFFFF"/>
                </a:highlight>
                <a:latin typeface="-apple-system"/>
              </a:rPr>
              <a:t>iterators</a:t>
            </a:r>
            <a:r>
              <a:rPr lang="en-US" sz="2400" dirty="0">
                <a:solidFill>
                  <a:srgbClr val="121512"/>
                </a:solidFill>
                <a:highlight>
                  <a:srgbClr val="FFFFFF"/>
                </a:highlight>
                <a:latin typeface="-apple-system"/>
              </a:rPr>
              <a:t> pointing to the beginning and end of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r>
              <a:rPr lang="en-US" sz="2400" dirty="0">
                <a:solidFill>
                  <a:srgbClr val="121512"/>
                </a:solidFill>
                <a:highlight>
                  <a:srgbClr val="FFFFFF"/>
                </a:highlight>
                <a:latin typeface="-apple-system"/>
              </a:rPr>
              <a:t>, respectively, for iteration purposes</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clear()</a:t>
            </a:r>
            <a:r>
              <a:rPr lang="en-US" sz="2400" dirty="0">
                <a:solidFill>
                  <a:srgbClr val="121512"/>
                </a:solidFill>
                <a:highlight>
                  <a:srgbClr val="FFFFFF"/>
                </a:highlight>
                <a:latin typeface="-apple-system"/>
              </a:rPr>
              <a:t> - Removes all elements from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empty() </a:t>
            </a:r>
            <a:r>
              <a:rPr lang="en-US" sz="2400" dirty="0">
                <a:solidFill>
                  <a:srgbClr val="121512"/>
                </a:solidFill>
                <a:highlight>
                  <a:srgbClr val="FFFFFF"/>
                </a:highlight>
                <a:latin typeface="-apple-system"/>
              </a:rPr>
              <a:t>- Returns true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r>
              <a:rPr lang="en-US" sz="2400" dirty="0">
                <a:solidFill>
                  <a:srgbClr val="121512"/>
                </a:solidFill>
                <a:highlight>
                  <a:srgbClr val="FFFFFF"/>
                </a:highlight>
                <a:latin typeface="-apple-system"/>
              </a:rPr>
              <a:t> is empty, false otherwise</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insert(key, value)</a:t>
            </a:r>
            <a:r>
              <a:rPr lang="en-US" sz="2400" dirty="0">
                <a:solidFill>
                  <a:srgbClr val="121512"/>
                </a:solidFill>
                <a:highlight>
                  <a:srgbClr val="FFFFFF"/>
                </a:highlight>
                <a:latin typeface="-apple-system"/>
              </a:rPr>
              <a:t> - Inserts an element into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r>
              <a:rPr lang="en-US" sz="2400" dirty="0">
                <a:solidFill>
                  <a:srgbClr val="121512"/>
                </a:solidFill>
                <a:highlight>
                  <a:srgbClr val="FFFFFF"/>
                </a:highlight>
                <a:latin typeface="-apple-system"/>
              </a:rPr>
              <a:t> or updates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value</a:t>
            </a:r>
            <a:r>
              <a:rPr lang="en-US" sz="2400" dirty="0">
                <a:solidFill>
                  <a:srgbClr val="121512"/>
                </a:solidFill>
                <a:highlight>
                  <a:srgbClr val="FFFFFF"/>
                </a:highlight>
                <a:latin typeface="-apple-system"/>
              </a:rPr>
              <a:t>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already exists</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count(key)</a:t>
            </a:r>
            <a:r>
              <a:rPr lang="en-US" sz="2400" dirty="0">
                <a:solidFill>
                  <a:srgbClr val="121512"/>
                </a:solidFill>
                <a:highlight>
                  <a:srgbClr val="FFFFFF"/>
                </a:highlight>
                <a:latin typeface="-apple-system"/>
              </a:rPr>
              <a:t> - Returns the number of elements with a specific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(0 or 1 for </a:t>
            </a:r>
            <a:r>
              <a:rPr lang="en-US" sz="2400" dirty="0">
                <a:solidFill>
                  <a:srgbClr val="121512"/>
                </a:solidFill>
                <a:highlight>
                  <a:srgbClr val="FFFFFF"/>
                </a:highlight>
                <a:latin typeface="Courier New" panose="02070309020205020404" pitchFamily="49" charset="0"/>
                <a:cs typeface="Courier New" panose="02070309020205020404" pitchFamily="49" charset="0"/>
              </a:rPr>
              <a:t>std::map</a:t>
            </a:r>
            <a:r>
              <a:rPr lang="en-US" sz="2400" dirty="0">
                <a:solidFill>
                  <a:srgbClr val="121512"/>
                </a:solidFill>
                <a:highlight>
                  <a:srgbClr val="FFFFFF"/>
                </a:highlight>
                <a:latin typeface="-apple-system"/>
              </a:rPr>
              <a:t>)</a:t>
            </a:r>
          </a:p>
        </p:txBody>
      </p:sp>
      <p:sp>
        <p:nvSpPr>
          <p:cNvPr id="4" name="Slide Number Placeholder 3">
            <a:extLst>
              <a:ext uri="{FF2B5EF4-FFF2-40B4-BE49-F238E27FC236}">
                <a16:creationId xmlns:a16="http://schemas.microsoft.com/office/drawing/2014/main" id="{7F27615B-CD68-0AAD-4DF8-B4D58B0D422E}"/>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87</a:t>
            </a:fld>
            <a:endParaRPr lang="en-US" altLang="zh-TW" dirty="0"/>
          </a:p>
        </p:txBody>
      </p:sp>
    </p:spTree>
    <p:extLst>
      <p:ext uri="{BB962C8B-B14F-4D97-AF65-F5344CB8AC3E}">
        <p14:creationId xmlns:p14="http://schemas.microsoft.com/office/powerpoint/2010/main" val="41213693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299BB-3950-19D2-882E-B78947133BD2}"/>
              </a:ext>
            </a:extLst>
          </p:cNvPr>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s</a:t>
            </a:r>
            <a:r>
              <a:rPr lang="en-TW" b="1" dirty="0">
                <a:latin typeface="Courier New" panose="02070309020205020404" pitchFamily="49" charset="0"/>
                <a:cs typeface="Courier New" panose="02070309020205020404" pitchFamily="49" charset="0"/>
              </a:rPr>
              <a:t>td::map</a:t>
            </a:r>
          </a:p>
        </p:txBody>
      </p:sp>
      <p:sp>
        <p:nvSpPr>
          <p:cNvPr id="3" name="Text Placeholder 2">
            <a:extLst>
              <a:ext uri="{FF2B5EF4-FFF2-40B4-BE49-F238E27FC236}">
                <a16:creationId xmlns:a16="http://schemas.microsoft.com/office/drawing/2014/main" id="{49B703A8-F5BF-833A-927D-841AC968EE31}"/>
              </a:ext>
            </a:extLst>
          </p:cNvPr>
          <p:cNvSpPr>
            <a:spLocks noGrp="1"/>
          </p:cNvSpPr>
          <p:nvPr>
            <p:ph type="body" idx="1"/>
          </p:nvPr>
        </p:nvSpPr>
        <p:spPr/>
        <p:txBody>
          <a:bodyPr/>
          <a:lstStyle/>
          <a:p>
            <a:endParaRPr lang="en-TW"/>
          </a:p>
        </p:txBody>
      </p:sp>
      <p:sp>
        <p:nvSpPr>
          <p:cNvPr id="4" name="Slide Number Placeholder 3">
            <a:extLst>
              <a:ext uri="{FF2B5EF4-FFF2-40B4-BE49-F238E27FC236}">
                <a16:creationId xmlns:a16="http://schemas.microsoft.com/office/drawing/2014/main" id="{1D49944F-977A-307B-2964-A68126F7CCAD}"/>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88</a:t>
            </a:fld>
            <a:endParaRPr lang="en-US" altLang="zh-TW" dirty="0"/>
          </a:p>
        </p:txBody>
      </p:sp>
    </p:spTree>
    <p:extLst>
      <p:ext uri="{BB962C8B-B14F-4D97-AF65-F5344CB8AC3E}">
        <p14:creationId xmlns:p14="http://schemas.microsoft.com/office/powerpoint/2010/main" val="31514315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s</a:t>
            </a:r>
            <a:r>
              <a:rPr lang="en-TW" dirty="0">
                <a:latin typeface="Courier New" panose="02070309020205020404" pitchFamily="49" charset="0"/>
                <a:cs typeface="Courier New" panose="02070309020205020404" pitchFamily="49" charset="0"/>
              </a:rPr>
              <a:t>td::map</a:t>
            </a:r>
          </a:p>
        </p:txBody>
      </p:sp>
      <p:sp>
        <p:nvSpPr>
          <p:cNvPr id="3" name="Content Placeholder 2">
            <a:extLst>
              <a:ext uri="{FF2B5EF4-FFF2-40B4-BE49-F238E27FC236}">
                <a16:creationId xmlns:a16="http://schemas.microsoft.com/office/drawing/2014/main" id="{7AE912E8-5666-199D-E21D-55C921006E4D}"/>
              </a:ext>
            </a:extLst>
          </p:cNvPr>
          <p:cNvSpPr>
            <a:spLocks noGrp="1"/>
          </p:cNvSpPr>
          <p:nvPr>
            <p:ph idx="1"/>
          </p:nvPr>
        </p:nvSpPr>
        <p:spPr>
          <a:xfrm>
            <a:off x="664635" y="1467557"/>
            <a:ext cx="10075084" cy="1368366"/>
          </a:xfrm>
        </p:spPr>
        <p:txBody>
          <a:bodyPr>
            <a:normAutofit fontScale="92500"/>
          </a:bodyPr>
          <a:lstStyle/>
          <a:p>
            <a:r>
              <a:rPr lang="en-US" dirty="0">
                <a:solidFill>
                  <a:srgbClr val="0C0D0E"/>
                </a:solidFill>
                <a:highlight>
                  <a:srgbClr val="FFFFFF"/>
                </a:highlight>
                <a:latin typeface="Courier New" panose="02070309020205020404" pitchFamily="49" charset="0"/>
                <a:cs typeface="Courier New" panose="02070309020205020404" pitchFamily="49" charset="0"/>
              </a:rPr>
              <a:t>s</a:t>
            </a:r>
            <a:r>
              <a:rPr lang="en-US" b="0" i="0" dirty="0">
                <a:solidFill>
                  <a:srgbClr val="0C0D0E"/>
                </a:solidFill>
                <a:effectLst/>
                <a:highlight>
                  <a:srgbClr val="FFFFFF"/>
                </a:highlight>
                <a:latin typeface="Courier New" panose="02070309020205020404" pitchFamily="49" charset="0"/>
                <a:cs typeface="Courier New" panose="02070309020205020404" pitchFamily="49" charset="0"/>
              </a:rPr>
              <a:t>td::map</a:t>
            </a:r>
            <a:r>
              <a:rPr lang="en-US" b="0" i="0" dirty="0">
                <a:solidFill>
                  <a:srgbClr val="0C0D0E"/>
                </a:solidFill>
                <a:effectLst/>
                <a:highlight>
                  <a:srgbClr val="FFFFFF"/>
                </a:highlight>
                <a:latin typeface="-apple-system"/>
              </a:rPr>
              <a:t> </a:t>
            </a:r>
            <a:r>
              <a:rPr lang="en-US" b="0" i="0" dirty="0">
                <a:solidFill>
                  <a:srgbClr val="121512"/>
                </a:solidFill>
                <a:effectLst/>
                <a:highlight>
                  <a:srgbClr val="FFFFFF"/>
                </a:highlight>
                <a:latin typeface="-apple-system"/>
              </a:rPr>
              <a:t>is a standard template library (STL) container that represents an associative container. It stores elements formed by a combination of a key and a value, where each key is unique.</a:t>
            </a:r>
          </a:p>
          <a:p>
            <a:r>
              <a:rPr lang="en-US" dirty="0"/>
              <a:t>t</a:t>
            </a:r>
            <a:r>
              <a:rPr lang="en-TW" dirty="0"/>
              <a:t>emplate &amp; namespace</a:t>
            </a:r>
          </a:p>
        </p:txBody>
      </p:sp>
      <p:sp>
        <p:nvSpPr>
          <p:cNvPr id="4" name="TextBox 3">
            <a:extLst>
              <a:ext uri="{FF2B5EF4-FFF2-40B4-BE49-F238E27FC236}">
                <a16:creationId xmlns:a16="http://schemas.microsoft.com/office/drawing/2014/main" id="{183C196A-2C82-4B1A-6FDC-43C3322E597F}"/>
              </a:ext>
            </a:extLst>
          </p:cNvPr>
          <p:cNvSpPr txBox="1"/>
          <p:nvPr/>
        </p:nvSpPr>
        <p:spPr>
          <a:xfrm>
            <a:off x="664635" y="2586075"/>
            <a:ext cx="10075084" cy="4031873"/>
          </a:xfrm>
          <a:prstGeom prst="rect">
            <a:avLst/>
          </a:prstGeom>
          <a:noFill/>
        </p:spPr>
        <p:txBody>
          <a:bodyPr wrap="square">
            <a:spAutoFit/>
          </a:bodyPr>
          <a:lstStyle>
            <a:defPPr>
              <a:defRPr lang="en-US"/>
            </a:defPPr>
            <a:lvl1pPr>
              <a:defRPr sz="1600">
                <a:latin typeface="Courier New" panose="02070309020205020404" pitchFamily="49" charset="0"/>
                <a:cs typeface="Courier New" panose="02070309020205020404" pitchFamily="49" charset="0"/>
              </a:defRPr>
            </a:lvl1pPr>
          </a:lstStyle>
          <a:p>
            <a:r>
              <a:rPr lang="en-US" dirty="0">
                <a:solidFill>
                  <a:srgbClr val="0070C0"/>
                </a:solidFill>
              </a:rPr>
              <a:t>t</a:t>
            </a:r>
            <a:r>
              <a:rPr lang="en-TW" dirty="0">
                <a:solidFill>
                  <a:srgbClr val="0070C0"/>
                </a:solidFill>
              </a:rPr>
              <a:t>emplate</a:t>
            </a:r>
            <a:r>
              <a:rPr lang="en-TW" dirty="0"/>
              <a:t>&lt;</a:t>
            </a:r>
          </a:p>
          <a:p>
            <a:r>
              <a:rPr lang="en-TW" dirty="0"/>
              <a:t>    </a:t>
            </a:r>
            <a:r>
              <a:rPr lang="en-TW" dirty="0">
                <a:solidFill>
                  <a:srgbClr val="0070C0"/>
                </a:solidFill>
              </a:rPr>
              <a:t>class</a:t>
            </a:r>
            <a:r>
              <a:rPr lang="en-TW" dirty="0"/>
              <a:t> Key,</a:t>
            </a:r>
          </a:p>
          <a:p>
            <a:r>
              <a:rPr lang="en-TW" dirty="0"/>
              <a:t>    </a:t>
            </a:r>
            <a:r>
              <a:rPr lang="en-TW" dirty="0">
                <a:solidFill>
                  <a:srgbClr val="0070C0"/>
                </a:solidFill>
              </a:rPr>
              <a:t>class</a:t>
            </a:r>
            <a:r>
              <a:rPr lang="en-TW" dirty="0"/>
              <a:t> T,</a:t>
            </a:r>
          </a:p>
          <a:p>
            <a:r>
              <a:rPr lang="en-TW" dirty="0"/>
              <a:t>    </a:t>
            </a:r>
            <a:r>
              <a:rPr lang="en-TW" dirty="0">
                <a:solidFill>
                  <a:srgbClr val="0070C0"/>
                </a:solidFill>
              </a:rPr>
              <a:t>class</a:t>
            </a:r>
            <a:r>
              <a:rPr lang="en-TW" dirty="0"/>
              <a:t> Compare = std::less&lt;key&gt;,</a:t>
            </a:r>
          </a:p>
          <a:p>
            <a:r>
              <a:rPr lang="en-TW" dirty="0"/>
              <a:t>    </a:t>
            </a:r>
            <a:r>
              <a:rPr lang="en-TW" dirty="0">
                <a:solidFill>
                  <a:srgbClr val="0070C0"/>
                </a:solidFill>
              </a:rPr>
              <a:t>class</a:t>
            </a:r>
            <a:r>
              <a:rPr lang="en-TW" dirty="0"/>
              <a:t> Allocator = std:allocator&lt;std::pari&lt;const Key, T&gt;&gt;</a:t>
            </a:r>
          </a:p>
          <a:p>
            <a:r>
              <a:rPr lang="en-US" dirty="0"/>
              <a:t>&gt; </a:t>
            </a:r>
            <a:r>
              <a:rPr lang="en-US" dirty="0">
                <a:solidFill>
                  <a:srgbClr val="0070C0"/>
                </a:solidFill>
              </a:rPr>
              <a:t>c</a:t>
            </a:r>
            <a:r>
              <a:rPr lang="en-TW" dirty="0">
                <a:solidFill>
                  <a:srgbClr val="0070C0"/>
                </a:solidFill>
              </a:rPr>
              <a:t>lass</a:t>
            </a:r>
            <a:r>
              <a:rPr lang="en-TW" dirty="0"/>
              <a:t> map;</a:t>
            </a:r>
          </a:p>
          <a:p>
            <a:endParaRPr lang="en-TW" dirty="0"/>
          </a:p>
          <a:p>
            <a:r>
              <a:rPr lang="en-US" dirty="0">
                <a:solidFill>
                  <a:srgbClr val="0070C0"/>
                </a:solidFill>
              </a:rPr>
              <a:t>n</a:t>
            </a:r>
            <a:r>
              <a:rPr lang="en-TW" dirty="0">
                <a:solidFill>
                  <a:srgbClr val="0070C0"/>
                </a:solidFill>
              </a:rPr>
              <a:t>amespace</a:t>
            </a:r>
            <a:r>
              <a:rPr lang="en-TW" dirty="0"/>
              <a:t> pmr {</a:t>
            </a:r>
          </a:p>
          <a:p>
            <a:r>
              <a:rPr lang="en-TW" dirty="0"/>
              <a:t>    </a:t>
            </a:r>
            <a:r>
              <a:rPr lang="en-TW" dirty="0">
                <a:solidFill>
                  <a:srgbClr val="0070C0"/>
                </a:solidFill>
              </a:rPr>
              <a:t>template</a:t>
            </a:r>
            <a:r>
              <a:rPr lang="en-TW" dirty="0"/>
              <a:t>&lt;</a:t>
            </a:r>
          </a:p>
          <a:p>
            <a:r>
              <a:rPr lang="en-TW" dirty="0"/>
              <a:t>        </a:t>
            </a:r>
            <a:r>
              <a:rPr lang="en-TW" dirty="0">
                <a:solidFill>
                  <a:srgbClr val="0070C0"/>
                </a:solidFill>
              </a:rPr>
              <a:t>class</a:t>
            </a:r>
            <a:r>
              <a:rPr lang="en-TW" dirty="0"/>
              <a:t> Key,</a:t>
            </a:r>
          </a:p>
          <a:p>
            <a:r>
              <a:rPr lang="en-TW" dirty="0"/>
              <a:t>        </a:t>
            </a:r>
            <a:r>
              <a:rPr lang="en-TW" dirty="0">
                <a:solidFill>
                  <a:srgbClr val="0070C0"/>
                </a:solidFill>
              </a:rPr>
              <a:t>class</a:t>
            </a:r>
            <a:r>
              <a:rPr lang="en-TW" dirty="0"/>
              <a:t> T,</a:t>
            </a:r>
          </a:p>
          <a:p>
            <a:r>
              <a:rPr lang="en-TW" dirty="0"/>
              <a:t>        </a:t>
            </a:r>
            <a:r>
              <a:rPr lang="en-TW" dirty="0">
                <a:solidFill>
                  <a:srgbClr val="0070C0"/>
                </a:solidFill>
              </a:rPr>
              <a:t>class</a:t>
            </a:r>
            <a:r>
              <a:rPr lang="en-TW" dirty="0"/>
              <a:t> Compare = std::less&lt;key&gt;</a:t>
            </a:r>
          </a:p>
          <a:p>
            <a:r>
              <a:rPr lang="en-TW" dirty="0"/>
              <a:t>    &gt; </a:t>
            </a:r>
            <a:r>
              <a:rPr lang="en-TW" dirty="0">
                <a:solidFill>
                  <a:srgbClr val="0070C0"/>
                </a:solidFill>
              </a:rPr>
              <a:t>using</a:t>
            </a:r>
            <a:r>
              <a:rPr lang="en-TW" dirty="0"/>
              <a:t> map = std::map&lt;Key, T, Compare,</a:t>
            </a:r>
          </a:p>
          <a:p>
            <a:r>
              <a:rPr lang="en-TW" dirty="0"/>
              <a:t>                           std::pmr::plymorphic_allocator&lt;</a:t>
            </a:r>
          </a:p>
          <a:p>
            <a:r>
              <a:rPr lang="en-TW" dirty="0"/>
              <a:t>                               std::pair&lt;&lt;</a:t>
            </a:r>
            <a:r>
              <a:rPr lang="en-TW" dirty="0">
                <a:solidFill>
                  <a:srgbClr val="0070C0"/>
                </a:solidFill>
              </a:rPr>
              <a:t>const</a:t>
            </a:r>
            <a:r>
              <a:rPr lang="en-TW" dirty="0"/>
              <a:t> Key, T&gt;&gt;&gt;;</a:t>
            </a:r>
          </a:p>
          <a:p>
            <a:r>
              <a:rPr lang="en-TW" dirty="0"/>
              <a:t>}</a:t>
            </a:r>
          </a:p>
        </p:txBody>
      </p:sp>
      <p:sp>
        <p:nvSpPr>
          <p:cNvPr id="5" name="Slide Number Placeholder 3">
            <a:extLst>
              <a:ext uri="{FF2B5EF4-FFF2-40B4-BE49-F238E27FC236}">
                <a16:creationId xmlns:a16="http://schemas.microsoft.com/office/drawing/2014/main" id="{2F0B258D-5F6B-0BCB-3A55-C40BDBC0C01F}"/>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89</a:t>
            </a:fld>
            <a:endParaRPr lang="en-US" altLang="zh-TW" dirty="0"/>
          </a:p>
        </p:txBody>
      </p:sp>
    </p:spTree>
    <p:extLst>
      <p:ext uri="{BB962C8B-B14F-4D97-AF65-F5344CB8AC3E}">
        <p14:creationId xmlns:p14="http://schemas.microsoft.com/office/powerpoint/2010/main" val="37633688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s</a:t>
            </a:r>
            <a:r>
              <a:rPr lang="en-TW" dirty="0">
                <a:latin typeface="Courier New" panose="02070309020205020404" pitchFamily="49" charset="0"/>
                <a:cs typeface="Courier New" panose="02070309020205020404" pitchFamily="49" charset="0"/>
              </a:rPr>
              <a:t>td::map </a:t>
            </a:r>
            <a:r>
              <a:rPr lang="en-TW" dirty="0"/>
              <a:t>Constructors</a:t>
            </a:r>
          </a:p>
        </p:txBody>
      </p:sp>
      <p:sp>
        <p:nvSpPr>
          <p:cNvPr id="3" name="Content Placeholder 2">
            <a:extLst>
              <a:ext uri="{FF2B5EF4-FFF2-40B4-BE49-F238E27FC236}">
                <a16:creationId xmlns:a16="http://schemas.microsoft.com/office/drawing/2014/main" id="{7AE912E8-5666-199D-E21D-55C921006E4D}"/>
              </a:ext>
            </a:extLst>
          </p:cNvPr>
          <p:cNvSpPr>
            <a:spLocks noGrp="1"/>
          </p:cNvSpPr>
          <p:nvPr>
            <p:ph idx="1"/>
          </p:nvPr>
        </p:nvSpPr>
        <p:spPr/>
        <p:txBody>
          <a:bodyPr>
            <a:normAutofit/>
          </a:bodyPr>
          <a:lstStyle/>
          <a:p>
            <a:pPr marL="0" indent="0">
              <a:buNone/>
            </a:pPr>
            <a:r>
              <a:rPr lang="en-US" dirty="0">
                <a:solidFill>
                  <a:srgbClr val="121512"/>
                </a:solidFill>
                <a:highlight>
                  <a:srgbClr val="FFFFFF"/>
                </a:highlight>
                <a:latin typeface="Courier New" panose="02070309020205020404" pitchFamily="49" charset="0"/>
                <a:cs typeface="Courier New" panose="02070309020205020404" pitchFamily="49" charset="0"/>
              </a:rPr>
              <a:t>std::map&lt;Key, T, Comparator, Allocator&gt;::map</a:t>
            </a:r>
          </a:p>
          <a:p>
            <a:r>
              <a:rPr lang="en-US" dirty="0">
                <a:solidFill>
                  <a:srgbClr val="121512"/>
                </a:solidFill>
                <a:highlight>
                  <a:srgbClr val="FFFFFF"/>
                </a:highlight>
                <a:latin typeface="-apple-system"/>
              </a:rPr>
              <a:t>Constructors that use int as the Key:</a:t>
            </a:r>
            <a:endParaRPr lang="en-TW" dirty="0"/>
          </a:p>
        </p:txBody>
      </p:sp>
      <p:sp>
        <p:nvSpPr>
          <p:cNvPr id="4" name="TextBox 3">
            <a:extLst>
              <a:ext uri="{FF2B5EF4-FFF2-40B4-BE49-F238E27FC236}">
                <a16:creationId xmlns:a16="http://schemas.microsoft.com/office/drawing/2014/main" id="{183C196A-2C82-4B1A-6FDC-43C3322E597F}"/>
              </a:ext>
            </a:extLst>
          </p:cNvPr>
          <p:cNvSpPr txBox="1"/>
          <p:nvPr/>
        </p:nvSpPr>
        <p:spPr>
          <a:xfrm>
            <a:off x="664635" y="3080697"/>
            <a:ext cx="10075084" cy="3293209"/>
          </a:xfrm>
          <a:prstGeom prst="rect">
            <a:avLst/>
          </a:prstGeom>
          <a:noFill/>
        </p:spPr>
        <p:txBody>
          <a:bodyPr wrap="square">
            <a:spAutoFit/>
          </a:bodyPr>
          <a:lstStyle>
            <a:defPPr>
              <a:defRPr lang="en-US"/>
            </a:defPPr>
            <a:lvl1pPr>
              <a:defRPr sz="1600">
                <a:latin typeface="Courier New" panose="02070309020205020404" pitchFamily="49" charset="0"/>
                <a:cs typeface="Courier New" panose="02070309020205020404" pitchFamily="49" charset="0"/>
              </a:defRPr>
            </a:lvl1pPr>
          </a:lstStyle>
          <a:p>
            <a:r>
              <a:rPr lang="en-TW" dirty="0"/>
              <a:t>std::map&lt;int, std::string&gt; defMap;	     // Default constructor</a:t>
            </a:r>
          </a:p>
          <a:p>
            <a:r>
              <a:rPr lang="en-TW" dirty="0"/>
              <a:t>std::map&lt;int, std::string&gt; copMap(defMap); // Copy constructor</a:t>
            </a:r>
          </a:p>
          <a:p>
            <a:r>
              <a:rPr lang="en-TW" dirty="0"/>
              <a:t>std::map&lt;int, std::string&gt; movMap(std::move(defMap));</a:t>
            </a:r>
          </a:p>
          <a:p>
            <a:r>
              <a:rPr lang="en-TW" dirty="0"/>
              <a:t>				// Move constructor</a:t>
            </a:r>
          </a:p>
          <a:p>
            <a:r>
              <a:rPr lang="en-TW" dirty="0"/>
              <a:t>std::map&lt;int, std::string&gt; iniMap = {{int, std::string},…,{int, std::string}}; // Initializes with 'count' copies of 'value’</a:t>
            </a:r>
          </a:p>
          <a:p>
            <a:endParaRPr lang="en-TW" dirty="0"/>
          </a:p>
          <a:p>
            <a:r>
              <a:rPr lang="en-US" dirty="0"/>
              <a:t>s</a:t>
            </a:r>
            <a:r>
              <a:rPr lang="en-TW" dirty="0"/>
              <a:t>truct compFunc {</a:t>
            </a:r>
          </a:p>
          <a:p>
            <a:r>
              <a:rPr lang="en-TW" dirty="0"/>
              <a:t>    bool operator()(const int &amp;lhs, const int &amp;rhs) const{</a:t>
            </a:r>
          </a:p>
          <a:p>
            <a:r>
              <a:rPr lang="en-TW" dirty="0"/>
              <a:t>        return lhs &gt; rhs; // Reverse order</a:t>
            </a:r>
          </a:p>
          <a:p>
            <a:r>
              <a:rPr lang="en-TW" dirty="0"/>
              <a:t>};</a:t>
            </a:r>
          </a:p>
          <a:p>
            <a:r>
              <a:rPr lang="en-TW" dirty="0"/>
              <a:t>std::map&lt;int, std::string, &amp;compFunc&gt; comMap;</a:t>
            </a:r>
          </a:p>
          <a:p>
            <a:r>
              <a:rPr lang="en-TW" dirty="0"/>
              <a:t>				// Compare constructor</a:t>
            </a:r>
          </a:p>
        </p:txBody>
      </p:sp>
      <p:sp>
        <p:nvSpPr>
          <p:cNvPr id="5" name="Slide Number Placeholder 3">
            <a:extLst>
              <a:ext uri="{FF2B5EF4-FFF2-40B4-BE49-F238E27FC236}">
                <a16:creationId xmlns:a16="http://schemas.microsoft.com/office/drawing/2014/main" id="{35BB7C4F-D342-7E59-0310-244EF16087F2}"/>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90</a:t>
            </a:fld>
            <a:endParaRPr lang="en-US" altLang="zh-TW" dirty="0"/>
          </a:p>
        </p:txBody>
      </p:sp>
    </p:spTree>
    <p:extLst>
      <p:ext uri="{BB962C8B-B14F-4D97-AF65-F5344CB8AC3E}">
        <p14:creationId xmlns:p14="http://schemas.microsoft.com/office/powerpoint/2010/main" val="31726699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479D-A33E-6008-6984-7936D8197F39}"/>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m</a:t>
            </a:r>
            <a:r>
              <a:rPr lang="en-TW" dirty="0">
                <a:latin typeface="Courier New" panose="02070309020205020404" pitchFamily="49" charset="0"/>
                <a:cs typeface="Courier New" panose="02070309020205020404" pitchFamily="49" charset="0"/>
              </a:rPr>
              <a:t>ap </a:t>
            </a:r>
            <a:r>
              <a:rPr lang="en-TW" dirty="0"/>
              <a:t>Example Code</a:t>
            </a:r>
          </a:p>
        </p:txBody>
      </p:sp>
      <p:sp>
        <p:nvSpPr>
          <p:cNvPr id="5" name="TextBox 4">
            <a:extLst>
              <a:ext uri="{FF2B5EF4-FFF2-40B4-BE49-F238E27FC236}">
                <a16:creationId xmlns:a16="http://schemas.microsoft.com/office/drawing/2014/main" id="{3B64C1B8-2C14-68F5-4789-6A9E2416182A}"/>
              </a:ext>
            </a:extLst>
          </p:cNvPr>
          <p:cNvSpPr txBox="1"/>
          <p:nvPr/>
        </p:nvSpPr>
        <p:spPr>
          <a:xfrm>
            <a:off x="664635" y="1541814"/>
            <a:ext cx="10075084" cy="4832092"/>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#include &lt;iostream&gt;</a:t>
            </a:r>
          </a:p>
          <a:p>
            <a:r>
              <a:rPr lang="en-US" sz="1400" dirty="0">
                <a:latin typeface="Courier New" panose="02070309020205020404" pitchFamily="49" charset="0"/>
                <a:cs typeface="Courier New" panose="02070309020205020404" pitchFamily="49" charset="0"/>
              </a:rPr>
              <a:t>#include &lt;map&gt;</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int main() {</a:t>
            </a:r>
          </a:p>
          <a:p>
            <a:r>
              <a:rPr lang="en-US" sz="1400" dirty="0">
                <a:latin typeface="Courier New" panose="02070309020205020404" pitchFamily="49" charset="0"/>
                <a:cs typeface="Courier New" panose="02070309020205020404" pitchFamily="49" charset="0"/>
              </a:rPr>
              <a:t>    std::map&lt;std::string, int&gt; </a:t>
            </a:r>
            <a:r>
              <a:rPr lang="en-US" sz="1400" dirty="0" err="1">
                <a:latin typeface="Courier New" panose="02070309020205020404" pitchFamily="49" charset="0"/>
                <a:cs typeface="Courier New" panose="02070309020205020404" pitchFamily="49" charset="0"/>
              </a:rPr>
              <a:t>myMap</a:t>
            </a:r>
            <a:r>
              <a:rPr lang="en-US" sz="1400" dirty="0">
                <a:latin typeface="Courier New" panose="02070309020205020404" pitchFamily="49" charset="0"/>
                <a:cs typeface="Courier New" panose="02070309020205020404" pitchFamily="49" charset="0"/>
              </a:rPr>
              <a:t>;</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 Inserting values into the map</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myMap</a:t>
            </a:r>
            <a:r>
              <a:rPr lang="en-US" sz="1400" dirty="0">
                <a:latin typeface="Courier New" panose="02070309020205020404" pitchFamily="49" charset="0"/>
                <a:cs typeface="Courier New" panose="02070309020205020404" pitchFamily="49" charset="0"/>
              </a:rPr>
              <a:t>["John"] = 25;</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myMap</a:t>
            </a:r>
            <a:r>
              <a:rPr lang="en-US" sz="1400" dirty="0">
                <a:latin typeface="Courier New" panose="02070309020205020404" pitchFamily="49" charset="0"/>
                <a:cs typeface="Courier New" panose="02070309020205020404" pitchFamily="49" charset="0"/>
              </a:rPr>
              <a:t>["Alice"] = 30;</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myMap</a:t>
            </a:r>
            <a:r>
              <a:rPr lang="en-US" sz="1400" dirty="0">
                <a:latin typeface="Courier New" panose="02070309020205020404" pitchFamily="49" charset="0"/>
                <a:cs typeface="Courier New" panose="02070309020205020404" pitchFamily="49" charset="0"/>
              </a:rPr>
              <a:t>["Bob"] = 22;</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 Accessing values in the map</a:t>
            </a:r>
          </a:p>
          <a:p>
            <a:r>
              <a:rPr lang="en-US" sz="1400" dirty="0">
                <a:latin typeface="Courier New" panose="02070309020205020404" pitchFamily="49" charset="0"/>
                <a:cs typeface="Courier New" panose="02070309020205020404" pitchFamily="49" charset="0"/>
              </a:rPr>
              <a:t>    std::</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"Age of John: " &lt;&lt; </a:t>
            </a:r>
            <a:r>
              <a:rPr lang="en-US" sz="1400" dirty="0" err="1">
                <a:latin typeface="Courier New" panose="02070309020205020404" pitchFamily="49" charset="0"/>
                <a:cs typeface="Courier New" panose="02070309020205020404" pitchFamily="49" charset="0"/>
              </a:rPr>
              <a:t>myMap</a:t>
            </a:r>
            <a:r>
              <a:rPr lang="en-US" sz="1400" dirty="0">
                <a:latin typeface="Courier New" panose="02070309020205020404" pitchFamily="49" charset="0"/>
                <a:cs typeface="Courier New" panose="02070309020205020404" pitchFamily="49" charset="0"/>
              </a:rPr>
              <a:t>["John"] &lt;&lt; std::</a:t>
            </a:r>
            <a:r>
              <a:rPr lang="en-US" sz="1400" dirty="0" err="1">
                <a:latin typeface="Courier New" panose="02070309020205020404" pitchFamily="49" charset="0"/>
                <a:cs typeface="Courier New" panose="02070309020205020404" pitchFamily="49" charset="0"/>
              </a:rPr>
              <a:t>endl</a:t>
            </a:r>
            <a:r>
              <a:rPr lang="en-US" sz="1400" dirty="0">
                <a:latin typeface="Courier New" panose="02070309020205020404" pitchFamily="49" charset="0"/>
                <a:cs typeface="Courier New" panose="02070309020205020404" pitchFamily="49" charset="0"/>
              </a:rPr>
              <a:t>;</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 Iterating over the map</a:t>
            </a:r>
          </a:p>
          <a:p>
            <a:r>
              <a:rPr lang="en-US" sz="1400" dirty="0">
                <a:latin typeface="Courier New" panose="02070309020205020404" pitchFamily="49" charset="0"/>
                <a:cs typeface="Courier New" panose="02070309020205020404" pitchFamily="49" charset="0"/>
              </a:rPr>
              <a:t>    for (const auto&amp; pair : </a:t>
            </a:r>
            <a:r>
              <a:rPr lang="en-US" sz="1400" dirty="0" err="1">
                <a:latin typeface="Courier New" panose="02070309020205020404" pitchFamily="49" charset="0"/>
                <a:cs typeface="Courier New" panose="02070309020205020404" pitchFamily="49" charset="0"/>
              </a:rPr>
              <a:t>myMap</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std::</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a:t>
            </a:r>
            <a:r>
              <a:rPr lang="en-US" sz="1400" dirty="0" err="1">
                <a:latin typeface="Courier New" panose="02070309020205020404" pitchFamily="49" charset="0"/>
                <a:cs typeface="Courier New" panose="02070309020205020404" pitchFamily="49" charset="0"/>
              </a:rPr>
              <a:t>pair.first</a:t>
            </a:r>
            <a:r>
              <a:rPr lang="en-US" sz="1400" dirty="0">
                <a:latin typeface="Courier New" panose="02070309020205020404" pitchFamily="49" charset="0"/>
                <a:cs typeface="Courier New" panose="02070309020205020404" pitchFamily="49" charset="0"/>
              </a:rPr>
              <a:t> &lt;&lt; ": " &lt;&lt; </a:t>
            </a:r>
            <a:r>
              <a:rPr lang="en-US" sz="1400" dirty="0" err="1">
                <a:latin typeface="Courier New" panose="02070309020205020404" pitchFamily="49" charset="0"/>
                <a:cs typeface="Courier New" panose="02070309020205020404" pitchFamily="49" charset="0"/>
              </a:rPr>
              <a:t>pair.second</a:t>
            </a:r>
            <a:r>
              <a:rPr lang="en-US" sz="1400" dirty="0">
                <a:latin typeface="Courier New" panose="02070309020205020404" pitchFamily="49" charset="0"/>
                <a:cs typeface="Courier New" panose="02070309020205020404" pitchFamily="49" charset="0"/>
              </a:rPr>
              <a:t> &lt;&lt; std::</a:t>
            </a:r>
            <a:r>
              <a:rPr lang="en-US" sz="1400" dirty="0" err="1">
                <a:latin typeface="Courier New" panose="02070309020205020404" pitchFamily="49" charset="0"/>
                <a:cs typeface="Courier New" panose="02070309020205020404" pitchFamily="49" charset="0"/>
              </a:rPr>
              <a:t>endl</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return 0;</a:t>
            </a:r>
          </a:p>
          <a:p>
            <a:r>
              <a:rPr lang="en-US" sz="1400" dirty="0">
                <a:latin typeface="Courier New" panose="02070309020205020404" pitchFamily="49" charset="0"/>
                <a:cs typeface="Courier New" panose="02070309020205020404" pitchFamily="49" charset="0"/>
              </a:rPr>
              <a:t>}</a:t>
            </a:r>
          </a:p>
          <a:p>
            <a:endParaRPr lang="en-TW" sz="14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882D228B-FF7F-09C8-EFF0-995A5E58DDDF}"/>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91</a:t>
            </a:fld>
            <a:endParaRPr lang="en-US" altLang="zh-TW" dirty="0"/>
          </a:p>
        </p:txBody>
      </p:sp>
    </p:spTree>
    <p:extLst>
      <p:ext uri="{BB962C8B-B14F-4D97-AF65-F5344CB8AC3E}">
        <p14:creationId xmlns:p14="http://schemas.microsoft.com/office/powerpoint/2010/main" val="1863555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3429-2B0B-BF70-BD5A-4899B8B9AC19}"/>
              </a:ext>
            </a:extLst>
          </p:cNvPr>
          <p:cNvSpPr>
            <a:spLocks noGrp="1"/>
          </p:cNvSpPr>
          <p:nvPr>
            <p:ph type="title"/>
          </p:nvPr>
        </p:nvSpPr>
        <p:spPr/>
        <p:txBody>
          <a:bodyPr/>
          <a:lstStyle/>
          <a:p>
            <a:r>
              <a:rPr lang="en-TW" dirty="0"/>
              <a:t>Commonly used </a:t>
            </a:r>
            <a:r>
              <a:rPr lang="en-TW" dirty="0">
                <a:latin typeface="Courier New" panose="02070309020205020404" pitchFamily="49" charset="0"/>
                <a:cs typeface="Courier New" panose="02070309020205020404" pitchFamily="49" charset="0"/>
              </a:rPr>
              <a:t>map</a:t>
            </a:r>
            <a:r>
              <a:rPr lang="en-TW" dirty="0"/>
              <a:t> functions (1)</a:t>
            </a:r>
          </a:p>
        </p:txBody>
      </p:sp>
      <p:sp>
        <p:nvSpPr>
          <p:cNvPr id="3" name="Content Placeholder 2">
            <a:extLst>
              <a:ext uri="{FF2B5EF4-FFF2-40B4-BE49-F238E27FC236}">
                <a16:creationId xmlns:a16="http://schemas.microsoft.com/office/drawing/2014/main" id="{479E7791-2630-A073-E135-49EF88FB1780}"/>
              </a:ext>
            </a:extLst>
          </p:cNvPr>
          <p:cNvSpPr>
            <a:spLocks noGrp="1"/>
          </p:cNvSpPr>
          <p:nvPr>
            <p:ph idx="1"/>
          </p:nvPr>
        </p:nvSpPr>
        <p:spPr/>
        <p:txBody>
          <a:bodyPr>
            <a:normAutofit lnSpcReduction="10000"/>
          </a:bodyPr>
          <a:lstStyle/>
          <a:p>
            <a:r>
              <a:rPr lang="en-US" sz="2400" dirty="0">
                <a:latin typeface="Courier New" panose="02070309020205020404" pitchFamily="49" charset="0"/>
                <a:cs typeface="Courier New" panose="02070309020205020404" pitchFamily="49" charset="0"/>
              </a:rPr>
              <a:t>operator[key]</a:t>
            </a:r>
            <a:r>
              <a:rPr lang="en-TW" sz="2400" dirty="0"/>
              <a:t> - </a:t>
            </a:r>
            <a:r>
              <a:rPr lang="en-US" sz="2400" dirty="0">
                <a:solidFill>
                  <a:srgbClr val="121512"/>
                </a:solidFill>
                <a:highlight>
                  <a:srgbClr val="FFFFFF"/>
                </a:highlight>
                <a:latin typeface="-apple-system"/>
              </a:rPr>
              <a:t>Accesses or assigns values with a specified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doesn't exist, it inserts a new element</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find(key)</a:t>
            </a:r>
            <a:r>
              <a:rPr lang="en-US" sz="2400" dirty="0">
                <a:solidFill>
                  <a:srgbClr val="121512"/>
                </a:solidFill>
                <a:highlight>
                  <a:srgbClr val="FFFFFF"/>
                </a:highlight>
                <a:latin typeface="-apple-system"/>
              </a:rPr>
              <a:t> - Searches the map for an element with a specified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and returns an </a:t>
            </a:r>
            <a:r>
              <a:rPr lang="en-US" sz="2400" dirty="0">
                <a:solidFill>
                  <a:srgbClr val="FF0000"/>
                </a:solidFill>
                <a:highlight>
                  <a:srgbClr val="FFFFFF"/>
                </a:highlight>
                <a:latin typeface="-apple-system"/>
              </a:rPr>
              <a:t>iterator</a:t>
            </a:r>
            <a:r>
              <a:rPr lang="en-US" sz="2400" dirty="0">
                <a:solidFill>
                  <a:srgbClr val="121512"/>
                </a:solidFill>
                <a:highlight>
                  <a:srgbClr val="FFFFFF"/>
                </a:highlight>
                <a:latin typeface="-apple-system"/>
              </a:rPr>
              <a:t> to it.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is not found, it returns the end iterator</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erase(key)</a:t>
            </a:r>
            <a:r>
              <a:rPr lang="en-US" sz="2400" dirty="0">
                <a:solidFill>
                  <a:srgbClr val="121512"/>
                </a:solidFill>
                <a:highlight>
                  <a:srgbClr val="FFFFFF"/>
                </a:highlight>
                <a:latin typeface="-apple-system"/>
              </a:rPr>
              <a:t> - Removes an element from the map specified by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or an </a:t>
            </a:r>
            <a:r>
              <a:rPr lang="en-US" sz="2400" dirty="0">
                <a:solidFill>
                  <a:srgbClr val="FF0000"/>
                </a:solidFill>
                <a:highlight>
                  <a:srgbClr val="FFFFFF"/>
                </a:highlight>
                <a:latin typeface="-apple-system"/>
              </a:rPr>
              <a:t>iterator</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at(key)</a:t>
            </a:r>
            <a:r>
              <a:rPr lang="en-US" sz="2400" dirty="0">
                <a:solidFill>
                  <a:srgbClr val="121512"/>
                </a:solidFill>
                <a:highlight>
                  <a:srgbClr val="FFFFFF"/>
                </a:highlight>
                <a:latin typeface="-apple-system"/>
              </a:rPr>
              <a:t> - Accesses the element at a specified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and throws an </a:t>
            </a:r>
            <a:r>
              <a:rPr lang="en-US" sz="2400" dirty="0" err="1">
                <a:solidFill>
                  <a:srgbClr val="121512"/>
                </a:solidFill>
                <a:highlight>
                  <a:srgbClr val="FFFFFF"/>
                </a:highlight>
                <a:latin typeface="-apple-system"/>
              </a:rPr>
              <a:t>out_of_range</a:t>
            </a:r>
            <a:r>
              <a:rPr lang="en-US" sz="2400" dirty="0">
                <a:solidFill>
                  <a:srgbClr val="121512"/>
                </a:solidFill>
                <a:highlight>
                  <a:srgbClr val="FFFFFF"/>
                </a:highlight>
                <a:latin typeface="-apple-system"/>
              </a:rPr>
              <a:t> exception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is not found</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size()</a:t>
            </a:r>
            <a:r>
              <a:rPr lang="en-US" sz="2400" dirty="0">
                <a:solidFill>
                  <a:srgbClr val="121512"/>
                </a:solidFill>
                <a:highlight>
                  <a:srgbClr val="FFFFFF"/>
                </a:highlight>
                <a:latin typeface="-apple-system"/>
              </a:rPr>
              <a:t> - Returns the number of elements in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p>
        </p:txBody>
      </p:sp>
      <p:sp>
        <p:nvSpPr>
          <p:cNvPr id="4" name="Slide Number Placeholder 3">
            <a:extLst>
              <a:ext uri="{FF2B5EF4-FFF2-40B4-BE49-F238E27FC236}">
                <a16:creationId xmlns:a16="http://schemas.microsoft.com/office/drawing/2014/main" id="{7770D15A-AD8F-D165-48D4-C51B5B8928E0}"/>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92</a:t>
            </a:fld>
            <a:endParaRPr lang="en-US" altLang="zh-TW" dirty="0"/>
          </a:p>
        </p:txBody>
      </p:sp>
    </p:spTree>
    <p:extLst>
      <p:ext uri="{BB962C8B-B14F-4D97-AF65-F5344CB8AC3E}">
        <p14:creationId xmlns:p14="http://schemas.microsoft.com/office/powerpoint/2010/main" val="590407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3429-2B0B-BF70-BD5A-4899B8B9AC19}"/>
              </a:ext>
            </a:extLst>
          </p:cNvPr>
          <p:cNvSpPr>
            <a:spLocks noGrp="1"/>
          </p:cNvSpPr>
          <p:nvPr>
            <p:ph type="title"/>
          </p:nvPr>
        </p:nvSpPr>
        <p:spPr/>
        <p:txBody>
          <a:bodyPr/>
          <a:lstStyle/>
          <a:p>
            <a:r>
              <a:rPr lang="en-TW" dirty="0"/>
              <a:t>Commonly used </a:t>
            </a:r>
            <a:r>
              <a:rPr lang="en-TW" dirty="0">
                <a:latin typeface="Courier New" panose="02070309020205020404" pitchFamily="49" charset="0"/>
                <a:cs typeface="Courier New" panose="02070309020205020404" pitchFamily="49" charset="0"/>
              </a:rPr>
              <a:t>map</a:t>
            </a:r>
            <a:r>
              <a:rPr lang="en-TW" dirty="0"/>
              <a:t> functions (2)</a:t>
            </a:r>
          </a:p>
        </p:txBody>
      </p:sp>
      <p:sp>
        <p:nvSpPr>
          <p:cNvPr id="3" name="Content Placeholder 2">
            <a:extLst>
              <a:ext uri="{FF2B5EF4-FFF2-40B4-BE49-F238E27FC236}">
                <a16:creationId xmlns:a16="http://schemas.microsoft.com/office/drawing/2014/main" id="{479E7791-2630-A073-E135-49EF88FB1780}"/>
              </a:ext>
            </a:extLst>
          </p:cNvPr>
          <p:cNvSpPr>
            <a:spLocks noGrp="1"/>
          </p:cNvSpPr>
          <p:nvPr>
            <p:ph idx="1"/>
          </p:nvPr>
        </p:nvSpPr>
        <p:spPr/>
        <p:txBody>
          <a:bodyPr>
            <a:noAutofit/>
          </a:bodyPr>
          <a:lstStyle/>
          <a:p>
            <a:r>
              <a:rPr lang="en-US" sz="2400" dirty="0">
                <a:solidFill>
                  <a:srgbClr val="121512"/>
                </a:solidFill>
                <a:highlight>
                  <a:srgbClr val="FFFFFF"/>
                </a:highlight>
                <a:latin typeface="Courier New" panose="02070309020205020404" pitchFamily="49" charset="0"/>
                <a:cs typeface="Courier New" panose="02070309020205020404" pitchFamily="49" charset="0"/>
              </a:rPr>
              <a:t>begin(),end()</a:t>
            </a:r>
            <a:r>
              <a:rPr lang="en-US" sz="2400" dirty="0">
                <a:solidFill>
                  <a:srgbClr val="121512"/>
                </a:solidFill>
                <a:highlight>
                  <a:srgbClr val="FFFFFF"/>
                </a:highlight>
                <a:latin typeface="-apple-system"/>
              </a:rPr>
              <a:t> - Return </a:t>
            </a:r>
            <a:r>
              <a:rPr lang="en-US" sz="2400" dirty="0">
                <a:solidFill>
                  <a:srgbClr val="FF0000"/>
                </a:solidFill>
                <a:highlight>
                  <a:srgbClr val="FFFFFF"/>
                </a:highlight>
                <a:latin typeface="-apple-system"/>
              </a:rPr>
              <a:t>iterators</a:t>
            </a:r>
            <a:r>
              <a:rPr lang="en-US" sz="2400" dirty="0">
                <a:solidFill>
                  <a:srgbClr val="121512"/>
                </a:solidFill>
                <a:highlight>
                  <a:srgbClr val="FFFFFF"/>
                </a:highlight>
                <a:latin typeface="-apple-system"/>
              </a:rPr>
              <a:t> pointing to the beginning and end of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r>
              <a:rPr lang="en-US" sz="2400" dirty="0">
                <a:solidFill>
                  <a:srgbClr val="121512"/>
                </a:solidFill>
                <a:highlight>
                  <a:srgbClr val="FFFFFF"/>
                </a:highlight>
                <a:latin typeface="-apple-system"/>
              </a:rPr>
              <a:t>, respectively, for iteration purposes</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clear()</a:t>
            </a:r>
            <a:r>
              <a:rPr lang="en-US" sz="2400" dirty="0">
                <a:solidFill>
                  <a:srgbClr val="121512"/>
                </a:solidFill>
                <a:highlight>
                  <a:srgbClr val="FFFFFF"/>
                </a:highlight>
                <a:latin typeface="-apple-system"/>
              </a:rPr>
              <a:t> - Removes all elements from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empty() </a:t>
            </a:r>
            <a:r>
              <a:rPr lang="en-US" sz="2400" dirty="0">
                <a:solidFill>
                  <a:srgbClr val="121512"/>
                </a:solidFill>
                <a:highlight>
                  <a:srgbClr val="FFFFFF"/>
                </a:highlight>
                <a:latin typeface="-apple-system"/>
              </a:rPr>
              <a:t>- Returns true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r>
              <a:rPr lang="en-US" sz="2400" dirty="0">
                <a:solidFill>
                  <a:srgbClr val="121512"/>
                </a:solidFill>
                <a:highlight>
                  <a:srgbClr val="FFFFFF"/>
                </a:highlight>
                <a:latin typeface="-apple-system"/>
              </a:rPr>
              <a:t> is empty, false otherwise</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insert(key, value)</a:t>
            </a:r>
            <a:r>
              <a:rPr lang="en-US" sz="2400" dirty="0">
                <a:solidFill>
                  <a:srgbClr val="121512"/>
                </a:solidFill>
                <a:highlight>
                  <a:srgbClr val="FFFFFF"/>
                </a:highlight>
                <a:latin typeface="-apple-system"/>
              </a:rPr>
              <a:t> - Inserts an element into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map</a:t>
            </a:r>
            <a:r>
              <a:rPr lang="en-US" sz="2400" dirty="0">
                <a:solidFill>
                  <a:srgbClr val="121512"/>
                </a:solidFill>
                <a:highlight>
                  <a:srgbClr val="FFFFFF"/>
                </a:highlight>
                <a:latin typeface="-apple-system"/>
              </a:rPr>
              <a:t> or updates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value</a:t>
            </a:r>
            <a:r>
              <a:rPr lang="en-US" sz="2400" dirty="0">
                <a:solidFill>
                  <a:srgbClr val="121512"/>
                </a:solidFill>
                <a:highlight>
                  <a:srgbClr val="FFFFFF"/>
                </a:highlight>
                <a:latin typeface="-apple-system"/>
              </a:rPr>
              <a:t> if the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already exists</a:t>
            </a:r>
          </a:p>
          <a:p>
            <a:r>
              <a:rPr lang="en-US" sz="2400" dirty="0">
                <a:solidFill>
                  <a:srgbClr val="121512"/>
                </a:solidFill>
                <a:highlight>
                  <a:srgbClr val="FFFFFF"/>
                </a:highlight>
                <a:latin typeface="Courier New" panose="02070309020205020404" pitchFamily="49" charset="0"/>
                <a:cs typeface="Courier New" panose="02070309020205020404" pitchFamily="49" charset="0"/>
              </a:rPr>
              <a:t>count(key)</a:t>
            </a:r>
            <a:r>
              <a:rPr lang="en-US" sz="2400" dirty="0">
                <a:solidFill>
                  <a:srgbClr val="121512"/>
                </a:solidFill>
                <a:highlight>
                  <a:srgbClr val="FFFFFF"/>
                </a:highlight>
                <a:latin typeface="-apple-system"/>
              </a:rPr>
              <a:t> - Returns the number of elements with a specific </a:t>
            </a:r>
            <a:r>
              <a:rPr lang="en-US" sz="2400" dirty="0">
                <a:solidFill>
                  <a:srgbClr val="121512"/>
                </a:solidFill>
                <a:highlight>
                  <a:srgbClr val="FFFFFF"/>
                </a:highlight>
                <a:latin typeface="Courier New" panose="02070309020205020404" pitchFamily="49" charset="0"/>
                <a:cs typeface="Courier New" panose="02070309020205020404" pitchFamily="49" charset="0"/>
              </a:rPr>
              <a:t>key</a:t>
            </a:r>
            <a:r>
              <a:rPr lang="en-US" sz="2400" dirty="0">
                <a:solidFill>
                  <a:srgbClr val="121512"/>
                </a:solidFill>
                <a:highlight>
                  <a:srgbClr val="FFFFFF"/>
                </a:highlight>
                <a:latin typeface="-apple-system"/>
              </a:rPr>
              <a:t> (0 or 1 for </a:t>
            </a:r>
            <a:r>
              <a:rPr lang="en-US" sz="2400" dirty="0">
                <a:solidFill>
                  <a:srgbClr val="121512"/>
                </a:solidFill>
                <a:highlight>
                  <a:srgbClr val="FFFFFF"/>
                </a:highlight>
                <a:latin typeface="Courier New" panose="02070309020205020404" pitchFamily="49" charset="0"/>
                <a:cs typeface="Courier New" panose="02070309020205020404" pitchFamily="49" charset="0"/>
              </a:rPr>
              <a:t>std::map</a:t>
            </a:r>
            <a:r>
              <a:rPr lang="en-US" sz="2400" dirty="0">
                <a:solidFill>
                  <a:srgbClr val="121512"/>
                </a:solidFill>
                <a:highlight>
                  <a:srgbClr val="FFFFFF"/>
                </a:highlight>
                <a:latin typeface="-apple-system"/>
              </a:rPr>
              <a:t>)</a:t>
            </a:r>
          </a:p>
        </p:txBody>
      </p:sp>
      <p:sp>
        <p:nvSpPr>
          <p:cNvPr id="4" name="Slide Number Placeholder 3">
            <a:extLst>
              <a:ext uri="{FF2B5EF4-FFF2-40B4-BE49-F238E27FC236}">
                <a16:creationId xmlns:a16="http://schemas.microsoft.com/office/drawing/2014/main" id="{302CFE9A-30A3-118D-D89B-B72292488C14}"/>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93</a:t>
            </a:fld>
            <a:endParaRPr lang="en-US" altLang="zh-TW" dirty="0"/>
          </a:p>
        </p:txBody>
      </p:sp>
    </p:spTree>
    <p:extLst>
      <p:ext uri="{BB962C8B-B14F-4D97-AF65-F5344CB8AC3E}">
        <p14:creationId xmlns:p14="http://schemas.microsoft.com/office/powerpoint/2010/main" val="42922342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9</a:t>
            </a:r>
            <a:br>
              <a:rPr lang="en-US" altLang="zh-TW" sz="3600" dirty="0"/>
            </a:br>
            <a:r>
              <a:rPr lang="en-US" altLang="zh-TW" sz="3600" dirty="0"/>
              <a:t>make</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r>
              <a:rPr lang="en-US" altLang="zh-TW" sz="2000" dirty="0"/>
              <a:t>System Build Helper</a:t>
            </a:r>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94</a:t>
            </a:fld>
            <a:endParaRPr lang="en-US" altLang="zh-TW"/>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2866753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dirty="0"/>
              <a:t>A scripting language that can describe the dependency between files, for example, executable and object file, then object file and source file. Then, to execute the given command, </a:t>
            </a:r>
            <a:r>
              <a:rPr lang="en-US" altLang="zh-TW" dirty="0">
                <a:latin typeface="Courier New" panose="02070309020205020404" pitchFamily="49" charset="0"/>
                <a:cs typeface="Courier New" panose="02070309020205020404" pitchFamily="49" charset="0"/>
              </a:rPr>
              <a:t>g++</a:t>
            </a:r>
            <a:r>
              <a:rPr lang="en-US" altLang="zh-TW" dirty="0"/>
              <a:t>, for instance, depends on the time stamp difference.</a:t>
            </a:r>
          </a:p>
          <a:p>
            <a:r>
              <a:rPr lang="en-US" altLang="zh-TW" dirty="0"/>
              <a:t>Say, the source file has a later timestamp than its object or executable files; then the compilation will execute. Otherwise, do nothing when the source file is older than the object or executable files, meaning after the last compilation, the source file has not been modified.</a:t>
            </a:r>
            <a:endParaRPr lang="zh-TW" altLang="en-US" dirty="0"/>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95</a:t>
            </a:fld>
            <a:endParaRPr lang="en-US" altLang="zh-TW"/>
          </a:p>
        </p:txBody>
      </p:sp>
      <p:sp>
        <p:nvSpPr>
          <p:cNvPr id="4" name="標題 3"/>
          <p:cNvSpPr>
            <a:spLocks noGrp="1"/>
          </p:cNvSpPr>
          <p:nvPr>
            <p:ph type="title"/>
          </p:nvPr>
        </p:nvSpPr>
        <p:spPr/>
        <p:txBody>
          <a:bodyPr/>
          <a:lstStyle/>
          <a:p>
            <a:r>
              <a:rPr lang="en-US" altLang="zh-TW" dirty="0"/>
              <a:t>What Is make?</a:t>
            </a:r>
            <a:endParaRPr lang="zh-TW" altLang="en-US" dirty="0"/>
          </a:p>
        </p:txBody>
      </p:sp>
    </p:spTree>
    <p:extLst>
      <p:ext uri="{BB962C8B-B14F-4D97-AF65-F5344CB8AC3E}">
        <p14:creationId xmlns:p14="http://schemas.microsoft.com/office/powerpoint/2010/main" val="23043426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Example</a:t>
            </a:r>
            <a:endParaRPr lang="zh-TW" altLang="en-US" dirty="0"/>
          </a:p>
        </p:txBody>
      </p:sp>
      <p:sp>
        <p:nvSpPr>
          <p:cNvPr id="2" name="內容版面配置區 1"/>
          <p:cNvSpPr>
            <a:spLocks noGrp="1"/>
          </p:cNvSpPr>
          <p:nvPr>
            <p:ph idx="1"/>
          </p:nvPr>
        </p:nvSpPr>
        <p:spPr>
          <a:xfrm>
            <a:off x="664635" y="1377245"/>
            <a:ext cx="10075084" cy="5215466"/>
          </a:xfrm>
        </p:spPr>
        <p:txBody>
          <a:bodyPr>
            <a:normAutofit fontScale="77500" lnSpcReduction="20000"/>
          </a:bodyPr>
          <a:lstStyle/>
          <a:p>
            <a:pPr>
              <a:spcBef>
                <a:spcPts val="200"/>
              </a:spcBef>
            </a:pPr>
            <a:r>
              <a:rPr lang="en-US" altLang="zh-TW" dirty="0"/>
              <a:t>Take the </a:t>
            </a:r>
            <a:r>
              <a:rPr lang="en-US" altLang="zh-TW" dirty="0">
                <a:latin typeface="Courier New" panose="02070309020205020404" pitchFamily="49" charset="0"/>
                <a:cs typeface="Courier New" panose="02070309020205020404" pitchFamily="49" charset="0"/>
              </a:rPr>
              <a:t>Animal</a:t>
            </a:r>
            <a:r>
              <a:rPr lang="en-US" altLang="zh-TW" dirty="0"/>
              <a:t> classes as and example, we need to compile </a:t>
            </a:r>
            <a:r>
              <a:rPr lang="en-US" altLang="zh-TW" dirty="0">
                <a:latin typeface="Courier New" panose="02070309020205020404" pitchFamily="49" charset="0"/>
                <a:cs typeface="Courier New" panose="02070309020205020404" pitchFamily="49" charset="0"/>
              </a:rPr>
              <a:t>Animal.cpp</a:t>
            </a:r>
            <a:r>
              <a:rPr lang="en-US" altLang="zh-TW" dirty="0"/>
              <a:t>, </a:t>
            </a:r>
            <a:r>
              <a:rPr lang="en-US" altLang="zh-TW" dirty="0">
                <a:latin typeface="Courier New" panose="02070309020205020404" pitchFamily="49" charset="0"/>
                <a:cs typeface="Courier New" panose="02070309020205020404" pitchFamily="49" charset="0"/>
              </a:rPr>
              <a:t>Dog.cpp</a:t>
            </a:r>
            <a:r>
              <a:rPr lang="en-US" altLang="zh-TW" dirty="0"/>
              <a:t>, </a:t>
            </a:r>
            <a:r>
              <a:rPr lang="en-US" altLang="zh-TW" dirty="0">
                <a:latin typeface="Courier New" panose="02070309020205020404" pitchFamily="49" charset="0"/>
                <a:cs typeface="Courier New" panose="02070309020205020404" pitchFamily="49" charset="0"/>
              </a:rPr>
              <a:t>Wolf.cpp</a:t>
            </a:r>
            <a:r>
              <a:rPr lang="en-US" altLang="zh-TW" dirty="0"/>
              <a:t> and </a:t>
            </a:r>
            <a:r>
              <a:rPr lang="en-US" altLang="zh-TW" dirty="0">
                <a:latin typeface="Courier New" panose="02070309020205020404" pitchFamily="49" charset="0"/>
                <a:cs typeface="Courier New" panose="02070309020205020404" pitchFamily="49" charset="0"/>
              </a:rPr>
              <a:t>main.cpp</a:t>
            </a:r>
            <a:r>
              <a:rPr lang="en-US" altLang="zh-TW" dirty="0"/>
              <a:t> then link into an executable</a:t>
            </a:r>
          </a:p>
          <a:p>
            <a:pPr marL="109728" indent="0">
              <a:spcBef>
                <a:spcPts val="200"/>
              </a:spcBef>
              <a:buNone/>
            </a:pPr>
            <a:endParaRPr lang="en-US" altLang="zh-TW"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CC = g++</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SRC = Animal.cpp Dog.cpp Wolf.cpp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OBJ = ${SRC:.</a:t>
            </a:r>
            <a:r>
              <a:rPr lang="en-US" altLang="zh-TW" dirty="0" err="1">
                <a:latin typeface="Courier New" panose="02070309020205020404" pitchFamily="49" charset="0"/>
                <a:cs typeface="Courier New" panose="02070309020205020404" pitchFamily="49" charset="0"/>
              </a:rPr>
              <a:t>cpp</a:t>
            </a:r>
            <a:r>
              <a:rPr lang="en-US" altLang="zh-TW" dirty="0">
                <a:latin typeface="Courier New" panose="02070309020205020404" pitchFamily="49" charset="0"/>
                <a:cs typeface="Courier New" panose="02070309020205020404" pitchFamily="49" charset="0"/>
              </a:rPr>
              <a:t>=.o} </a:t>
            </a:r>
            <a:r>
              <a:rPr lang="en-US" altLang="zh-TW" dirty="0" err="1">
                <a:latin typeface="Courier New" panose="02070309020205020404" pitchFamily="49" charset="0"/>
                <a:cs typeface="Courier New" panose="02070309020205020404" pitchFamily="49" charset="0"/>
              </a:rPr>
              <a:t>main.o</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TARGET = animal</a:t>
            </a:r>
            <a:endParaRPr lang="zh-TW" altLang="en-US" dirty="0">
              <a:latin typeface="Courier New" panose="02070309020205020404" pitchFamily="49" charset="0"/>
              <a:cs typeface="Courier New" panose="02070309020205020404" pitchFamily="49" charset="0"/>
            </a:endParaRPr>
          </a:p>
          <a:p>
            <a:pPr>
              <a:spcBef>
                <a:spcPts val="200"/>
              </a:spcBef>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all: $(TARGET)</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err="1">
                <a:latin typeface="Courier New" panose="02070309020205020404" pitchFamily="49" charset="0"/>
                <a:cs typeface="Courier New" panose="02070309020205020404" pitchFamily="49" charset="0"/>
              </a:rPr>
              <a:t>Animal.o</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Animal.h</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Animal.cpp</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$(CC) -c Animal.cpp</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err="1">
                <a:latin typeface="Courier New" panose="02070309020205020404" pitchFamily="49" charset="0"/>
                <a:cs typeface="Courier New" panose="02070309020205020404" pitchFamily="49" charset="0"/>
              </a:rPr>
              <a:t>Dog.o</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Dog.h</a:t>
            </a:r>
            <a:r>
              <a:rPr lang="en-US" altLang="zh-TW" dirty="0">
                <a:latin typeface="Courier New" panose="02070309020205020404" pitchFamily="49" charset="0"/>
                <a:cs typeface="Courier New" panose="02070309020205020404" pitchFamily="49" charset="0"/>
              </a:rPr>
              <a:t> Dog.cpp</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$(CC) -c Dog.cpp</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err="1">
                <a:latin typeface="Courier New" panose="02070309020205020404" pitchFamily="49" charset="0"/>
                <a:cs typeface="Courier New" panose="02070309020205020404" pitchFamily="49" charset="0"/>
              </a:rPr>
              <a:t>Wolf.o</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Wolf.h</a:t>
            </a:r>
            <a:r>
              <a:rPr lang="en-US" altLang="zh-TW" dirty="0">
                <a:latin typeface="Courier New" panose="02070309020205020404" pitchFamily="49" charset="0"/>
                <a:cs typeface="Courier New" panose="02070309020205020404" pitchFamily="49" charset="0"/>
              </a:rPr>
              <a:t> Wolf.cpp</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$(CC) -c Wolf.cpp</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err="1">
                <a:latin typeface="Courier New" panose="02070309020205020404" pitchFamily="49" charset="0"/>
                <a:cs typeface="Courier New" panose="02070309020205020404" pitchFamily="49" charset="0"/>
              </a:rPr>
              <a:t>main.o</a:t>
            </a:r>
            <a:r>
              <a:rPr lang="en-US" altLang="zh-TW" dirty="0">
                <a:latin typeface="Courier New" panose="02070309020205020404" pitchFamily="49" charset="0"/>
                <a:cs typeface="Courier New" panose="02070309020205020404" pitchFamily="49" charset="0"/>
              </a:rPr>
              <a:t>: main.cpp</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$(CC) -c main.cpp</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$(TARGET): $(OBJ)</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$(CC) $(OBJ) -o $@</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en-US" altLang="zh-TW" dirty="0">
                <a:latin typeface="Courier New" panose="02070309020205020404" pitchFamily="49" charset="0"/>
                <a:cs typeface="Courier New" panose="02070309020205020404" pitchFamily="49" charset="0"/>
              </a:rPr>
              <a:t>clean:</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rm</a:t>
            </a:r>
            <a:r>
              <a:rPr lang="en-US" altLang="zh-TW" dirty="0">
                <a:latin typeface="Courier New" panose="02070309020205020404" pitchFamily="49" charset="0"/>
                <a:cs typeface="Courier New" panose="02070309020205020404" pitchFamily="49" charset="0"/>
              </a:rPr>
              <a:t> *.o</a:t>
            </a:r>
            <a:endParaRPr lang="zh-TW" altLang="en-US" dirty="0">
              <a:latin typeface="Courier New" panose="02070309020205020404" pitchFamily="49" charset="0"/>
              <a:cs typeface="Courier New" panose="02070309020205020404" pitchFamily="49" charset="0"/>
            </a:endParaRPr>
          </a:p>
          <a:p>
            <a:pPr marL="109728" indent="0">
              <a:spcBef>
                <a:spcPts val="200"/>
              </a:spcBef>
              <a:buNone/>
            </a:pPr>
            <a:r>
              <a:rPr lang="zh-TW" altLang="en-US"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rm</a:t>
            </a:r>
            <a:r>
              <a:rPr lang="en-US" altLang="zh-TW" dirty="0">
                <a:latin typeface="Courier New" panose="02070309020205020404" pitchFamily="49" charset="0"/>
                <a:cs typeface="Courier New" panose="02070309020205020404" pitchFamily="49" charset="0"/>
              </a:rPr>
              <a:t> $(TARGET) </a:t>
            </a:r>
            <a:endParaRPr lang="zh-TW" altLang="en-US" dirty="0">
              <a:latin typeface="Courier New" panose="02070309020205020404" pitchFamily="49" charset="0"/>
              <a:cs typeface="Courier New" panose="02070309020205020404" pitchFamily="49" charset="0"/>
            </a:endParaRP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96</a:t>
            </a:fld>
            <a:endParaRPr lang="en-US" altLang="zh-TW"/>
          </a:p>
        </p:txBody>
      </p:sp>
      <p:sp>
        <p:nvSpPr>
          <p:cNvPr id="5" name="橢圓 4"/>
          <p:cNvSpPr/>
          <p:nvPr/>
        </p:nvSpPr>
        <p:spPr>
          <a:xfrm>
            <a:off x="1128245" y="3083740"/>
            <a:ext cx="324036" cy="360040"/>
          </a:xfrm>
          <a:prstGeom prst="ellipse">
            <a:avLst/>
          </a:prstGeom>
          <a:noFill/>
          <a:ln w="254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9" name="弧形接點 38"/>
          <p:cNvCxnSpPr/>
          <p:nvPr/>
        </p:nvCxnSpPr>
        <p:spPr>
          <a:xfrm rot="5400000">
            <a:off x="768205" y="3983840"/>
            <a:ext cx="1944216" cy="576064"/>
          </a:xfrm>
          <a:prstGeom prst="curvedConnector3">
            <a:avLst>
              <a:gd name="adj1" fmla="val 50000"/>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12" name="群組 11"/>
          <p:cNvGrpSpPr/>
          <p:nvPr/>
        </p:nvGrpSpPr>
        <p:grpSpPr>
          <a:xfrm>
            <a:off x="383450" y="3481921"/>
            <a:ext cx="1224136" cy="369332"/>
            <a:chOff x="179512" y="3068960"/>
            <a:chExt cx="1224136" cy="369332"/>
          </a:xfrm>
        </p:grpSpPr>
        <p:cxnSp>
          <p:nvCxnSpPr>
            <p:cNvPr id="8" name="直線箭頭接點 7"/>
            <p:cNvCxnSpPr/>
            <p:nvPr/>
          </p:nvCxnSpPr>
          <p:spPr>
            <a:xfrm>
              <a:off x="683568" y="3284984"/>
              <a:ext cx="720080" cy="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179512" y="3068960"/>
              <a:ext cx="581762" cy="369332"/>
            </a:xfrm>
            <a:prstGeom prst="rect">
              <a:avLst/>
            </a:prstGeom>
            <a:noFill/>
          </p:spPr>
          <p:txBody>
            <a:bodyPr wrap="none" rtlCol="0">
              <a:spAutoFit/>
            </a:bodyPr>
            <a:lstStyle/>
            <a:p>
              <a:r>
                <a:rPr lang="en-US" altLang="zh-TW" dirty="0">
                  <a:solidFill>
                    <a:srgbClr val="FF0000"/>
                  </a:solidFill>
                </a:rPr>
                <a:t>Tab</a:t>
              </a:r>
              <a:endParaRPr kumimoji="1" lang="zh-TW" altLang="en-US" dirty="0">
                <a:solidFill>
                  <a:srgbClr val="FF0000"/>
                </a:solidFill>
              </a:endParaRPr>
            </a:p>
          </p:txBody>
        </p:sp>
      </p:grpSp>
      <p:cxnSp>
        <p:nvCxnSpPr>
          <p:cNvPr id="13" name="弧形接點 38"/>
          <p:cNvCxnSpPr/>
          <p:nvPr/>
        </p:nvCxnSpPr>
        <p:spPr>
          <a:xfrm rot="16200000" flipV="1">
            <a:off x="1272261" y="4055848"/>
            <a:ext cx="1224136" cy="1152128"/>
          </a:xfrm>
          <a:prstGeom prst="curvedConnector3">
            <a:avLst>
              <a:gd name="adj1" fmla="val 50000"/>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92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Assignment 3 </a:t>
            </a:r>
            <a:r>
              <a:rPr lang="en-US" altLang="zh-TW" dirty="0" err="1">
                <a:latin typeface="Courier New" panose="02070309020205020404" pitchFamily="49" charset="0"/>
                <a:cs typeface="Courier New" panose="02070309020205020404" pitchFamily="49" charset="0"/>
              </a:rPr>
              <a:t>makefile</a:t>
            </a:r>
            <a:endParaRPr lang="zh-TW" altLang="en-US" dirty="0">
              <a:latin typeface="Courier New" panose="02070309020205020404" pitchFamily="49" charset="0"/>
              <a:cs typeface="Courier New" panose="02070309020205020404" pitchFamily="49" charset="0"/>
            </a:endParaRPr>
          </a:p>
        </p:txBody>
      </p:sp>
      <p:sp>
        <p:nvSpPr>
          <p:cNvPr id="2" name="內容版面配置區 1"/>
          <p:cNvSpPr>
            <a:spLocks noGrp="1"/>
          </p:cNvSpPr>
          <p:nvPr>
            <p:ph idx="1"/>
          </p:nvPr>
        </p:nvSpPr>
        <p:spPr>
          <a:xfrm>
            <a:off x="664635" y="1343378"/>
            <a:ext cx="10075084" cy="5192889"/>
          </a:xfrm>
        </p:spPr>
        <p:txBody>
          <a:bodyPr>
            <a:normAutofit fontScale="85000" lnSpcReduction="10000"/>
          </a:bodyPr>
          <a:lstStyle/>
          <a:p>
            <a:pPr marL="109728" indent="0">
              <a:spcBef>
                <a:spcPts val="200"/>
              </a:spcBef>
              <a:buNone/>
            </a:pPr>
            <a:endParaRPr lang="en-US" altLang="zh-TW" sz="1800" dirty="0">
              <a:latin typeface="Courier New" panose="02070309020205020404" pitchFamily="49" charset="0"/>
              <a:cs typeface="Courier New" panose="02070309020205020404" pitchFamily="49" charset="0"/>
            </a:endParaRPr>
          </a:p>
          <a:p>
            <a:pPr marL="109728" indent="0">
              <a:spcBef>
                <a:spcPts val="200"/>
              </a:spcBef>
              <a:buNone/>
            </a:pPr>
            <a:r>
              <a:rPr lang="en-US" altLang="zh-TW" sz="1800" dirty="0">
                <a:latin typeface="Courier New"/>
                <a:cs typeface="Courier New"/>
              </a:rPr>
              <a:t>CC = g++</a:t>
            </a:r>
          </a:p>
          <a:p>
            <a:pPr marL="109728" indent="0">
              <a:spcBef>
                <a:spcPts val="200"/>
              </a:spcBef>
              <a:buNone/>
            </a:pPr>
            <a:r>
              <a:rPr lang="en-US" altLang="zh-TW" sz="1800" dirty="0">
                <a:latin typeface="Courier New"/>
                <a:cs typeface="Courier New"/>
              </a:rPr>
              <a:t>PCFLAG = -O1 -Wall -c</a:t>
            </a:r>
          </a:p>
          <a:p>
            <a:pPr marL="109728" indent="0">
              <a:spcBef>
                <a:spcPts val="200"/>
              </a:spcBef>
              <a:buNone/>
            </a:pPr>
            <a:r>
              <a:rPr lang="en-US" altLang="zh-TW" sz="1800" dirty="0">
                <a:latin typeface="Courier New"/>
                <a:cs typeface="Courier New"/>
              </a:rPr>
              <a:t>POFLAG = -O1 -Wall</a:t>
            </a:r>
          </a:p>
          <a:p>
            <a:pPr marL="109728" indent="0">
              <a:spcBef>
                <a:spcPts val="200"/>
              </a:spcBef>
              <a:buNone/>
            </a:pPr>
            <a:r>
              <a:rPr lang="en-US" altLang="zh-TW" sz="1800" dirty="0">
                <a:latin typeface="Courier New"/>
                <a:cs typeface="Courier New"/>
              </a:rPr>
              <a:t>HDR = </a:t>
            </a:r>
            <a:r>
              <a:rPr lang="en-US" altLang="zh-TW" sz="1800" dirty="0" err="1">
                <a:latin typeface="Courier New"/>
                <a:cs typeface="Courier New"/>
              </a:rPr>
              <a:t>Array.h</a:t>
            </a:r>
            <a:r>
              <a:rPr lang="en-US" altLang="zh-TW" sz="1800" dirty="0">
                <a:latin typeface="Courier New"/>
                <a:cs typeface="Courier New"/>
              </a:rPr>
              <a:t> </a:t>
            </a:r>
            <a:r>
              <a:rPr lang="en-US" altLang="zh-TW" sz="1800" dirty="0" err="1">
                <a:latin typeface="Courier New"/>
                <a:cs typeface="Courier New"/>
              </a:rPr>
              <a:t>List.h</a:t>
            </a:r>
            <a:endParaRPr lang="en-US" altLang="zh-TW" sz="1800" dirty="0">
              <a:latin typeface="Courier New"/>
              <a:cs typeface="Courier New"/>
            </a:endParaRPr>
          </a:p>
          <a:p>
            <a:pPr marL="109728" indent="0">
              <a:spcBef>
                <a:spcPts val="200"/>
              </a:spcBef>
              <a:buNone/>
            </a:pPr>
            <a:r>
              <a:rPr lang="en-US" altLang="zh-TW" sz="1800" dirty="0">
                <a:latin typeface="Courier New"/>
                <a:cs typeface="Courier New"/>
              </a:rPr>
              <a:t>SRC = ${</a:t>
            </a:r>
            <a:r>
              <a:rPr lang="en-US" altLang="zh-TW" sz="1800" dirty="0" err="1">
                <a:latin typeface="Courier New"/>
                <a:cs typeface="Courier New"/>
              </a:rPr>
              <a:t>HDR:.h</a:t>
            </a:r>
            <a:r>
              <a:rPr lang="en-US" altLang="zh-TW" sz="1800" dirty="0">
                <a:latin typeface="Courier New"/>
                <a:cs typeface="Courier New"/>
              </a:rPr>
              <a:t>=.</a:t>
            </a:r>
            <a:r>
              <a:rPr lang="en-US" altLang="zh-TW" sz="1800" dirty="0" err="1">
                <a:latin typeface="Courier New"/>
                <a:cs typeface="Courier New"/>
              </a:rPr>
              <a:t>cpp</a:t>
            </a:r>
            <a:r>
              <a:rPr lang="en-US" altLang="zh-TW" sz="1800" dirty="0">
                <a:latin typeface="Courier New"/>
                <a:cs typeface="Courier New"/>
              </a:rPr>
              <a:t>} </a:t>
            </a:r>
            <a:r>
              <a:rPr lang="en-US" altLang="zh-TW" sz="1800" dirty="0" err="1">
                <a:latin typeface="Courier New"/>
                <a:cs typeface="Courier New"/>
              </a:rPr>
              <a:t>main.cpp</a:t>
            </a:r>
            <a:endParaRPr lang="en-US" altLang="zh-TW" sz="1800" dirty="0">
              <a:latin typeface="Courier New"/>
              <a:cs typeface="Courier New"/>
            </a:endParaRPr>
          </a:p>
          <a:p>
            <a:pPr marL="109728" indent="0">
              <a:spcBef>
                <a:spcPts val="200"/>
              </a:spcBef>
              <a:buNone/>
            </a:pPr>
            <a:r>
              <a:rPr lang="fr-FR" altLang="zh-TW" sz="1800" dirty="0">
                <a:latin typeface="Courier New"/>
                <a:cs typeface="Courier New"/>
              </a:rPr>
              <a:t>OBJ = ${</a:t>
            </a:r>
            <a:r>
              <a:rPr lang="fr-FR" altLang="zh-TW" sz="1800" dirty="0" err="1">
                <a:latin typeface="Courier New"/>
                <a:cs typeface="Courier New"/>
              </a:rPr>
              <a:t>HDR:.h</a:t>
            </a:r>
            <a:r>
              <a:rPr lang="fr-FR" altLang="zh-TW" sz="1800" dirty="0">
                <a:latin typeface="Courier New"/>
                <a:cs typeface="Courier New"/>
              </a:rPr>
              <a:t>=.o} </a:t>
            </a:r>
            <a:r>
              <a:rPr lang="fr-FR" altLang="zh-TW" sz="1800" dirty="0" err="1">
                <a:latin typeface="Courier New"/>
                <a:cs typeface="Courier New"/>
              </a:rPr>
              <a:t>main.o</a:t>
            </a:r>
            <a:endParaRPr lang="fr-FR" altLang="zh-TW" sz="1800" dirty="0">
              <a:latin typeface="Courier New"/>
              <a:cs typeface="Courier New"/>
            </a:endParaRPr>
          </a:p>
          <a:p>
            <a:pPr marL="109728" indent="0">
              <a:spcBef>
                <a:spcPts val="200"/>
              </a:spcBef>
              <a:buNone/>
            </a:pPr>
            <a:r>
              <a:rPr lang="fr-FR" altLang="zh-TW" sz="1800" dirty="0">
                <a:latin typeface="Courier New"/>
                <a:cs typeface="Courier New"/>
              </a:rPr>
              <a:t>TARGET = </a:t>
            </a:r>
            <a:r>
              <a:rPr lang="fr-FR" altLang="zh-TW" sz="1800" dirty="0" err="1">
                <a:latin typeface="Courier New"/>
                <a:cs typeface="Courier New"/>
              </a:rPr>
              <a:t>list</a:t>
            </a:r>
            <a:endParaRPr lang="fr-FR" altLang="zh-TW" sz="1800" dirty="0">
              <a:latin typeface="Courier New"/>
              <a:cs typeface="Courier New"/>
            </a:endParaRPr>
          </a:p>
          <a:p>
            <a:pPr>
              <a:spcBef>
                <a:spcPts val="200"/>
              </a:spcBef>
            </a:pPr>
            <a:endParaRPr lang="fr-FR" altLang="zh-TW" sz="1800" dirty="0">
              <a:latin typeface="Courier New"/>
              <a:cs typeface="Courier New"/>
            </a:endParaRPr>
          </a:p>
          <a:p>
            <a:pPr marL="109728" indent="0">
              <a:spcBef>
                <a:spcPts val="200"/>
              </a:spcBef>
              <a:buNone/>
            </a:pPr>
            <a:r>
              <a:rPr lang="fr-FR" altLang="zh-TW" sz="1800" dirty="0">
                <a:latin typeface="Courier New"/>
                <a:cs typeface="Courier New"/>
              </a:rPr>
              <a:t>all: $(TARGET)</a:t>
            </a:r>
          </a:p>
          <a:p>
            <a:pPr marL="109728" indent="0">
              <a:spcBef>
                <a:spcPts val="200"/>
              </a:spcBef>
              <a:buNone/>
            </a:pPr>
            <a:r>
              <a:rPr lang="fr-FR" altLang="zh-TW" sz="1800" dirty="0" err="1">
                <a:latin typeface="Courier New"/>
                <a:cs typeface="Courier New"/>
              </a:rPr>
              <a:t>Array.o</a:t>
            </a:r>
            <a:r>
              <a:rPr lang="fr-FR" altLang="zh-TW" sz="1800" dirty="0">
                <a:latin typeface="Courier New"/>
                <a:cs typeface="Courier New"/>
              </a:rPr>
              <a:t>: </a:t>
            </a:r>
            <a:r>
              <a:rPr lang="fr-FR" altLang="zh-TW" sz="1800" dirty="0" err="1">
                <a:latin typeface="Courier New"/>
                <a:cs typeface="Courier New"/>
              </a:rPr>
              <a:t>Array.h</a:t>
            </a:r>
            <a:r>
              <a:rPr lang="fr-FR" altLang="zh-TW" sz="1800" dirty="0">
                <a:latin typeface="Courier New"/>
                <a:cs typeface="Courier New"/>
              </a:rPr>
              <a:t> </a:t>
            </a:r>
            <a:r>
              <a:rPr lang="fr-FR" altLang="zh-TW" sz="1800" dirty="0" err="1">
                <a:latin typeface="Courier New"/>
                <a:cs typeface="Courier New"/>
              </a:rPr>
              <a:t>Array.cpp</a:t>
            </a:r>
            <a:endParaRPr lang="fr-FR" altLang="zh-TW" sz="1800" dirty="0">
              <a:latin typeface="Courier New"/>
              <a:cs typeface="Courier New"/>
            </a:endParaRPr>
          </a:p>
          <a:p>
            <a:pPr marL="109728" indent="0">
              <a:spcBef>
                <a:spcPts val="200"/>
              </a:spcBef>
              <a:buNone/>
            </a:pPr>
            <a:r>
              <a:rPr lang="fr-FR" altLang="zh-TW" sz="1800" dirty="0">
                <a:latin typeface="Courier New"/>
                <a:cs typeface="Courier New"/>
              </a:rPr>
              <a:t>	$(CC) $(PCFLAG) $(@:.o=.</a:t>
            </a:r>
            <a:r>
              <a:rPr lang="fr-FR" altLang="zh-TW" sz="1800" dirty="0" err="1">
                <a:latin typeface="Courier New"/>
                <a:cs typeface="Courier New"/>
              </a:rPr>
              <a:t>cpp</a:t>
            </a:r>
            <a:r>
              <a:rPr lang="fr-FR" altLang="zh-TW" sz="1800" dirty="0">
                <a:latin typeface="Courier New"/>
                <a:cs typeface="Courier New"/>
              </a:rPr>
              <a:t>)</a:t>
            </a:r>
          </a:p>
          <a:p>
            <a:pPr marL="109728" indent="0">
              <a:spcBef>
                <a:spcPts val="200"/>
              </a:spcBef>
              <a:buNone/>
            </a:pPr>
            <a:r>
              <a:rPr lang="fr-FR" altLang="zh-TW" sz="1800" dirty="0" err="1">
                <a:latin typeface="Courier New"/>
                <a:cs typeface="Courier New"/>
              </a:rPr>
              <a:t>List.o</a:t>
            </a:r>
            <a:r>
              <a:rPr lang="fr-FR" altLang="zh-TW" sz="1800" dirty="0">
                <a:latin typeface="Courier New"/>
                <a:cs typeface="Courier New"/>
              </a:rPr>
              <a:t>: </a:t>
            </a:r>
            <a:r>
              <a:rPr lang="fr-FR" altLang="zh-TW" sz="1800" dirty="0" err="1">
                <a:latin typeface="Courier New"/>
                <a:cs typeface="Courier New"/>
              </a:rPr>
              <a:t>List.h</a:t>
            </a:r>
            <a:r>
              <a:rPr lang="fr-FR" altLang="zh-TW" sz="1800" dirty="0">
                <a:latin typeface="Courier New"/>
                <a:cs typeface="Courier New"/>
              </a:rPr>
              <a:t> </a:t>
            </a:r>
            <a:r>
              <a:rPr lang="fr-FR" altLang="zh-TW" sz="1800" dirty="0" err="1">
                <a:latin typeface="Courier New"/>
                <a:cs typeface="Courier New"/>
              </a:rPr>
              <a:t>List.cpp</a:t>
            </a:r>
            <a:endParaRPr lang="fr-FR" altLang="zh-TW" sz="1800" dirty="0">
              <a:latin typeface="Courier New"/>
              <a:cs typeface="Courier New"/>
            </a:endParaRPr>
          </a:p>
          <a:p>
            <a:pPr marL="109728" indent="0">
              <a:spcBef>
                <a:spcPts val="200"/>
              </a:spcBef>
              <a:buNone/>
            </a:pPr>
            <a:r>
              <a:rPr lang="fr-FR" altLang="zh-TW" sz="1800" dirty="0">
                <a:latin typeface="Courier New"/>
                <a:cs typeface="Courier New"/>
              </a:rPr>
              <a:t>	$(CC) $(PCFLAG) $(@:.o=.</a:t>
            </a:r>
            <a:r>
              <a:rPr lang="fr-FR" altLang="zh-TW" sz="1800" dirty="0" err="1">
                <a:latin typeface="Courier New"/>
                <a:cs typeface="Courier New"/>
              </a:rPr>
              <a:t>cpp</a:t>
            </a:r>
            <a:r>
              <a:rPr lang="fr-FR" altLang="zh-TW" sz="1800" dirty="0">
                <a:latin typeface="Courier New"/>
                <a:cs typeface="Courier New"/>
              </a:rPr>
              <a:t>)</a:t>
            </a:r>
          </a:p>
          <a:p>
            <a:pPr marL="109728" indent="0">
              <a:spcBef>
                <a:spcPts val="200"/>
              </a:spcBef>
              <a:buNone/>
            </a:pPr>
            <a:r>
              <a:rPr lang="fr-FR" altLang="zh-TW" sz="1800" dirty="0" err="1">
                <a:latin typeface="Courier New"/>
                <a:cs typeface="Courier New"/>
              </a:rPr>
              <a:t>main.o</a:t>
            </a:r>
            <a:r>
              <a:rPr lang="fr-FR" altLang="zh-TW" sz="1800" dirty="0">
                <a:latin typeface="Courier New"/>
                <a:cs typeface="Courier New"/>
              </a:rPr>
              <a:t>: </a:t>
            </a:r>
            <a:r>
              <a:rPr lang="fr-FR" altLang="zh-TW" sz="1800" dirty="0" err="1">
                <a:latin typeface="Courier New"/>
                <a:cs typeface="Courier New"/>
              </a:rPr>
              <a:t>main.cpp</a:t>
            </a:r>
            <a:endParaRPr lang="fr-FR" altLang="zh-TW" sz="1800" dirty="0">
              <a:latin typeface="Courier New"/>
              <a:cs typeface="Courier New"/>
            </a:endParaRPr>
          </a:p>
          <a:p>
            <a:pPr marL="109728" indent="0">
              <a:spcBef>
                <a:spcPts val="200"/>
              </a:spcBef>
              <a:buNone/>
            </a:pPr>
            <a:r>
              <a:rPr lang="fr-FR" altLang="zh-TW" sz="1800" dirty="0">
                <a:latin typeface="Courier New"/>
                <a:cs typeface="Courier New"/>
              </a:rPr>
              <a:t>	$(CC) $(PCFLAG) $(@:.o=.</a:t>
            </a:r>
            <a:r>
              <a:rPr lang="fr-FR" altLang="zh-TW" sz="1800" dirty="0" err="1">
                <a:latin typeface="Courier New"/>
                <a:cs typeface="Courier New"/>
              </a:rPr>
              <a:t>cpp</a:t>
            </a:r>
            <a:r>
              <a:rPr lang="fr-FR" altLang="zh-TW" sz="1800" dirty="0">
                <a:latin typeface="Courier New"/>
                <a:cs typeface="Courier New"/>
              </a:rPr>
              <a:t>)</a:t>
            </a:r>
          </a:p>
          <a:p>
            <a:pPr marL="109728" indent="0">
              <a:spcBef>
                <a:spcPts val="200"/>
              </a:spcBef>
              <a:buNone/>
            </a:pPr>
            <a:r>
              <a:rPr lang="fr-FR" altLang="zh-TW" sz="1800" dirty="0">
                <a:latin typeface="Courier New"/>
                <a:cs typeface="Courier New"/>
              </a:rPr>
              <a:t>$(TARGET): $(OBJ)</a:t>
            </a:r>
          </a:p>
          <a:p>
            <a:pPr marL="109728" indent="0">
              <a:spcBef>
                <a:spcPts val="200"/>
              </a:spcBef>
              <a:buNone/>
            </a:pPr>
            <a:r>
              <a:rPr lang="fr-FR" altLang="zh-TW" sz="1800" dirty="0">
                <a:latin typeface="Courier New"/>
                <a:cs typeface="Courier New"/>
              </a:rPr>
              <a:t>	$(CC) $(POFLAG) $(LIB) $(OBJ) -o $@</a:t>
            </a:r>
          </a:p>
          <a:p>
            <a:pPr marL="109728" indent="0">
              <a:spcBef>
                <a:spcPts val="200"/>
              </a:spcBef>
              <a:buNone/>
            </a:pPr>
            <a:endParaRPr lang="fr-FR" altLang="zh-TW" sz="1800" dirty="0">
              <a:latin typeface="Courier New"/>
              <a:cs typeface="Courier New"/>
            </a:endParaRPr>
          </a:p>
          <a:p>
            <a:pPr marL="109728" indent="0">
              <a:spcBef>
                <a:spcPts val="200"/>
              </a:spcBef>
              <a:buNone/>
            </a:pPr>
            <a:r>
              <a:rPr lang="fr-FR" altLang="zh-TW" sz="1800" dirty="0">
                <a:latin typeface="Courier New"/>
                <a:cs typeface="Courier New"/>
              </a:rPr>
              <a:t>clean:</a:t>
            </a:r>
          </a:p>
          <a:p>
            <a:pPr marL="109728" indent="0">
              <a:spcBef>
                <a:spcPts val="200"/>
              </a:spcBef>
              <a:buNone/>
            </a:pPr>
            <a:r>
              <a:rPr lang="fr-FR" altLang="zh-TW" sz="1800" dirty="0">
                <a:latin typeface="Courier New"/>
                <a:cs typeface="Courier New"/>
              </a:rPr>
              <a:t>	</a:t>
            </a:r>
            <a:r>
              <a:rPr lang="fr-FR" altLang="zh-TW" sz="1800" dirty="0" err="1">
                <a:latin typeface="Courier New"/>
                <a:cs typeface="Courier New"/>
              </a:rPr>
              <a:t>rm</a:t>
            </a:r>
            <a:r>
              <a:rPr lang="fr-FR" altLang="zh-TW" sz="1800" dirty="0">
                <a:latin typeface="Courier New"/>
                <a:cs typeface="Courier New"/>
              </a:rPr>
              <a:t> $(OBJ)</a:t>
            </a:r>
          </a:p>
          <a:p>
            <a:pPr marL="109728" indent="0">
              <a:spcBef>
                <a:spcPts val="200"/>
              </a:spcBef>
              <a:buNone/>
            </a:pPr>
            <a:r>
              <a:rPr lang="fr-FR" altLang="zh-TW" sz="1800" dirty="0">
                <a:latin typeface="Courier New"/>
                <a:cs typeface="Courier New"/>
              </a:rPr>
              <a:t>	</a:t>
            </a:r>
            <a:r>
              <a:rPr lang="fr-FR" altLang="zh-TW" sz="1800" dirty="0" err="1">
                <a:latin typeface="Courier New"/>
                <a:cs typeface="Courier New"/>
              </a:rPr>
              <a:t>rm</a:t>
            </a:r>
            <a:r>
              <a:rPr lang="fr-FR" altLang="zh-TW" sz="1800" dirty="0">
                <a:latin typeface="Courier New"/>
                <a:cs typeface="Courier New"/>
              </a:rPr>
              <a:t> $(TARGET)</a:t>
            </a:r>
          </a:p>
        </p:txBody>
      </p:sp>
      <p:sp>
        <p:nvSpPr>
          <p:cNvPr id="3" name="投影片編號版面配置區 2"/>
          <p:cNvSpPr>
            <a:spLocks noGrp="1"/>
          </p:cNvSpPr>
          <p:nvPr>
            <p:ph type="sldNum" sz="quarter" idx="12"/>
          </p:nvPr>
        </p:nvSpPr>
        <p:spPr/>
        <p:txBody>
          <a:bodyPr/>
          <a:lstStyle/>
          <a:p>
            <a:fld id="{F5A2A8EF-A48F-4F8F-985B-479274EA465E}" type="slidenum">
              <a:rPr lang="zh-TW" altLang="en-US" smtClean="0"/>
              <a:pPr/>
              <a:t>97</a:t>
            </a:fld>
            <a:endParaRPr lang="en-US" altLang="zh-TW"/>
          </a:p>
        </p:txBody>
      </p:sp>
      <p:sp>
        <p:nvSpPr>
          <p:cNvPr id="5" name="橢圓 4"/>
          <p:cNvSpPr/>
          <p:nvPr/>
        </p:nvSpPr>
        <p:spPr>
          <a:xfrm flipV="1">
            <a:off x="1309061" y="3327399"/>
            <a:ext cx="1341986" cy="403691"/>
          </a:xfrm>
          <a:prstGeom prst="ellipse">
            <a:avLst/>
          </a:prstGeom>
          <a:noFill/>
          <a:ln w="254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弧形接點 24"/>
          <p:cNvCxnSpPr>
            <a:cxnSpLocks/>
          </p:cNvCxnSpPr>
          <p:nvPr/>
        </p:nvCxnSpPr>
        <p:spPr>
          <a:xfrm rot="5400000">
            <a:off x="616169" y="4223520"/>
            <a:ext cx="1512168" cy="482150"/>
          </a:xfrm>
          <a:prstGeom prst="curvedConnector3">
            <a:avLst>
              <a:gd name="adj1" fmla="val 50000"/>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9" name="弧形接點 38"/>
          <p:cNvCxnSpPr>
            <a:cxnSpLocks/>
          </p:cNvCxnSpPr>
          <p:nvPr/>
        </p:nvCxnSpPr>
        <p:spPr>
          <a:xfrm rot="16200000" flipV="1">
            <a:off x="1280676" y="3906231"/>
            <a:ext cx="1296144" cy="1152128"/>
          </a:xfrm>
          <a:prstGeom prst="curvedConnector3">
            <a:avLst>
              <a:gd name="adj1" fmla="val 50000"/>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46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407" y="1973766"/>
            <a:ext cx="8242148" cy="1760034"/>
          </a:xfrm>
        </p:spPr>
        <p:txBody>
          <a:bodyPr>
            <a:normAutofit/>
          </a:bodyPr>
          <a:lstStyle/>
          <a:p>
            <a:r>
              <a:rPr lang="en-US" altLang="zh-TW" sz="3600" dirty="0"/>
              <a:t>Section 9</a:t>
            </a:r>
            <a:br>
              <a:rPr lang="en-US" altLang="zh-TW" sz="3600" dirty="0"/>
            </a:br>
            <a:r>
              <a:rPr lang="en-US" altLang="zh-TW" sz="3600" dirty="0"/>
              <a:t>Debug with Core Dump</a:t>
            </a:r>
            <a:endParaRPr lang="zh-TW" altLang="en-US" sz="3600" dirty="0"/>
          </a:p>
        </p:txBody>
      </p:sp>
      <p:sp>
        <p:nvSpPr>
          <p:cNvPr id="7" name="Text Placeholder 6"/>
          <p:cNvSpPr>
            <a:spLocks noGrp="1"/>
          </p:cNvSpPr>
          <p:nvPr>
            <p:ph type="body" sz="half" idx="2"/>
          </p:nvPr>
        </p:nvSpPr>
        <p:spPr>
          <a:xfrm>
            <a:off x="508128" y="3733805"/>
            <a:ext cx="8239421" cy="1162051"/>
          </a:xfrm>
        </p:spPr>
        <p:txBody>
          <a:bodyPr>
            <a:normAutofit/>
          </a:bodyPr>
          <a:lstStyle/>
          <a:p>
            <a:r>
              <a:rPr lang="en-US" altLang="zh-TW" sz="2000" dirty="0"/>
              <a:t>Segmentation Fault? Don’t Panic</a:t>
            </a:r>
            <a:endParaRPr lang="en-US" sz="2000"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98</a:t>
            </a:fld>
            <a:endParaRPr lang="en-US" altLang="zh-TW" dirty="0"/>
          </a:p>
        </p:txBody>
      </p:sp>
      <p:pic>
        <p:nvPicPr>
          <p:cNvPr id="13" name="Picture Placeholder 12" descr="img-1504148202-74146.png"/>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3" r="25333"/>
          <a:stretch>
            <a:fillRect/>
          </a:stretch>
        </p:blipFill>
        <p:spPr/>
      </p:pic>
      <p:pic>
        <p:nvPicPr>
          <p:cNvPr id="15" name="Picture Placeholder 14" descr="chip_block_diagram.png"/>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1147" r="11147"/>
          <a:stretch>
            <a:fillRect/>
          </a:stretch>
        </p:blipFill>
        <p:spPr/>
      </p:pic>
    </p:spTree>
    <p:extLst>
      <p:ext uri="{BB962C8B-B14F-4D97-AF65-F5344CB8AC3E}">
        <p14:creationId xmlns:p14="http://schemas.microsoft.com/office/powerpoint/2010/main" val="42286175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CD63-2BC8-154E-B990-4B360603157E}"/>
              </a:ext>
            </a:extLst>
          </p:cNvPr>
          <p:cNvSpPr>
            <a:spLocks noGrp="1"/>
          </p:cNvSpPr>
          <p:nvPr>
            <p:ph type="title"/>
          </p:nvPr>
        </p:nvSpPr>
        <p:spPr/>
        <p:txBody>
          <a:bodyPr/>
          <a:lstStyle/>
          <a:p>
            <a:r>
              <a:rPr lang="en-TW" dirty="0"/>
              <a:t>Core Dump &amp; gdb</a:t>
            </a:r>
          </a:p>
        </p:txBody>
      </p:sp>
      <p:pic>
        <p:nvPicPr>
          <p:cNvPr id="4" name="Content Placeholder 3">
            <a:extLst>
              <a:ext uri="{FF2B5EF4-FFF2-40B4-BE49-F238E27FC236}">
                <a16:creationId xmlns:a16="http://schemas.microsoft.com/office/drawing/2014/main" id="{7217A95E-A9DC-4247-9B38-6CE364B551DF}"/>
              </a:ext>
            </a:extLst>
          </p:cNvPr>
          <p:cNvPicPr>
            <a:picLocks noGrp="1" noChangeAspect="1"/>
          </p:cNvPicPr>
          <p:nvPr>
            <p:ph idx="1"/>
          </p:nvPr>
        </p:nvPicPr>
        <p:blipFill>
          <a:blip r:embed="rId2"/>
          <a:stretch>
            <a:fillRect/>
          </a:stretch>
        </p:blipFill>
        <p:spPr>
          <a:xfrm>
            <a:off x="686860" y="1421592"/>
            <a:ext cx="4051300" cy="1028700"/>
          </a:xfrm>
          <a:prstGeom prst="rect">
            <a:avLst/>
          </a:prstGeom>
        </p:spPr>
      </p:pic>
      <p:sp>
        <p:nvSpPr>
          <p:cNvPr id="5" name="內容版面配置區 1">
            <a:extLst>
              <a:ext uri="{FF2B5EF4-FFF2-40B4-BE49-F238E27FC236}">
                <a16:creationId xmlns:a16="http://schemas.microsoft.com/office/drawing/2014/main" id="{5445E701-3101-6F43-9629-99468950CA04}"/>
              </a:ext>
            </a:extLst>
          </p:cNvPr>
          <p:cNvSpPr txBox="1">
            <a:spLocks/>
          </p:cNvSpPr>
          <p:nvPr/>
        </p:nvSpPr>
        <p:spPr>
          <a:xfrm>
            <a:off x="664635" y="2537698"/>
            <a:ext cx="10075084" cy="2768080"/>
          </a:xfrm>
          <a:prstGeom prst="rect">
            <a:avLst/>
          </a:prstGeom>
        </p:spPr>
        <p:txBody>
          <a:bodyPr vert="horz" lIns="91440" tIns="45720" rIns="91440" bIns="45720" rtlCol="0">
            <a:normAutofit lnSpcReduction="10000"/>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a:lstStyle>
          <a:p>
            <a:r>
              <a:rPr lang="en-US" altLang="zh-TW" dirty="0"/>
              <a:t>Above is what it looks like when you get a core dump along with a segmentation fault. The core dump is stored in a file that looks like core.6273, as above. The number is a sequence number given by the system. At this point, first add </a:t>
            </a:r>
            <a:r>
              <a:rPr lang="en-US" altLang="zh-TW" dirty="0">
                <a:latin typeface="Courier New" panose="02070309020205020404" pitchFamily="49" charset="0"/>
                <a:cs typeface="Courier New" panose="02070309020205020404" pitchFamily="49" charset="0"/>
              </a:rPr>
              <a:t>—g</a:t>
            </a:r>
            <a:r>
              <a:rPr lang="en-US" altLang="zh-TW" dirty="0"/>
              <a:t> to the compilation command, recompile, and then run again to get another core dump. Then, use </a:t>
            </a:r>
            <a:r>
              <a:rPr lang="en-US" altLang="zh-TW" dirty="0" err="1"/>
              <a:t>gdb</a:t>
            </a:r>
            <a:r>
              <a:rPr lang="en-US" altLang="zh-TW" dirty="0"/>
              <a:t> to debug, as below.</a:t>
            </a:r>
          </a:p>
          <a:p>
            <a:r>
              <a:rPr lang="en-US" altLang="zh-TW" dirty="0"/>
              <a:t>Note: The core dump file is enormous. Modern OSs disable the core dump file generation to avoid disk space crashes. Please Google to find out how to turn on the core dump for your OS.</a:t>
            </a:r>
            <a:endParaRPr lang="zh-TW" altLang="en-US" dirty="0"/>
          </a:p>
        </p:txBody>
      </p:sp>
      <p:pic>
        <p:nvPicPr>
          <p:cNvPr id="7" name="Picture 6">
            <a:extLst>
              <a:ext uri="{FF2B5EF4-FFF2-40B4-BE49-F238E27FC236}">
                <a16:creationId xmlns:a16="http://schemas.microsoft.com/office/drawing/2014/main" id="{631568CA-4A4E-6D48-AC28-36819C2AF854}"/>
              </a:ext>
            </a:extLst>
          </p:cNvPr>
          <p:cNvPicPr>
            <a:picLocks noChangeAspect="1"/>
          </p:cNvPicPr>
          <p:nvPr/>
        </p:nvPicPr>
        <p:blipFill>
          <a:blip r:embed="rId3"/>
          <a:stretch>
            <a:fillRect/>
          </a:stretch>
        </p:blipFill>
        <p:spPr>
          <a:xfrm>
            <a:off x="686860" y="5703627"/>
            <a:ext cx="3263900" cy="749300"/>
          </a:xfrm>
          <a:prstGeom prst="rect">
            <a:avLst/>
          </a:prstGeom>
        </p:spPr>
      </p:pic>
      <p:pic>
        <p:nvPicPr>
          <p:cNvPr id="8" name="Picture 7">
            <a:extLst>
              <a:ext uri="{FF2B5EF4-FFF2-40B4-BE49-F238E27FC236}">
                <a16:creationId xmlns:a16="http://schemas.microsoft.com/office/drawing/2014/main" id="{DCBF7D80-82C9-FF46-80B3-9217566BF616}"/>
              </a:ext>
            </a:extLst>
          </p:cNvPr>
          <p:cNvPicPr>
            <a:picLocks noChangeAspect="1"/>
          </p:cNvPicPr>
          <p:nvPr/>
        </p:nvPicPr>
        <p:blipFill>
          <a:blip r:embed="rId4"/>
          <a:stretch>
            <a:fillRect/>
          </a:stretch>
        </p:blipFill>
        <p:spPr>
          <a:xfrm>
            <a:off x="686860" y="5435591"/>
            <a:ext cx="3263900" cy="292100"/>
          </a:xfrm>
          <a:prstGeom prst="rect">
            <a:avLst/>
          </a:prstGeom>
        </p:spPr>
      </p:pic>
      <p:sp>
        <p:nvSpPr>
          <p:cNvPr id="3" name="Slide Number Placeholder 3">
            <a:extLst>
              <a:ext uri="{FF2B5EF4-FFF2-40B4-BE49-F238E27FC236}">
                <a16:creationId xmlns:a16="http://schemas.microsoft.com/office/drawing/2014/main" id="{A77F4C37-E853-A4A7-C0F2-051BA0377A3A}"/>
              </a:ext>
            </a:extLst>
          </p:cNvPr>
          <p:cNvSpPr>
            <a:spLocks noGrp="1"/>
          </p:cNvSpPr>
          <p:nvPr>
            <p:ph type="sldNum" sz="quarter" idx="12"/>
          </p:nvPr>
        </p:nvSpPr>
        <p:spPr>
          <a:xfrm>
            <a:off x="11074400" y="242239"/>
            <a:ext cx="738717" cy="365125"/>
          </a:xfrm>
          <a:prstGeom prst="rect">
            <a:avLst/>
          </a:prstGeom>
        </p:spPr>
        <p:txBody>
          <a:bodyPr/>
          <a:lstStyle/>
          <a:p>
            <a:fld id="{C3AB7023-8021-469B-8AF0-A501C9BD8FFC}" type="slidenum">
              <a:rPr lang="zh-TW" altLang="en-US" smtClean="0"/>
              <a:pPr/>
              <a:t>99</a:t>
            </a:fld>
            <a:endParaRPr lang="en-US" altLang="zh-TW" dirty="0"/>
          </a:p>
        </p:txBody>
      </p:sp>
    </p:spTree>
    <p:extLst>
      <p:ext uri="{BB962C8B-B14F-4D97-AF65-F5344CB8AC3E}">
        <p14:creationId xmlns:p14="http://schemas.microsoft.com/office/powerpoint/2010/main" val="154574397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End of Chapter 3</a:t>
            </a:r>
            <a:endParaRPr lang="zh-TW" altLang="en-US" dirty="0"/>
          </a:p>
        </p:txBody>
      </p:sp>
      <p:sp>
        <p:nvSpPr>
          <p:cNvPr id="3" name="Subtitle 2"/>
          <p:cNvSpPr>
            <a:spLocks noGrp="1"/>
          </p:cNvSpPr>
          <p:nvPr>
            <p:ph type="body" idx="1"/>
          </p:nvPr>
        </p:nvSpPr>
        <p:spPr/>
        <p:txBody>
          <a:bodyPr/>
          <a:lstStyle/>
          <a:p>
            <a:r>
              <a:rPr lang="en-US" altLang="zh-TW" dirty="0"/>
              <a:t>Thanks to you all!</a:t>
            </a:r>
            <a:endParaRPr lang="zh-TW" altLang="en-US" dirty="0"/>
          </a:p>
        </p:txBody>
      </p:sp>
      <p:sp>
        <p:nvSpPr>
          <p:cNvPr id="4" name="Slide Number Placeholder 3"/>
          <p:cNvSpPr>
            <a:spLocks noGrp="1"/>
          </p:cNvSpPr>
          <p:nvPr>
            <p:ph type="sldNum" sz="quarter" idx="12"/>
          </p:nvPr>
        </p:nvSpPr>
        <p:spPr>
          <a:prstGeom prst="rect">
            <a:avLst/>
          </a:prstGeom>
        </p:spPr>
        <p:txBody>
          <a:bodyPr/>
          <a:lstStyle/>
          <a:p>
            <a:fld id="{C3AB7023-8021-469B-8AF0-A501C9BD8FFC}" type="slidenum">
              <a:rPr lang="zh-TW" altLang="en-US" smtClean="0"/>
              <a:pPr/>
              <a:t>100</a:t>
            </a:fld>
            <a:endParaRPr lang="en-US" altLang="zh-TW"/>
          </a:p>
        </p:txBody>
      </p:sp>
      <p:sp>
        <p:nvSpPr>
          <p:cNvPr id="5" name="Slide Number Placeholder 3">
            <a:extLst>
              <a:ext uri="{FF2B5EF4-FFF2-40B4-BE49-F238E27FC236}">
                <a16:creationId xmlns:a16="http://schemas.microsoft.com/office/drawing/2014/main" id="{A97E52E9-D1EF-2EF7-FF43-F277C3F0E2EE}"/>
              </a:ext>
            </a:extLst>
          </p:cNvPr>
          <p:cNvSpPr txBox="1">
            <a:spLocks/>
          </p:cNvSpPr>
          <p:nvPr/>
        </p:nvSpPr>
        <p:spPr>
          <a:xfrm>
            <a:off x="11074400" y="242239"/>
            <a:ext cx="738717" cy="365125"/>
          </a:xfrm>
          <a:prstGeom prst="rect">
            <a:avLst/>
          </a:prstGeom>
        </p:spPr>
        <p:txBody>
          <a:bodyPr vert="horz" lIns="91440" tIns="45720" rIns="91440" bIns="45720" rtlCol="0" anchor="ctr"/>
          <a:lstStyle>
            <a:defPPr>
              <a:defRPr lang="en-US"/>
            </a:defPPr>
            <a:lvl1pPr marL="0" algn="r" defTabSz="457200" rtl="0" eaLnBrk="1" latinLnBrk="0" hangingPunct="1">
              <a:defRPr sz="14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3AB7023-8021-469B-8AF0-A501C9BD8FFC}" type="slidenum">
              <a:rPr lang="zh-TW" altLang="en-US" smtClean="0"/>
              <a:pPr/>
              <a:t>100</a:t>
            </a:fld>
            <a:endParaRPr lang="en-US" altLang="zh-TW" dirty="0"/>
          </a:p>
        </p:txBody>
      </p:sp>
    </p:spTree>
    <p:extLst>
      <p:ext uri="{BB962C8B-B14F-4D97-AF65-F5344CB8AC3E}">
        <p14:creationId xmlns:p14="http://schemas.microsoft.com/office/powerpoint/2010/main" val="2902830003"/>
      </p:ext>
    </p:extLst>
  </p:cSld>
  <p:clrMapOvr>
    <a:masterClrMapping/>
  </p:clrMapOvr>
</p:sld>
</file>

<file path=ppt/theme/theme1.xml><?xml version="1.0" encoding="utf-8"?>
<a:theme xmlns:a="http://schemas.openxmlformats.org/drawingml/2006/main" name="Advantage">
  <a:themeElements>
    <a:clrScheme name="宣紙">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Advantage">
      <a:majorFont>
        <a:latin typeface="Rockwell"/>
        <a:ea typeface=""/>
        <a:cs typeface=""/>
        <a:font script="Jpan" typeface="ＭＳ ゴシック"/>
        <a:font script="Hans" typeface="宋体"/>
        <a:font script="Hant" typeface="新細明體"/>
      </a:majorFont>
      <a:minorFont>
        <a:latin typeface="Rockwell"/>
        <a:ea typeface=""/>
        <a:cs typeface=""/>
        <a:font script="Jpan" typeface="ＭＳ ゴシック"/>
        <a:font script="Hans" typeface="宋体"/>
        <a:font script="Hant" typeface="新細明體"/>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8588</TotalTime>
  <Words>8576</Words>
  <Application>Microsoft Macintosh PowerPoint</Application>
  <PresentationFormat>Widescreen</PresentationFormat>
  <Paragraphs>1317</Paragraphs>
  <Slides>100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100</vt:i4>
      </vt:variant>
    </vt:vector>
  </HeadingPairs>
  <TitlesOfParts>
    <vt:vector size="107" baseType="lpstr">
      <vt:lpstr>-apple-system</vt:lpstr>
      <vt:lpstr>PingFang TC Medium</vt:lpstr>
      <vt:lpstr>Calibri</vt:lpstr>
      <vt:lpstr>Courier New</vt:lpstr>
      <vt:lpstr>Rockwell</vt:lpstr>
      <vt:lpstr>Wingdings</vt:lpstr>
      <vt:lpstr>Advantage</vt:lpstr>
      <vt:lpstr>Electronic System Level Design Methodology</vt:lpstr>
      <vt:lpstr>Agenda</vt:lpstr>
      <vt:lpstr>Chapter 3 – C++, The Object Oriented C</vt:lpstr>
      <vt:lpstr>Contents</vt:lpstr>
      <vt:lpstr>Section 1 Object-Oriented</vt:lpstr>
      <vt:lpstr>C++</vt:lpstr>
      <vt:lpstr>Object</vt:lpstr>
      <vt:lpstr>Controlling assert()</vt:lpstr>
      <vt:lpstr>Constructor</vt:lpstr>
      <vt:lpstr>Constructor Examples</vt:lpstr>
      <vt:lpstr>Copy Constructor</vt:lpstr>
      <vt:lpstr>Copy Constructor – An Example</vt:lpstr>
      <vt:lpstr>Assignment Operator</vt:lpstr>
      <vt:lpstr>Assignment Operator Example</vt:lpstr>
      <vt:lpstr>Deconstructor</vt:lpstr>
      <vt:lpstr>Deconstructor – An Example</vt:lpstr>
      <vt:lpstr>Member Function</vt:lpstr>
      <vt:lpstr>Section 2 Namespaces</vt:lpstr>
      <vt:lpstr>namespace</vt:lpstr>
      <vt:lpstr>namespace Example 1: Resolution</vt:lpstr>
      <vt:lpstr>namespace Example 2: using</vt:lpstr>
      <vt:lpstr>namespace Example 3: using</vt:lpstr>
      <vt:lpstr>Section 3 I/O Stream</vt:lpstr>
      <vt:lpstr>std Namespace</vt:lpstr>
      <vt:lpstr>Basic Operators</vt:lpstr>
      <vt:lpstr>&lt;iostream&gt;, Standard I/O</vt:lpstr>
      <vt:lpstr>&lt;fstream&gt;, File Functions</vt:lpstr>
      <vt:lpstr>Output Formatting</vt:lpstr>
      <vt:lpstr>Formatted Output Examples</vt:lpstr>
      <vt:lpstr>Section 4 Operator Overloading</vt:lpstr>
      <vt:lpstr>Assignment Operator</vt:lpstr>
      <vt:lpstr>operator+ Overloading</vt:lpstr>
      <vt:lpstr>operator- Overloading</vt:lpstr>
      <vt:lpstr>operator+= Overloading</vt:lpstr>
      <vt:lpstr>operator-= Overloading</vt:lpstr>
      <vt:lpstr>operator++() Overloading</vt:lpstr>
      <vt:lpstr>operator++(int) Overloading</vt:lpstr>
      <vt:lpstr>operator--() Overloading</vt:lpstr>
      <vt:lpstr>operator--(int) Overloading</vt:lpstr>
      <vt:lpstr>operator&lt;&lt; Overloading</vt:lpstr>
      <vt:lpstr>operator&gt;&gt; Overloading</vt:lpstr>
      <vt:lpstr>Section 5 Inheritance</vt:lpstr>
      <vt:lpstr>What is Inheritance?</vt:lpstr>
      <vt:lpstr>Encapsulation</vt:lpstr>
      <vt:lpstr>Base Class</vt:lpstr>
      <vt:lpstr>Base Class Implementation - I</vt:lpstr>
      <vt:lpstr>Base Class Implementation - II</vt:lpstr>
      <vt:lpstr>Derived Class I</vt:lpstr>
      <vt:lpstr>Derived Class I Implementation I</vt:lpstr>
      <vt:lpstr>Derived Class I Implementation II</vt:lpstr>
      <vt:lpstr>Derived Class II</vt:lpstr>
      <vt:lpstr>Derived Class II Implementation I</vt:lpstr>
      <vt:lpstr>Derived Class II Implementation I</vt:lpstr>
      <vt:lpstr>Section 6 Template</vt:lpstr>
      <vt:lpstr>Why Template?</vt:lpstr>
      <vt:lpstr>Why Template? – An Example 1/2</vt:lpstr>
      <vt:lpstr>Why Template? – An Example 2/2</vt:lpstr>
      <vt:lpstr>Simple Function Template</vt:lpstr>
      <vt:lpstr>Using Template</vt:lpstr>
      <vt:lpstr>Class Template Example  1/4</vt:lpstr>
      <vt:lpstr>Class Template Example  2/4 </vt:lpstr>
      <vt:lpstr>Class Template Example  3/4 </vt:lpstr>
      <vt:lpstr>Class Template Example  4/4</vt:lpstr>
      <vt:lpstr>Section 7 Virtual Function</vt:lpstr>
      <vt:lpstr>Why Virtual Function?</vt:lpstr>
      <vt:lpstr>An Example – Animals  1/7</vt:lpstr>
      <vt:lpstr>An Example – Animals  2/7</vt:lpstr>
      <vt:lpstr>An Example – Animals  3/7</vt:lpstr>
      <vt:lpstr>An Example – Animals  4/7</vt:lpstr>
      <vt:lpstr>An Example – Animals  5/7</vt:lpstr>
      <vt:lpstr>An Example – Animals  6/7</vt:lpstr>
      <vt:lpstr>An Example – Animals  6/7</vt:lpstr>
      <vt:lpstr>An Example – Animals  7/7</vt:lpstr>
      <vt:lpstr>Section 8 Standard Libraries</vt:lpstr>
      <vt:lpstr>What is stdlib</vt:lpstr>
      <vt:lpstr>std::vector</vt:lpstr>
      <vt:lpstr>std::vector</vt:lpstr>
      <vt:lpstr>std::vector Constructors</vt:lpstr>
      <vt:lpstr>vector Example Code</vt:lpstr>
      <vt:lpstr>Commonly used vector functions (1)</vt:lpstr>
      <vt:lpstr>Commonly used vector functions (2)</vt:lpstr>
      <vt:lpstr>std::list</vt:lpstr>
      <vt:lpstr>std::list</vt:lpstr>
      <vt:lpstr>std::list Constructors</vt:lpstr>
      <vt:lpstr>list Example Code</vt:lpstr>
      <vt:lpstr>Commonly used list functions (1)</vt:lpstr>
      <vt:lpstr>Commonly used list functions (2)</vt:lpstr>
      <vt:lpstr>std::map</vt:lpstr>
      <vt:lpstr>std::map</vt:lpstr>
      <vt:lpstr>std::map Constructors</vt:lpstr>
      <vt:lpstr>map Example Code</vt:lpstr>
      <vt:lpstr>Commonly used map functions (1)</vt:lpstr>
      <vt:lpstr>Commonly used map functions (2)</vt:lpstr>
      <vt:lpstr>Section 9 make</vt:lpstr>
      <vt:lpstr>What Is make?</vt:lpstr>
      <vt:lpstr>Example</vt:lpstr>
      <vt:lpstr>Assignment 3 makefile</vt:lpstr>
      <vt:lpstr>Section 9 Debug with Core Dump</vt:lpstr>
      <vt:lpstr>Core Dump &amp; gdb</vt:lpstr>
      <vt:lpstr>End of Chapter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SystemC, Behavior Coding and Modeling</dc:title>
  <dc:creator>Su Alan</dc:creator>
  <cp:lastModifiedBy>培陞 蘇</cp:lastModifiedBy>
  <cp:revision>442</cp:revision>
  <dcterms:created xsi:type="dcterms:W3CDTF">2017-09-01T06:38:43Z</dcterms:created>
  <dcterms:modified xsi:type="dcterms:W3CDTF">2025-11-14T17:19:55Z</dcterms:modified>
</cp:coreProperties>
</file>